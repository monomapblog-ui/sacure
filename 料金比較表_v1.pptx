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料金比較表v2。サキュレは中古1,980円・新品2,980円の2プライス制。競合比で最安値水準。初期費用ゼロ・配送回収無料・生協独占提携可能が差別化ポイント。競合価格は概算（公開情報ベース）。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料金比較表　3点セット（冷蔵庫80L・洗濯機4.2kg・電子レンジ）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※てぶらでどっとこむは6点セット（冷蔵庫90L・洗濯機4.5kg・電子レンジ固定＋選択3点）月5,500円。3点のみプランは要確認。かして！どっとこむは公式実績値。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901952" y="694944"/>
            <a:ext cx="2487168" cy="219456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7" name="Text 5"/>
          <p:cNvSpPr/>
          <p:nvPr/>
        </p:nvSpPr>
        <p:spPr>
          <a:xfrm>
            <a:off x="1901952" y="69494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サキュレ（当社）  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" y="694944"/>
            <a:ext cx="1572768" cy="475488"/>
          </a:xfrm>
          <a:prstGeom prst="rect">
            <a:avLst/>
          </a:prstGeom>
          <a:solidFill>
            <a:srgbClr val="33333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94944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比較項目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01952" y="914400"/>
            <a:ext cx="1243584" cy="256032"/>
          </a:xfrm>
          <a:prstGeom prst="rect">
            <a:avLst/>
          </a:prstGeom>
          <a:solidFill>
            <a:srgbClr val="DD7E6B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91440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中古（リユース）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 1,880円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45536" y="914400"/>
            <a:ext cx="1243584" cy="256032"/>
          </a:xfrm>
          <a:prstGeom prst="rect">
            <a:avLst/>
          </a:prstGeom>
          <a:solidFill>
            <a:srgbClr val="C05F4C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91440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新品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 2,480円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694944"/>
            <a:ext cx="1389888" cy="47548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694944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かして！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どっとこむ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79008" y="694944"/>
            <a:ext cx="1389888" cy="47548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694944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てぶらで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どっとこむ※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68896" y="694944"/>
            <a:ext cx="1389888" cy="47548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68896" y="694944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新品購入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（参考）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" y="1170432"/>
            <a:ext cx="1572768" cy="52120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1170432"/>
            <a:ext cx="15727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月額費用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01952" y="1170432"/>
            <a:ext cx="1243584" cy="521208"/>
          </a:xfrm>
          <a:prstGeom prst="rect">
            <a:avLst/>
          </a:prstGeom>
          <a:solidFill>
            <a:srgbClr val="FAE8E4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45536" y="1170432"/>
            <a:ext cx="1243584" cy="521208"/>
          </a:xfrm>
          <a:prstGeom prst="rect">
            <a:avLst/>
          </a:prstGeom>
          <a:solidFill>
            <a:srgbClr val="F0D0CA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1170432"/>
            <a:ext cx="1389888" cy="52120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79008" y="1170432"/>
            <a:ext cx="1389888" cy="52120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68896" y="1170432"/>
            <a:ext cx="1389888" cy="52120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01952" y="1207008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1,880 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01952" y="1499616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（2年契約）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145536" y="1207008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2,480 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45536" y="1499616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（2年契約）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389120" y="12070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2,875 円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389120" y="1499616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（新品・2年／4年1,604円）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79008" y="12070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 円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79008" y="1499616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（6点セット）※3点は要確認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168896" y="12070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68896" y="1499616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（一括購入）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9184" y="1691640"/>
            <a:ext cx="157276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1691640"/>
            <a:ext cx="15727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2年間合計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01952" y="1691640"/>
            <a:ext cx="1243584" cy="521208"/>
          </a:xfrm>
          <a:prstGeom prst="rect">
            <a:avLst/>
          </a:prstGeom>
          <a:solidFill>
            <a:srgbClr val="F5DDD8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45536" y="1691640"/>
            <a:ext cx="1243584" cy="521208"/>
          </a:xfrm>
          <a:prstGeom prst="rect">
            <a:avLst/>
          </a:prstGeom>
          <a:solidFill>
            <a:srgbClr val="E8C4BC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1691640"/>
            <a:ext cx="138988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79008" y="1691640"/>
            <a:ext cx="138988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68896" y="1691640"/>
            <a:ext cx="138988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01952" y="1691640"/>
            <a:ext cx="12435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45,120 円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145536" y="1691640"/>
            <a:ext cx="12435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59,520 円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389120" y="1728216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69,000 円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389120" y="2020824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（新品・2年）※4年77,000円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779008" y="1728216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要確認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779008" y="2020824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（6点セット基準）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168896" y="1728216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55,000〜80,000 円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168896" y="2020824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（初期一括）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29184" y="2212848"/>
            <a:ext cx="1572768" cy="52120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2212848"/>
            <a:ext cx="15727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初期費用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901952" y="2212848"/>
            <a:ext cx="1243584" cy="521208"/>
          </a:xfrm>
          <a:prstGeom prst="rect">
            <a:avLst/>
          </a:prstGeom>
          <a:solidFill>
            <a:srgbClr val="FAE8E4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45536" y="2212848"/>
            <a:ext cx="1243584" cy="521208"/>
          </a:xfrm>
          <a:prstGeom prst="rect">
            <a:avLst/>
          </a:prstGeom>
          <a:solidFill>
            <a:srgbClr val="F0D0CA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89120" y="2212848"/>
            <a:ext cx="1389888" cy="52120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79008" y="2212848"/>
            <a:ext cx="1389888" cy="52120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68896" y="2212848"/>
            <a:ext cx="1389888" cy="52120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01952" y="2212848"/>
            <a:ext cx="12435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円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145536" y="2212848"/>
            <a:ext cx="12435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円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389120" y="2212848"/>
            <a:ext cx="13898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円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779008" y="2212848"/>
            <a:ext cx="13898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円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168896" y="2212848"/>
            <a:ext cx="13898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55,000〜80,000 円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29184" y="2734056"/>
            <a:ext cx="157276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" y="2734056"/>
            <a:ext cx="15727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配送・設置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901952" y="2734056"/>
            <a:ext cx="1243584" cy="521208"/>
          </a:xfrm>
          <a:prstGeom prst="rect">
            <a:avLst/>
          </a:prstGeom>
          <a:solidFill>
            <a:srgbClr val="F5DDD8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45536" y="2734056"/>
            <a:ext cx="1243584" cy="521208"/>
          </a:xfrm>
          <a:prstGeom prst="rect">
            <a:avLst/>
          </a:prstGeom>
          <a:solidFill>
            <a:srgbClr val="E8C4BC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389120" y="2734056"/>
            <a:ext cx="138988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79008" y="2734056"/>
            <a:ext cx="138988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68896" y="2734056"/>
            <a:ext cx="138988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901952" y="2734056"/>
            <a:ext cx="12435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3145536" y="2734056"/>
            <a:ext cx="12435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389120" y="2734056"/>
            <a:ext cx="13898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5779008" y="2734056"/>
            <a:ext cx="13898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7168896" y="277063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有料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7168896" y="3063240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（別途）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29184" y="3255264"/>
            <a:ext cx="1572768" cy="52120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9184" y="3255264"/>
            <a:ext cx="15727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回収・返却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901952" y="3255264"/>
            <a:ext cx="1243584" cy="521208"/>
          </a:xfrm>
          <a:prstGeom prst="rect">
            <a:avLst/>
          </a:prstGeom>
          <a:solidFill>
            <a:srgbClr val="FAE8E4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45536" y="3255264"/>
            <a:ext cx="1243584" cy="521208"/>
          </a:xfrm>
          <a:prstGeom prst="rect">
            <a:avLst/>
          </a:prstGeom>
          <a:solidFill>
            <a:srgbClr val="F0D0CA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389120" y="3255264"/>
            <a:ext cx="1389888" cy="52120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779008" y="3255264"/>
            <a:ext cx="1389888" cy="52120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68896" y="3255264"/>
            <a:ext cx="1389888" cy="521208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901952" y="3255264"/>
            <a:ext cx="12435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3145536" y="3255264"/>
            <a:ext cx="12435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4389120" y="3255264"/>
            <a:ext cx="13898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5779008" y="3255264"/>
            <a:ext cx="13898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7168896" y="3291840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廃棄費用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7168896" y="3584448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（自己負担）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29184" y="3776472"/>
            <a:ext cx="157276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9184" y="3776472"/>
            <a:ext cx="15727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生協提携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1901952" y="3776472"/>
            <a:ext cx="1243584" cy="521208"/>
          </a:xfrm>
          <a:prstGeom prst="rect">
            <a:avLst/>
          </a:prstGeom>
          <a:solidFill>
            <a:srgbClr val="F5DDD8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45536" y="3776472"/>
            <a:ext cx="1243584" cy="521208"/>
          </a:xfrm>
          <a:prstGeom prst="rect">
            <a:avLst/>
          </a:prstGeom>
          <a:solidFill>
            <a:srgbClr val="E8C4BC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389120" y="3776472"/>
            <a:ext cx="138988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79008" y="3776472"/>
            <a:ext cx="138988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168896" y="3776472"/>
            <a:ext cx="138988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901952" y="3813048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新規受付中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901952" y="4105656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（独占提携可）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3145536" y="3813048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新規受付中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3145536" y="4105656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（独占提携可）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4389120" y="381304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大規模校中心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4389120" y="4105656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（競合多い）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5779008" y="381304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大規模校中心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5779008" y="4105656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（競合多い）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7168896" y="3776472"/>
            <a:ext cx="13898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329184" y="4352544"/>
            <a:ext cx="8229600" cy="256032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107" name="Text 105"/>
          <p:cNvSpPr/>
          <p:nvPr/>
        </p:nvSpPr>
        <p:spPr>
          <a:xfrm>
            <a:off x="420624" y="435254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中古（リユース）なら月1,880円・2年合計45,120円で競合比▲23,880円。初期費用ゼロ・配送回収無料。中小規模大学の生協とは独占提携が可能です。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2026-07-24T07:43:12Z</dcterms:created>
  <dcterms:modified xsi:type="dcterms:W3CDTF">2026-07-24T07:43:12Z</dcterms:modified>
</cp:coreProperties>
</file>