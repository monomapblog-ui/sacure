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料金比較表v2。サキュレは中古1,980円・新品2,980円の2プライス制。競合比で最安値水準。初期費用ゼロ・配送回収無料・生協独占提携可能が差別化ポイント。競合価格は概算（公開情報ベース）。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201168" y="0"/>
            <a:ext cx="87782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料金比較表　3点セット（冷蔵庫・洗濯機・電子レンジ）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65760" y="4864608"/>
            <a:ext cx="84124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※競合価格は公開情報をもとにした概算。正確な金額は各社サイトでご確認ください。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901952" y="694944"/>
            <a:ext cx="2487168" cy="219456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" name="Text 5"/>
          <p:cNvSpPr/>
          <p:nvPr/>
        </p:nvSpPr>
        <p:spPr>
          <a:xfrm>
            <a:off x="1901952" y="694944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  サキュレ（当社）  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9184" y="694944"/>
            <a:ext cx="1572768" cy="475488"/>
          </a:xfrm>
          <a:prstGeom prst="rect">
            <a:avLst/>
          </a:prstGeom>
          <a:solidFill>
            <a:srgbClr val="33333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184" y="694944"/>
            <a:ext cx="157276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比較項目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901952" y="914400"/>
            <a:ext cx="1243584" cy="256032"/>
          </a:xfrm>
          <a:prstGeom prst="rect">
            <a:avLst/>
          </a:prstGeom>
          <a:solidFill>
            <a:srgbClr val="DD7E6B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01952" y="914400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中古（リユース）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月額 1,980円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45536" y="914400"/>
            <a:ext cx="1243584" cy="256032"/>
          </a:xfrm>
          <a:prstGeom prst="rect">
            <a:avLst/>
          </a:prstGeom>
          <a:solidFill>
            <a:srgbClr val="C05F4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145536" y="914400"/>
            <a:ext cx="1243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月額 2,980円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89120" y="694944"/>
            <a:ext cx="1389888" cy="47548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89120" y="694944"/>
            <a:ext cx="13898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かして！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どっとこむ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779008" y="694944"/>
            <a:ext cx="1389888" cy="47548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779008" y="694944"/>
            <a:ext cx="13898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てぶらで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どっとこむ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68896" y="694944"/>
            <a:ext cx="1389888" cy="47548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68896" y="694944"/>
            <a:ext cx="13898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新品購入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（参考）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29184" y="1170432"/>
            <a:ext cx="157276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29184" y="1170432"/>
            <a:ext cx="15727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月額費用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901952" y="1170432"/>
            <a:ext cx="1243584" cy="521208"/>
          </a:xfrm>
          <a:prstGeom prst="rect">
            <a:avLst/>
          </a:prstGeom>
          <a:solidFill>
            <a:srgbClr val="FAE8E4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145536" y="1170432"/>
            <a:ext cx="1243584" cy="521208"/>
          </a:xfrm>
          <a:prstGeom prst="rect">
            <a:avLst/>
          </a:prstGeom>
          <a:solidFill>
            <a:srgbClr val="F0D0CA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89120" y="1170432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79008" y="1170432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168896" y="1170432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01952" y="1207008"/>
            <a:ext cx="1243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1,980 円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901952" y="1499616"/>
            <a:ext cx="12435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（2年契約）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3145536" y="1207008"/>
            <a:ext cx="1243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5F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2,980 円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145536" y="1499616"/>
            <a:ext cx="12435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（2年契約）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4389120" y="1207008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3,200〜4,500 円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4389120" y="1499616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（概算）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5779008" y="1207008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2,900〜4,200 円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779008" y="1499616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（概算）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7168896" y="1207008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168896" y="1499616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（一括購入）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329184" y="1691640"/>
            <a:ext cx="157276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9184" y="1691640"/>
            <a:ext cx="15727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2年間合計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901952" y="1691640"/>
            <a:ext cx="1243584" cy="521208"/>
          </a:xfrm>
          <a:prstGeom prst="rect">
            <a:avLst/>
          </a:prstGeom>
          <a:solidFill>
            <a:srgbClr val="F5DDD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145536" y="1691640"/>
            <a:ext cx="1243584" cy="521208"/>
          </a:xfrm>
          <a:prstGeom prst="rect">
            <a:avLst/>
          </a:prstGeom>
          <a:solidFill>
            <a:srgbClr val="E8C4B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389120" y="1691640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79008" y="1691640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168896" y="1691640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01952" y="1691640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47,520 円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3145536" y="1691640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71,520 円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4389120" y="1691640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76,800〜108,000 円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5779008" y="1691640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69,600〜100,800 円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7168896" y="1728216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55,000〜80,000 円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7168896" y="2020824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（初期一括）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29184" y="2212848"/>
            <a:ext cx="157276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29184" y="2212848"/>
            <a:ext cx="15727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初期費用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1901952" y="2212848"/>
            <a:ext cx="1243584" cy="521208"/>
          </a:xfrm>
          <a:prstGeom prst="rect">
            <a:avLst/>
          </a:prstGeom>
          <a:solidFill>
            <a:srgbClr val="FAE8E4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145536" y="2212848"/>
            <a:ext cx="1243584" cy="521208"/>
          </a:xfrm>
          <a:prstGeom prst="rect">
            <a:avLst/>
          </a:prstGeom>
          <a:solidFill>
            <a:srgbClr val="F0D0CA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4389120" y="2212848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779008" y="2212848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168896" y="2212848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901952" y="2212848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円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3145536" y="2212848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円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4389120" y="2212848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円</a:t>
            </a:r>
            <a:endParaRPr lang="en-US" sz="1050" dirty="0"/>
          </a:p>
        </p:txBody>
      </p:sp>
      <p:sp>
        <p:nvSpPr>
          <p:cNvPr id="60" name="Text 58"/>
          <p:cNvSpPr/>
          <p:nvPr/>
        </p:nvSpPr>
        <p:spPr>
          <a:xfrm>
            <a:off x="5779008" y="2212848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円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7168896" y="2212848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55,000〜80,000 円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329184" y="2734056"/>
            <a:ext cx="157276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29184" y="2734056"/>
            <a:ext cx="15727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配送・設置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1901952" y="2734056"/>
            <a:ext cx="1243584" cy="521208"/>
          </a:xfrm>
          <a:prstGeom prst="rect">
            <a:avLst/>
          </a:prstGeom>
          <a:solidFill>
            <a:srgbClr val="F5DDD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145536" y="2734056"/>
            <a:ext cx="1243584" cy="521208"/>
          </a:xfrm>
          <a:prstGeom prst="rect">
            <a:avLst/>
          </a:prstGeom>
          <a:solidFill>
            <a:srgbClr val="E8C4B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389120" y="2734056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5779008" y="2734056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168896" y="2734056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901952" y="2734056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200" dirty="0"/>
          </a:p>
        </p:txBody>
      </p:sp>
      <p:sp>
        <p:nvSpPr>
          <p:cNvPr id="70" name="Text 68"/>
          <p:cNvSpPr/>
          <p:nvPr/>
        </p:nvSpPr>
        <p:spPr>
          <a:xfrm>
            <a:off x="3145536" y="2734056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4389120" y="2734056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050" dirty="0"/>
          </a:p>
        </p:txBody>
      </p:sp>
      <p:sp>
        <p:nvSpPr>
          <p:cNvPr id="72" name="Text 70"/>
          <p:cNvSpPr/>
          <p:nvPr/>
        </p:nvSpPr>
        <p:spPr>
          <a:xfrm>
            <a:off x="5779008" y="2734056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050" dirty="0"/>
          </a:p>
        </p:txBody>
      </p:sp>
      <p:sp>
        <p:nvSpPr>
          <p:cNvPr id="73" name="Text 71"/>
          <p:cNvSpPr/>
          <p:nvPr/>
        </p:nvSpPr>
        <p:spPr>
          <a:xfrm>
            <a:off x="7168896" y="2770632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有料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7168896" y="3063240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（別途）</a:t>
            </a:r>
            <a:endParaRPr lang="en-US" sz="750" dirty="0"/>
          </a:p>
        </p:txBody>
      </p:sp>
      <p:sp>
        <p:nvSpPr>
          <p:cNvPr id="75" name="Shape 73"/>
          <p:cNvSpPr/>
          <p:nvPr/>
        </p:nvSpPr>
        <p:spPr>
          <a:xfrm>
            <a:off x="329184" y="3255264"/>
            <a:ext cx="157276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29184" y="3255264"/>
            <a:ext cx="15727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回収・返却</a:t>
            </a:r>
            <a:endParaRPr lang="en-US" sz="1100" dirty="0"/>
          </a:p>
        </p:txBody>
      </p:sp>
      <p:sp>
        <p:nvSpPr>
          <p:cNvPr id="77" name="Shape 75"/>
          <p:cNvSpPr/>
          <p:nvPr/>
        </p:nvSpPr>
        <p:spPr>
          <a:xfrm>
            <a:off x="1901952" y="3255264"/>
            <a:ext cx="1243584" cy="521208"/>
          </a:xfrm>
          <a:prstGeom prst="rect">
            <a:avLst/>
          </a:prstGeom>
          <a:solidFill>
            <a:srgbClr val="FAE8E4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145536" y="3255264"/>
            <a:ext cx="1243584" cy="521208"/>
          </a:xfrm>
          <a:prstGeom prst="rect">
            <a:avLst/>
          </a:prstGeom>
          <a:solidFill>
            <a:srgbClr val="F0D0CA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4389120" y="3255264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5779008" y="3255264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7168896" y="3255264"/>
            <a:ext cx="1389888" cy="521208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1901952" y="3255264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200" dirty="0"/>
          </a:p>
        </p:txBody>
      </p:sp>
      <p:sp>
        <p:nvSpPr>
          <p:cNvPr id="83" name="Text 81"/>
          <p:cNvSpPr/>
          <p:nvPr/>
        </p:nvSpPr>
        <p:spPr>
          <a:xfrm>
            <a:off x="3145536" y="3255264"/>
            <a:ext cx="1243584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200" dirty="0"/>
          </a:p>
        </p:txBody>
      </p:sp>
      <p:sp>
        <p:nvSpPr>
          <p:cNvPr id="84" name="Text 82"/>
          <p:cNvSpPr/>
          <p:nvPr/>
        </p:nvSpPr>
        <p:spPr>
          <a:xfrm>
            <a:off x="4389120" y="3255264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050" dirty="0"/>
          </a:p>
        </p:txBody>
      </p:sp>
      <p:sp>
        <p:nvSpPr>
          <p:cNvPr id="85" name="Text 83"/>
          <p:cNvSpPr/>
          <p:nvPr/>
        </p:nvSpPr>
        <p:spPr>
          <a:xfrm>
            <a:off x="5779008" y="3255264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無料</a:t>
            </a:r>
            <a:endParaRPr lang="en-US" sz="1050" dirty="0"/>
          </a:p>
        </p:txBody>
      </p:sp>
      <p:sp>
        <p:nvSpPr>
          <p:cNvPr id="86" name="Text 84"/>
          <p:cNvSpPr/>
          <p:nvPr/>
        </p:nvSpPr>
        <p:spPr>
          <a:xfrm>
            <a:off x="7168896" y="3291840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廃棄費用</a:t>
            </a:r>
            <a:endParaRPr lang="en-US" sz="1050" dirty="0"/>
          </a:p>
        </p:txBody>
      </p:sp>
      <p:sp>
        <p:nvSpPr>
          <p:cNvPr id="87" name="Text 85"/>
          <p:cNvSpPr/>
          <p:nvPr/>
        </p:nvSpPr>
        <p:spPr>
          <a:xfrm>
            <a:off x="7168896" y="3584448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（自己負担）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329184" y="3776472"/>
            <a:ext cx="157276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29184" y="3776472"/>
            <a:ext cx="157276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生協提携</a:t>
            </a:r>
            <a:endParaRPr lang="en-US" sz="1100" dirty="0"/>
          </a:p>
        </p:txBody>
      </p:sp>
      <p:sp>
        <p:nvSpPr>
          <p:cNvPr id="90" name="Shape 88"/>
          <p:cNvSpPr/>
          <p:nvPr/>
        </p:nvSpPr>
        <p:spPr>
          <a:xfrm>
            <a:off x="1901952" y="3776472"/>
            <a:ext cx="1243584" cy="521208"/>
          </a:xfrm>
          <a:prstGeom prst="rect">
            <a:avLst/>
          </a:prstGeom>
          <a:solidFill>
            <a:srgbClr val="F5DDD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145536" y="3776472"/>
            <a:ext cx="1243584" cy="521208"/>
          </a:xfrm>
          <a:prstGeom prst="rect">
            <a:avLst/>
          </a:prstGeom>
          <a:solidFill>
            <a:srgbClr val="E8C4B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4389120" y="3776472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779008" y="3776472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7168896" y="3776472"/>
            <a:ext cx="1389888" cy="52120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1901952" y="3813048"/>
            <a:ext cx="1243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新規受付中</a:t>
            </a:r>
            <a:endParaRPr lang="en-US" sz="1200" dirty="0"/>
          </a:p>
        </p:txBody>
      </p:sp>
      <p:sp>
        <p:nvSpPr>
          <p:cNvPr id="96" name="Text 94"/>
          <p:cNvSpPr/>
          <p:nvPr/>
        </p:nvSpPr>
        <p:spPr>
          <a:xfrm>
            <a:off x="1901952" y="4105656"/>
            <a:ext cx="12435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（独占提携可）</a:t>
            </a:r>
            <a:endParaRPr lang="en-US" sz="750" dirty="0"/>
          </a:p>
        </p:txBody>
      </p:sp>
      <p:sp>
        <p:nvSpPr>
          <p:cNvPr id="97" name="Text 95"/>
          <p:cNvSpPr/>
          <p:nvPr/>
        </p:nvSpPr>
        <p:spPr>
          <a:xfrm>
            <a:off x="3145536" y="3813048"/>
            <a:ext cx="124358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新規受付中</a:t>
            </a:r>
            <a:endParaRPr lang="en-US" sz="1200" dirty="0"/>
          </a:p>
        </p:txBody>
      </p:sp>
      <p:sp>
        <p:nvSpPr>
          <p:cNvPr id="98" name="Text 96"/>
          <p:cNvSpPr/>
          <p:nvPr/>
        </p:nvSpPr>
        <p:spPr>
          <a:xfrm>
            <a:off x="3145536" y="4105656"/>
            <a:ext cx="124358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（独占提携可）</a:t>
            </a:r>
            <a:endParaRPr lang="en-US" sz="750" dirty="0"/>
          </a:p>
        </p:txBody>
      </p:sp>
      <p:sp>
        <p:nvSpPr>
          <p:cNvPr id="99" name="Text 97"/>
          <p:cNvSpPr/>
          <p:nvPr/>
        </p:nvSpPr>
        <p:spPr>
          <a:xfrm>
            <a:off x="4389120" y="3813048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大規模校中心</a:t>
            </a:r>
            <a:endParaRPr lang="en-US" sz="1050" dirty="0"/>
          </a:p>
        </p:txBody>
      </p:sp>
      <p:sp>
        <p:nvSpPr>
          <p:cNvPr id="100" name="Text 98"/>
          <p:cNvSpPr/>
          <p:nvPr/>
        </p:nvSpPr>
        <p:spPr>
          <a:xfrm>
            <a:off x="4389120" y="4105656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（競合多い）</a:t>
            </a:r>
            <a:endParaRPr lang="en-US" sz="750" dirty="0"/>
          </a:p>
        </p:txBody>
      </p:sp>
      <p:sp>
        <p:nvSpPr>
          <p:cNvPr id="101" name="Text 99"/>
          <p:cNvSpPr/>
          <p:nvPr/>
        </p:nvSpPr>
        <p:spPr>
          <a:xfrm>
            <a:off x="5779008" y="3813048"/>
            <a:ext cx="1389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大規模校中心</a:t>
            </a:r>
            <a:endParaRPr lang="en-US" sz="1050" dirty="0"/>
          </a:p>
        </p:txBody>
      </p:sp>
      <p:sp>
        <p:nvSpPr>
          <p:cNvPr id="102" name="Text 100"/>
          <p:cNvSpPr/>
          <p:nvPr/>
        </p:nvSpPr>
        <p:spPr>
          <a:xfrm>
            <a:off x="5779008" y="4105656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（競合多い）</a:t>
            </a:r>
            <a:endParaRPr lang="en-US" sz="750" dirty="0"/>
          </a:p>
        </p:txBody>
      </p:sp>
      <p:sp>
        <p:nvSpPr>
          <p:cNvPr id="103" name="Text 101"/>
          <p:cNvSpPr/>
          <p:nvPr/>
        </p:nvSpPr>
        <p:spPr>
          <a:xfrm>
            <a:off x="7168896" y="3776472"/>
            <a:ext cx="1389888" cy="5212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104" name="Shape 102"/>
          <p:cNvSpPr/>
          <p:nvPr/>
        </p:nvSpPr>
        <p:spPr>
          <a:xfrm>
            <a:off x="329184" y="4352544"/>
            <a:ext cx="8229600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05" name="Text 103"/>
          <p:cNvSpPr/>
          <p:nvPr/>
        </p:nvSpPr>
        <p:spPr>
          <a:xfrm>
            <a:off x="420624" y="4352544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中古なら月1,980円・初期費用ゼロ・配送無料。新品でも月2,980円で競合より大幅にリーズナブル。生協独占提携で中小規模大学への先行参入が可能です。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2026-07-24T05:17:28Z</dcterms:created>
  <dcterms:modified xsi:type="dcterms:W3CDTF">2026-07-24T05:17:28Z</dcterms:modified>
</cp:coreProperties>
</file>