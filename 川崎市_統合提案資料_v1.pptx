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表紙。廃棄物量データ収集と走行センサーデータ収集の2事業を統合した川崎市向け提案。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会社紹介。200台以上の車両、250社超の法人取引実績。廃棄物収集許可業者として施設内データを合法的に取得できる唯一の立場。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2事業の概要。左：廃棄物量データ（250施設の収集記録）、右：走行センサーデータ（200台にカメラ搭載）。どちらも既存オペレーションからデータを生み出す。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3つの課題：①パトロール体制の困難、②事後対応型管理、③環境施策・廃棄物管理のデータ不足。サキュレの2事業で解決を提案。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2事業のデータフロー。左：廃棄物量データ（3ステップ）、右：走行センサーデータ（4ステップ）。どちらも既存オペレーションに付随して収集。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走行センサーデータの3分野：路（道路インフラ）・緑（都市景観）・交（交通モビリティ）。既存トラックの日常走行から自動収集。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廃棄物量データの3つの価値：量（排出量トレンド）・比（施設間比較）・域（地域別動向）。廃棄物収集許可業者として合法的・独占的に取得できるデータ。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3つの優位性：①網羅性と継続性、②追加投資不要の経済性、③現場知と独占的取得権（廃棄物収集許可業者）。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プライバシー・法令対応。3つの対策：①エッジAIによる自動マスキング、②暗号化・アクセス管理、③行政との協議による運用体制整備。廃棄物データは施設単位の集計値のみ。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PoC設計。4つのパラメータ：対象エリア・実施期間・センサー車両台数・廃棄物収集施設数。3つのKPI：走行センサー（検知精度・工数）、廃棄物データ（精度・カバレッジ）。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想定される効果（PoC検証予定）。3つの変化：①道路インフラ予防保全、②巡回コスト削減、③廃棄物・環境KPIの高度化。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今後の進め方。3段階：①課題ヒアリング→②PoC設計・合意形成→③PoC実施・効果検証。廃棄物管理・道路インフラ両方の課題を統合的にヒアリング。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461"/>
          </a:solidFill>
          <a:ln/>
        </p:spPr>
      </p:sp>
      <p:sp>
        <p:nvSpPr>
          <p:cNvPr id="3" name="Shape 1"/>
          <p:cNvSpPr/>
          <p:nvPr/>
        </p:nvSpPr>
        <p:spPr>
          <a:xfrm>
            <a:off x="0" y="4645152"/>
            <a:ext cx="9144000" cy="498348"/>
          </a:xfrm>
          <a:prstGeom prst="rect">
            <a:avLst/>
          </a:prstGeom>
          <a:solidFill>
            <a:srgbClr val="00939D"/>
          </a:solidFill>
          <a:ln/>
        </p:spPr>
      </p:sp>
      <p:sp>
        <p:nvSpPr>
          <p:cNvPr id="4" name="Shape 2"/>
          <p:cNvSpPr/>
          <p:nvPr/>
        </p:nvSpPr>
        <p:spPr>
          <a:xfrm>
            <a:off x="7406640" y="-1371600"/>
            <a:ext cx="2743200" cy="2743200"/>
          </a:xfrm>
          <a:prstGeom prst="ellipse">
            <a:avLst/>
          </a:prstGeom>
          <a:solidFill>
            <a:srgbClr val="00939D">
              <a:alpha val="10000"/>
            </a:srgbClr>
          </a:solidFill>
          <a:ln/>
        </p:spPr>
      </p:sp>
      <p:sp>
        <p:nvSpPr>
          <p:cNvPr id="5" name="Shape 3"/>
          <p:cNvSpPr/>
          <p:nvPr/>
        </p:nvSpPr>
        <p:spPr>
          <a:xfrm>
            <a:off x="7772400" y="-1005840"/>
            <a:ext cx="2011680" cy="2011680"/>
          </a:xfrm>
          <a:prstGeom prst="ellipse">
            <a:avLst/>
          </a:prstGeom>
          <a:solidFill>
            <a:srgbClr val="00939D">
              <a:alpha val="15000"/>
            </a:srgbClr>
          </a:solidFill>
          <a:ln/>
        </p:spPr>
      </p:sp>
      <p:sp>
        <p:nvSpPr>
          <p:cNvPr id="6" name="Shape 4"/>
          <p:cNvSpPr/>
          <p:nvPr/>
        </p:nvSpPr>
        <p:spPr>
          <a:xfrm>
            <a:off x="8092440" y="-685800"/>
            <a:ext cx="1371600" cy="1371600"/>
          </a:xfrm>
          <a:prstGeom prst="ellipse">
            <a:avLst/>
          </a:prstGeom>
          <a:solidFill>
            <a:srgbClr val="00939D">
              <a:alpha val="20000"/>
            </a:srgbClr>
          </a:solidFill>
          <a:ln/>
        </p:spPr>
      </p:sp>
      <p:sp>
        <p:nvSpPr>
          <p:cNvPr id="7" name="Shape 5"/>
          <p:cNvSpPr/>
          <p:nvPr/>
        </p:nvSpPr>
        <p:spPr>
          <a:xfrm>
            <a:off x="8366760" y="-411480"/>
            <a:ext cx="822960" cy="822960"/>
          </a:xfrm>
          <a:prstGeom prst="ellipse">
            <a:avLst/>
          </a:prstGeom>
          <a:solidFill>
            <a:srgbClr val="00939D">
              <a:alpha val="25000"/>
            </a:srgbClr>
          </a:solidFill>
          <a:ln/>
        </p:spPr>
      </p:sp>
      <p:sp>
        <p:nvSpPr>
          <p:cNvPr id="8" name="Shape 6"/>
          <p:cNvSpPr/>
          <p:nvPr/>
        </p:nvSpPr>
        <p:spPr>
          <a:xfrm>
            <a:off x="0" y="0"/>
            <a:ext cx="54864" cy="4645152"/>
          </a:xfrm>
          <a:prstGeom prst="rect">
            <a:avLst/>
          </a:prstGeom>
          <a:solidFill>
            <a:srgbClr val="00939D"/>
          </a:solidFill>
          <a:ln/>
        </p:spPr>
      </p:sp>
      <p:sp>
        <p:nvSpPr>
          <p:cNvPr id="9" name="Text 7"/>
          <p:cNvSpPr/>
          <p:nvPr/>
        </p:nvSpPr>
        <p:spPr>
          <a:xfrm>
            <a:off x="457200" y="475488"/>
            <a:ext cx="8229600" cy="274320"/>
          </a:xfrm>
          <a:prstGeom prst="rect">
            <a:avLst/>
          </a:prstGeom>
          <a:noFill/>
          <a:ln/>
        </p:spPr>
        <p:txBody>
          <a:bodyPr wrap="square" rtlCol="0" anchor="ctr"/>
          <a:lstStyle/>
          <a:p>
            <a:pPr indent="0" marL="0">
              <a:buNone/>
            </a:pPr>
            <a:r>
              <a:rPr lang="en-US" sz="1100" spc="50" kern="0" dirty="0">
                <a:solidFill>
                  <a:srgbClr val="00939D"/>
                </a:solidFill>
                <a:latin typeface="Calibri" pitchFamily="34" charset="0"/>
                <a:ea typeface="Calibri" pitchFamily="34" charset="-122"/>
                <a:cs typeface="Calibri" pitchFamily="34" charset="-120"/>
              </a:rPr>
              <a:t>Kawasaki Future Co-Lab　応募提案書</a:t>
            </a:r>
            <a:endParaRPr lang="en-US" sz="1100" dirty="0"/>
          </a:p>
        </p:txBody>
      </p:sp>
      <p:sp>
        <p:nvSpPr>
          <p:cNvPr id="10" name="Text 8"/>
          <p:cNvSpPr/>
          <p:nvPr/>
        </p:nvSpPr>
        <p:spPr>
          <a:xfrm>
            <a:off x="457200" y="804672"/>
            <a:ext cx="8412480" cy="914400"/>
          </a:xfrm>
          <a:prstGeom prst="rect">
            <a:avLst/>
          </a:prstGeom>
          <a:noFill/>
          <a:ln/>
        </p:spPr>
        <p:txBody>
          <a:bodyPr wrap="square" rtlCol="0" anchor="ctr"/>
          <a:lstStyle/>
          <a:p>
            <a:pPr indent="0" marL="0">
              <a:buNone/>
            </a:pPr>
            <a:r>
              <a:rPr lang="en-US" sz="3300" b="1" dirty="0">
                <a:solidFill>
                  <a:srgbClr val="FFFFFF"/>
                </a:solidFill>
                <a:latin typeface="Calibri" pitchFamily="34" charset="0"/>
                <a:ea typeface="Calibri" pitchFamily="34" charset="-122"/>
                <a:cs typeface="Calibri" pitchFamily="34" charset="-120"/>
              </a:rPr>
              <a:t>廃棄物データ × 都市センシング構想</a:t>
            </a:r>
            <a:endParaRPr lang="en-US" sz="3300" dirty="0"/>
          </a:p>
        </p:txBody>
      </p:sp>
      <p:sp>
        <p:nvSpPr>
          <p:cNvPr id="11" name="Text 9"/>
          <p:cNvSpPr/>
          <p:nvPr/>
        </p:nvSpPr>
        <p:spPr>
          <a:xfrm>
            <a:off x="457200" y="1828800"/>
            <a:ext cx="8229600" cy="914400"/>
          </a:xfrm>
          <a:prstGeom prst="rect">
            <a:avLst/>
          </a:prstGeom>
          <a:noFill/>
          <a:ln/>
        </p:spPr>
        <p:txBody>
          <a:bodyPr wrap="square" rtlCol="0" anchor="ctr"/>
          <a:lstStyle/>
          <a:p>
            <a:pPr indent="0" marL="0">
              <a:lnSpc>
                <a:spcPct val="145000"/>
              </a:lnSpc>
              <a:buNone/>
            </a:pPr>
            <a:r>
              <a:rPr lang="en-US" sz="1500" dirty="0">
                <a:solidFill>
                  <a:srgbClr val="B8CCE0"/>
                </a:solidFill>
                <a:latin typeface="Calibri" pitchFamily="34" charset="0"/>
                <a:ea typeface="Calibri" pitchFamily="34" charset="-122"/>
                <a:cs typeface="Calibri" pitchFamily="34" charset="-120"/>
              </a:rPr>
              <a:t>廃棄物量データ収集 × 配送トラック走行センサーデータ収集</a:t>
            </a:r>
            <a:endParaRPr lang="en-US" sz="1500" dirty="0"/>
          </a:p>
          <a:p>
            <a:pPr indent="0" marL="0">
              <a:lnSpc>
                <a:spcPct val="145000"/>
              </a:lnSpc>
              <a:buNone/>
            </a:pPr>
            <a:r>
              <a:rPr lang="en-US" sz="1500" dirty="0">
                <a:solidFill>
                  <a:srgbClr val="B8CCE0"/>
                </a:solidFill>
                <a:latin typeface="Calibri" pitchFamily="34" charset="0"/>
                <a:ea typeface="Calibri" pitchFamily="34" charset="-122"/>
                <a:cs typeface="Calibri" pitchFamily="34" charset="-120"/>
              </a:rPr>
              <a:t>2つのデータで川崎市の都市管理・環境政策を支える</a:t>
            </a:r>
            <a:endParaRPr lang="en-US" sz="1500" dirty="0"/>
          </a:p>
        </p:txBody>
      </p:sp>
      <p:sp>
        <p:nvSpPr>
          <p:cNvPr id="12" name="Shape 10"/>
          <p:cNvSpPr/>
          <p:nvPr/>
        </p:nvSpPr>
        <p:spPr>
          <a:xfrm>
            <a:off x="457200" y="2907792"/>
            <a:ext cx="2926080" cy="0"/>
          </a:xfrm>
          <a:prstGeom prst="line">
            <a:avLst/>
          </a:prstGeom>
          <a:noFill/>
          <a:ln w="15240">
            <a:solidFill>
              <a:srgbClr val="00939D"/>
            </a:solidFill>
            <a:prstDash val="solid"/>
          </a:ln>
        </p:spPr>
      </p:sp>
      <p:sp>
        <p:nvSpPr>
          <p:cNvPr id="13" name="Text 11"/>
          <p:cNvSpPr/>
          <p:nvPr/>
        </p:nvSpPr>
        <p:spPr>
          <a:xfrm>
            <a:off x="457200" y="3063240"/>
            <a:ext cx="4572000" cy="38404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株式会社サキュレ</a:t>
            </a:r>
            <a:endParaRPr lang="en-US" sz="1500" dirty="0"/>
          </a:p>
        </p:txBody>
      </p:sp>
      <p:sp>
        <p:nvSpPr>
          <p:cNvPr id="14" name="Text 12"/>
          <p:cNvSpPr/>
          <p:nvPr/>
        </p:nvSpPr>
        <p:spPr>
          <a:xfrm>
            <a:off x="457200" y="3447288"/>
            <a:ext cx="4572000" cy="320040"/>
          </a:xfrm>
          <a:prstGeom prst="rect">
            <a:avLst/>
          </a:prstGeom>
          <a:noFill/>
          <a:ln/>
        </p:spPr>
        <p:txBody>
          <a:bodyPr wrap="square" rtlCol="0" anchor="ctr"/>
          <a:lstStyle/>
          <a:p>
            <a:pPr indent="0" marL="0">
              <a:buNone/>
            </a:pPr>
            <a:r>
              <a:rPr lang="en-US" sz="1300" dirty="0">
                <a:solidFill>
                  <a:srgbClr val="A0BACE"/>
                </a:solidFill>
                <a:latin typeface="Calibri" pitchFamily="34" charset="0"/>
                <a:ea typeface="Calibri" pitchFamily="34" charset="-122"/>
                <a:cs typeface="Calibri" pitchFamily="34" charset="-120"/>
              </a:rPr>
              <a:t>担当：村田　捷樹</a:t>
            </a:r>
            <a:endParaRPr lang="en-US" sz="1300" dirty="0"/>
          </a:p>
        </p:txBody>
      </p:sp>
      <p:sp>
        <p:nvSpPr>
          <p:cNvPr id="15" name="Text 13"/>
          <p:cNvSpPr/>
          <p:nvPr/>
        </p:nvSpPr>
        <p:spPr>
          <a:xfrm>
            <a:off x="457200" y="3767328"/>
            <a:ext cx="2743200" cy="274320"/>
          </a:xfrm>
          <a:prstGeom prst="rect">
            <a:avLst/>
          </a:prstGeom>
          <a:noFill/>
          <a:ln/>
        </p:spPr>
        <p:txBody>
          <a:bodyPr wrap="square" rtlCol="0" anchor="ctr"/>
          <a:lstStyle/>
          <a:p>
            <a:pPr indent="0" marL="0">
              <a:buNone/>
            </a:pPr>
            <a:r>
              <a:rPr lang="en-US" sz="1200" dirty="0">
                <a:solidFill>
                  <a:srgbClr val="7090A8"/>
                </a:solidFill>
                <a:latin typeface="Calibri" pitchFamily="34" charset="0"/>
                <a:ea typeface="Calibri" pitchFamily="34" charset="-122"/>
                <a:cs typeface="Calibri" pitchFamily="34" charset="-120"/>
              </a:rPr>
              <a:t>2026年7月</a:t>
            </a:r>
            <a:endParaRPr lang="en-US" sz="1200" dirty="0"/>
          </a:p>
        </p:txBody>
      </p:sp>
      <p:sp>
        <p:nvSpPr>
          <p:cNvPr id="16" name="Text 14"/>
          <p:cNvSpPr/>
          <p:nvPr/>
        </p:nvSpPr>
        <p:spPr>
          <a:xfrm>
            <a:off x="0" y="4645152"/>
            <a:ext cx="9144000" cy="4983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廃棄物量データ　×　道路センシングデータ　×　川崎市との共創</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457200" y="201168"/>
            <a:ext cx="914400" cy="237744"/>
          </a:xfrm>
          <a:prstGeom prst="rect">
            <a:avLst/>
          </a:prstGeom>
          <a:solidFill>
            <a:srgbClr val="00939D"/>
          </a:solidFill>
          <a:ln/>
        </p:spPr>
      </p:sp>
      <p:sp>
        <p:nvSpPr>
          <p:cNvPr id="4" name="Text 2"/>
          <p:cNvSpPr/>
          <p:nvPr/>
        </p:nvSpPr>
        <p:spPr>
          <a:xfrm>
            <a:off x="566928" y="210312"/>
            <a:ext cx="71323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会社概要</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株式会社サキュレが提供できる価値</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57200" y="1261872"/>
            <a:ext cx="2834640" cy="3657600"/>
          </a:xfrm>
          <a:prstGeom prst="rect">
            <a:avLst/>
          </a:prstGeom>
          <a:solidFill>
            <a:srgbClr val="1E3461"/>
          </a:solidFill>
          <a:ln/>
        </p:spPr>
      </p:sp>
      <p:sp>
        <p:nvSpPr>
          <p:cNvPr id="8" name="Text 6"/>
          <p:cNvSpPr/>
          <p:nvPr/>
        </p:nvSpPr>
        <p:spPr>
          <a:xfrm>
            <a:off x="594360" y="1389888"/>
            <a:ext cx="256032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株式会社サキュレ</a:t>
            </a:r>
            <a:endParaRPr lang="en-US" sz="1500" dirty="0"/>
          </a:p>
        </p:txBody>
      </p:sp>
      <p:sp>
        <p:nvSpPr>
          <p:cNvPr id="9" name="Text 7"/>
          <p:cNvSpPr/>
          <p:nvPr/>
        </p:nvSpPr>
        <p:spPr>
          <a:xfrm>
            <a:off x="594360" y="1847088"/>
            <a:ext cx="2560320" cy="594360"/>
          </a:xfrm>
          <a:prstGeom prst="rect">
            <a:avLst/>
          </a:prstGeom>
          <a:noFill/>
          <a:ln/>
        </p:spPr>
        <p:txBody>
          <a:bodyPr wrap="square" rtlCol="0" anchor="ctr"/>
          <a:lstStyle/>
          <a:p>
            <a:pPr indent="0" marL="0">
              <a:lnSpc>
                <a:spcPct val="135000"/>
              </a:lnSpc>
              <a:buNone/>
            </a:pPr>
            <a:r>
              <a:rPr lang="en-US" sz="1150" dirty="0">
                <a:solidFill>
                  <a:srgbClr val="00939D"/>
                </a:solidFill>
                <a:latin typeface="Calibri" pitchFamily="34" charset="0"/>
                <a:ea typeface="Calibri" pitchFamily="34" charset="-122"/>
                <a:cs typeface="Calibri" pitchFamily="34" charset="-120"/>
              </a:rPr>
              <a:t>廃棄物収集・運搬・中間処理事業</a:t>
            </a:r>
            <a:endParaRPr lang="en-US" sz="1150" dirty="0"/>
          </a:p>
          <a:p>
            <a:pPr indent="0" marL="0">
              <a:lnSpc>
                <a:spcPct val="135000"/>
              </a:lnSpc>
              <a:buNone/>
            </a:pPr>
            <a:r>
              <a:rPr lang="en-US" sz="1150" dirty="0">
                <a:solidFill>
                  <a:srgbClr val="00939D"/>
                </a:solidFill>
                <a:latin typeface="Calibri" pitchFamily="34" charset="0"/>
                <a:ea typeface="Calibri" pitchFamily="34" charset="-122"/>
                <a:cs typeface="Calibri" pitchFamily="34" charset="-120"/>
              </a:rPr>
              <a:t>運送事業</a:t>
            </a:r>
            <a:endParaRPr lang="en-US" sz="1150" dirty="0"/>
          </a:p>
        </p:txBody>
      </p:sp>
      <p:sp>
        <p:nvSpPr>
          <p:cNvPr id="10" name="Shape 8"/>
          <p:cNvSpPr/>
          <p:nvPr/>
        </p:nvSpPr>
        <p:spPr>
          <a:xfrm>
            <a:off x="594360" y="2487168"/>
            <a:ext cx="2423160" cy="0"/>
          </a:xfrm>
          <a:prstGeom prst="line">
            <a:avLst/>
          </a:prstGeom>
          <a:noFill/>
          <a:ln w="6350">
            <a:solidFill>
              <a:srgbClr val="B0C4CE"/>
            </a:solidFill>
            <a:prstDash val="solid"/>
          </a:ln>
        </p:spPr>
      </p:sp>
      <p:sp>
        <p:nvSpPr>
          <p:cNvPr id="11" name="Text 9"/>
          <p:cNvSpPr/>
          <p:nvPr/>
        </p:nvSpPr>
        <p:spPr>
          <a:xfrm>
            <a:off x="594360" y="2633472"/>
            <a:ext cx="2560320" cy="420624"/>
          </a:xfrm>
          <a:prstGeom prst="rect">
            <a:avLst/>
          </a:prstGeom>
          <a:noFill/>
          <a:ln/>
        </p:spPr>
        <p:txBody>
          <a:bodyPr wrap="square" rtlCol="0" anchor="ctr"/>
          <a:lstStyle/>
          <a:p>
            <a:pPr indent="0" marL="0">
              <a:buNone/>
            </a:pPr>
            <a:r>
              <a:rPr lang="en-US" sz="1800" b="1" dirty="0">
                <a:solidFill>
                  <a:srgbClr val="00939D"/>
                </a:solidFill>
                <a:latin typeface="Calibri" pitchFamily="34" charset="0"/>
                <a:ea typeface="Calibri" pitchFamily="34" charset="-122"/>
                <a:cs typeface="Calibri" pitchFamily="34" charset="-120"/>
              </a:rPr>
              <a:t>200台以上</a:t>
            </a:r>
            <a:endParaRPr lang="en-US" sz="1800" dirty="0"/>
          </a:p>
        </p:txBody>
      </p:sp>
      <p:sp>
        <p:nvSpPr>
          <p:cNvPr id="12" name="Text 10"/>
          <p:cNvSpPr/>
          <p:nvPr/>
        </p:nvSpPr>
        <p:spPr>
          <a:xfrm>
            <a:off x="594360" y="2926080"/>
            <a:ext cx="2560320" cy="256032"/>
          </a:xfrm>
          <a:prstGeom prst="rect">
            <a:avLst/>
          </a:prstGeom>
          <a:noFill/>
          <a:ln/>
        </p:spPr>
        <p:txBody>
          <a:bodyPr wrap="square" rtlCol="0" anchor="ctr"/>
          <a:lstStyle/>
          <a:p>
            <a:pPr indent="0" marL="0">
              <a:buNone/>
            </a:pPr>
            <a:r>
              <a:rPr lang="en-US" sz="1050" dirty="0">
                <a:solidFill>
                  <a:srgbClr val="A0BDD0"/>
                </a:solidFill>
                <a:latin typeface="Calibri" pitchFamily="34" charset="0"/>
                <a:ea typeface="Calibri" pitchFamily="34" charset="-122"/>
                <a:cs typeface="Calibri" pitchFamily="34" charset="-120"/>
              </a:rPr>
              <a:t>保有車両台数</a:t>
            </a:r>
            <a:endParaRPr lang="en-US" sz="1050" dirty="0"/>
          </a:p>
        </p:txBody>
      </p:sp>
      <p:sp>
        <p:nvSpPr>
          <p:cNvPr id="13" name="Text 11"/>
          <p:cNvSpPr/>
          <p:nvPr/>
        </p:nvSpPr>
        <p:spPr>
          <a:xfrm>
            <a:off x="594360" y="3383280"/>
            <a:ext cx="2560320" cy="420624"/>
          </a:xfrm>
          <a:prstGeom prst="rect">
            <a:avLst/>
          </a:prstGeom>
          <a:noFill/>
          <a:ln/>
        </p:spPr>
        <p:txBody>
          <a:bodyPr wrap="square" rtlCol="0" anchor="ctr"/>
          <a:lstStyle/>
          <a:p>
            <a:pPr indent="0" marL="0">
              <a:buNone/>
            </a:pPr>
            <a:r>
              <a:rPr lang="en-US" sz="1800" b="1" dirty="0">
                <a:solidFill>
                  <a:srgbClr val="00939D"/>
                </a:solidFill>
                <a:latin typeface="Calibri" pitchFamily="34" charset="0"/>
                <a:ea typeface="Calibri" pitchFamily="34" charset="-122"/>
                <a:cs typeface="Calibri" pitchFamily="34" charset="-120"/>
              </a:rPr>
              <a:t>250社超</a:t>
            </a:r>
            <a:endParaRPr lang="en-US" sz="1800" dirty="0"/>
          </a:p>
        </p:txBody>
      </p:sp>
      <p:sp>
        <p:nvSpPr>
          <p:cNvPr id="14" name="Text 12"/>
          <p:cNvSpPr/>
          <p:nvPr/>
        </p:nvSpPr>
        <p:spPr>
          <a:xfrm>
            <a:off x="594360" y="3675888"/>
            <a:ext cx="2560320" cy="256032"/>
          </a:xfrm>
          <a:prstGeom prst="rect">
            <a:avLst/>
          </a:prstGeom>
          <a:noFill/>
          <a:ln/>
        </p:spPr>
        <p:txBody>
          <a:bodyPr wrap="square" rtlCol="0" anchor="ctr"/>
          <a:lstStyle/>
          <a:p>
            <a:pPr indent="0" marL="0">
              <a:buNone/>
            </a:pPr>
            <a:r>
              <a:rPr lang="en-US" sz="1050" dirty="0">
                <a:solidFill>
                  <a:srgbClr val="A0BDD0"/>
                </a:solidFill>
                <a:latin typeface="Calibri" pitchFamily="34" charset="0"/>
                <a:ea typeface="Calibri" pitchFamily="34" charset="-122"/>
                <a:cs typeface="Calibri" pitchFamily="34" charset="-120"/>
              </a:rPr>
              <a:t>法人取引実績</a:t>
            </a:r>
            <a:endParaRPr lang="en-US" sz="1050" dirty="0"/>
          </a:p>
        </p:txBody>
      </p:sp>
      <p:sp>
        <p:nvSpPr>
          <p:cNvPr id="15" name="Text 13"/>
          <p:cNvSpPr/>
          <p:nvPr/>
        </p:nvSpPr>
        <p:spPr>
          <a:xfrm>
            <a:off x="594360" y="4133088"/>
            <a:ext cx="2560320" cy="420624"/>
          </a:xfrm>
          <a:prstGeom prst="rect">
            <a:avLst/>
          </a:prstGeom>
          <a:noFill/>
          <a:ln/>
        </p:spPr>
        <p:txBody>
          <a:bodyPr wrap="square" rtlCol="0" anchor="ctr"/>
          <a:lstStyle/>
          <a:p>
            <a:pPr indent="0" marL="0">
              <a:buNone/>
            </a:pPr>
            <a:r>
              <a:rPr lang="en-US" sz="1400" b="1" dirty="0">
                <a:solidFill>
                  <a:srgbClr val="00939D"/>
                </a:solidFill>
                <a:latin typeface="Calibri" pitchFamily="34" charset="0"/>
                <a:ea typeface="Calibri" pitchFamily="34" charset="-122"/>
                <a:cs typeface="Calibri" pitchFamily="34" charset="-120"/>
              </a:rPr>
              <a:t>東京・神奈川</a:t>
            </a:r>
            <a:endParaRPr lang="en-US" sz="1400" dirty="0"/>
          </a:p>
        </p:txBody>
      </p:sp>
      <p:sp>
        <p:nvSpPr>
          <p:cNvPr id="16" name="Text 14"/>
          <p:cNvSpPr/>
          <p:nvPr/>
        </p:nvSpPr>
        <p:spPr>
          <a:xfrm>
            <a:off x="594360" y="4370832"/>
            <a:ext cx="2560320" cy="256032"/>
          </a:xfrm>
          <a:prstGeom prst="rect">
            <a:avLst/>
          </a:prstGeom>
          <a:noFill/>
          <a:ln/>
        </p:spPr>
        <p:txBody>
          <a:bodyPr wrap="square" rtlCol="0" anchor="ctr"/>
          <a:lstStyle/>
          <a:p>
            <a:pPr indent="0" marL="0">
              <a:buNone/>
            </a:pPr>
            <a:r>
              <a:rPr lang="en-US" sz="1050" dirty="0">
                <a:solidFill>
                  <a:srgbClr val="A0BDD0"/>
                </a:solidFill>
                <a:latin typeface="Calibri" pitchFamily="34" charset="0"/>
                <a:ea typeface="Calibri" pitchFamily="34" charset="-122"/>
                <a:cs typeface="Calibri" pitchFamily="34" charset="-120"/>
              </a:rPr>
              <a:t>主要営業エリア</a:t>
            </a:r>
            <a:endParaRPr lang="en-US" sz="1050" dirty="0"/>
          </a:p>
        </p:txBody>
      </p:sp>
      <p:sp>
        <p:nvSpPr>
          <p:cNvPr id="17" name="Shape 15"/>
          <p:cNvSpPr/>
          <p:nvPr/>
        </p:nvSpPr>
        <p:spPr>
          <a:xfrm>
            <a:off x="3456432" y="1261872"/>
            <a:ext cx="5230368" cy="1170432"/>
          </a:xfrm>
          <a:prstGeom prst="rect">
            <a:avLst/>
          </a:prstGeom>
          <a:solidFill>
            <a:srgbClr val="F0F4F8"/>
          </a:solidFill>
          <a:ln w="9525">
            <a:solidFill>
              <a:srgbClr val="D8E4EE"/>
            </a:solidFill>
            <a:prstDash val="solid"/>
          </a:ln>
        </p:spPr>
      </p:sp>
      <p:sp>
        <p:nvSpPr>
          <p:cNvPr id="18" name="Shape 16"/>
          <p:cNvSpPr/>
          <p:nvPr/>
        </p:nvSpPr>
        <p:spPr>
          <a:xfrm>
            <a:off x="3456432" y="1261872"/>
            <a:ext cx="5230368" cy="54864"/>
          </a:xfrm>
          <a:prstGeom prst="rect">
            <a:avLst/>
          </a:prstGeom>
          <a:solidFill>
            <a:srgbClr val="1E3461"/>
          </a:solidFill>
          <a:ln/>
        </p:spPr>
      </p:sp>
      <p:sp>
        <p:nvSpPr>
          <p:cNvPr id="19" name="Shape 17"/>
          <p:cNvSpPr/>
          <p:nvPr/>
        </p:nvSpPr>
        <p:spPr>
          <a:xfrm>
            <a:off x="3593592" y="1554480"/>
            <a:ext cx="548640" cy="548640"/>
          </a:xfrm>
          <a:prstGeom prst="ellipse">
            <a:avLst/>
          </a:prstGeom>
          <a:solidFill>
            <a:srgbClr val="1E3461"/>
          </a:solidFill>
          <a:ln/>
        </p:spPr>
      </p:sp>
      <p:sp>
        <p:nvSpPr>
          <p:cNvPr id="20" name="Text 18"/>
          <p:cNvSpPr/>
          <p:nvPr/>
        </p:nvSpPr>
        <p:spPr>
          <a:xfrm>
            <a:off x="3593592" y="155448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網</a:t>
            </a:r>
            <a:endParaRPr lang="en-US" sz="1600" dirty="0"/>
          </a:p>
        </p:txBody>
      </p:sp>
      <p:sp>
        <p:nvSpPr>
          <p:cNvPr id="21" name="Text 19"/>
          <p:cNvSpPr/>
          <p:nvPr/>
        </p:nvSpPr>
        <p:spPr>
          <a:xfrm>
            <a:off x="4261104" y="1353312"/>
            <a:ext cx="4297680" cy="365760"/>
          </a:xfrm>
          <a:prstGeom prst="rect">
            <a:avLst/>
          </a:prstGeom>
          <a:noFill/>
          <a:ln/>
        </p:spPr>
        <p:txBody>
          <a:bodyPr wrap="square" rtlCol="0" anchor="ctr"/>
          <a:lstStyle/>
          <a:p>
            <a:pPr indent="0" marL="0">
              <a:buNone/>
            </a:pPr>
            <a:r>
              <a:rPr lang="en-US" sz="1300" b="1" dirty="0">
                <a:solidFill>
                  <a:srgbClr val="1E3461"/>
                </a:solidFill>
                <a:latin typeface="Calibri" pitchFamily="34" charset="0"/>
                <a:ea typeface="Calibri" pitchFamily="34" charset="-122"/>
                <a:cs typeface="Calibri" pitchFamily="34" charset="-120"/>
              </a:rPr>
              <a:t>地域密着の配送ネットワーク</a:t>
            </a:r>
            <a:endParaRPr lang="en-US" sz="1300" dirty="0"/>
          </a:p>
        </p:txBody>
      </p:sp>
      <p:sp>
        <p:nvSpPr>
          <p:cNvPr id="22" name="Text 20"/>
          <p:cNvSpPr/>
          <p:nvPr/>
        </p:nvSpPr>
        <p:spPr>
          <a:xfrm>
            <a:off x="4261104" y="1737360"/>
            <a:ext cx="4297680" cy="640080"/>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東京・神奈川を日常的にカバーする200台以上の車両網。既存インフラをそのままデータ収集基盤へ転用できます。</a:t>
            </a:r>
            <a:endParaRPr lang="en-US" sz="1100" dirty="0"/>
          </a:p>
        </p:txBody>
      </p:sp>
      <p:sp>
        <p:nvSpPr>
          <p:cNvPr id="23" name="Shape 21"/>
          <p:cNvSpPr/>
          <p:nvPr/>
        </p:nvSpPr>
        <p:spPr>
          <a:xfrm>
            <a:off x="3456432" y="2523744"/>
            <a:ext cx="5230368" cy="1170432"/>
          </a:xfrm>
          <a:prstGeom prst="rect">
            <a:avLst/>
          </a:prstGeom>
          <a:solidFill>
            <a:srgbClr val="F0F4F8"/>
          </a:solidFill>
          <a:ln w="9525">
            <a:solidFill>
              <a:srgbClr val="D8E4EE"/>
            </a:solidFill>
            <a:prstDash val="solid"/>
          </a:ln>
        </p:spPr>
      </p:sp>
      <p:sp>
        <p:nvSpPr>
          <p:cNvPr id="24" name="Shape 22"/>
          <p:cNvSpPr/>
          <p:nvPr/>
        </p:nvSpPr>
        <p:spPr>
          <a:xfrm>
            <a:off x="3456432" y="2523744"/>
            <a:ext cx="5230368" cy="54864"/>
          </a:xfrm>
          <a:prstGeom prst="rect">
            <a:avLst/>
          </a:prstGeom>
          <a:solidFill>
            <a:srgbClr val="00939D"/>
          </a:solidFill>
          <a:ln/>
        </p:spPr>
      </p:sp>
      <p:sp>
        <p:nvSpPr>
          <p:cNvPr id="25" name="Shape 23"/>
          <p:cNvSpPr/>
          <p:nvPr/>
        </p:nvSpPr>
        <p:spPr>
          <a:xfrm>
            <a:off x="3593592" y="2816352"/>
            <a:ext cx="548640" cy="548640"/>
          </a:xfrm>
          <a:prstGeom prst="ellipse">
            <a:avLst/>
          </a:prstGeom>
          <a:solidFill>
            <a:srgbClr val="00939D"/>
          </a:solidFill>
          <a:ln/>
        </p:spPr>
      </p:sp>
      <p:sp>
        <p:nvSpPr>
          <p:cNvPr id="26" name="Text 24"/>
          <p:cNvSpPr/>
          <p:nvPr/>
        </p:nvSpPr>
        <p:spPr>
          <a:xfrm>
            <a:off x="3593592" y="28163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循</a:t>
            </a:r>
            <a:endParaRPr lang="en-US" sz="1600" dirty="0"/>
          </a:p>
        </p:txBody>
      </p:sp>
      <p:sp>
        <p:nvSpPr>
          <p:cNvPr id="27" name="Text 25"/>
          <p:cNvSpPr/>
          <p:nvPr/>
        </p:nvSpPr>
        <p:spPr>
          <a:xfrm>
            <a:off x="4261104" y="2615184"/>
            <a:ext cx="4297680" cy="365760"/>
          </a:xfrm>
          <a:prstGeom prst="rect">
            <a:avLst/>
          </a:prstGeom>
          <a:noFill/>
          <a:ln/>
        </p:spPr>
        <p:txBody>
          <a:bodyPr wrap="square" rtlCol="0" anchor="ctr"/>
          <a:lstStyle/>
          <a:p>
            <a:pPr indent="0" marL="0">
              <a:buNone/>
            </a:pPr>
            <a:r>
              <a:rPr lang="en-US" sz="1300" b="1" dirty="0">
                <a:solidFill>
                  <a:srgbClr val="1E3461"/>
                </a:solidFill>
                <a:latin typeface="Calibri" pitchFamily="34" charset="0"/>
                <a:ea typeface="Calibri" pitchFamily="34" charset="-122"/>
                <a:cs typeface="Calibri" pitchFamily="34" charset="-120"/>
              </a:rPr>
              <a:t>循環型経済の担い手</a:t>
            </a:r>
            <a:endParaRPr lang="en-US" sz="1300" dirty="0"/>
          </a:p>
        </p:txBody>
      </p:sp>
      <p:sp>
        <p:nvSpPr>
          <p:cNvPr id="28" name="Text 26"/>
          <p:cNvSpPr/>
          <p:nvPr/>
        </p:nvSpPr>
        <p:spPr>
          <a:xfrm>
            <a:off x="4261104" y="2999232"/>
            <a:ext cx="4297680" cy="640080"/>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廃棄物収集・リファービッシュ・再流通のサイクルを一貫運営。廃棄物量データの取得許可業者として唯一無二の立場にあります。</a:t>
            </a:r>
            <a:endParaRPr lang="en-US" sz="1100" dirty="0"/>
          </a:p>
        </p:txBody>
      </p:sp>
      <p:sp>
        <p:nvSpPr>
          <p:cNvPr id="29" name="Shape 27"/>
          <p:cNvSpPr/>
          <p:nvPr/>
        </p:nvSpPr>
        <p:spPr>
          <a:xfrm>
            <a:off x="3456432" y="3785616"/>
            <a:ext cx="5230368" cy="1170432"/>
          </a:xfrm>
          <a:prstGeom prst="rect">
            <a:avLst/>
          </a:prstGeom>
          <a:solidFill>
            <a:srgbClr val="F0F4F8"/>
          </a:solidFill>
          <a:ln w="9525">
            <a:solidFill>
              <a:srgbClr val="D8E4EE"/>
            </a:solidFill>
            <a:prstDash val="solid"/>
          </a:ln>
        </p:spPr>
      </p:sp>
      <p:sp>
        <p:nvSpPr>
          <p:cNvPr id="30" name="Shape 28"/>
          <p:cNvSpPr/>
          <p:nvPr/>
        </p:nvSpPr>
        <p:spPr>
          <a:xfrm>
            <a:off x="3456432" y="3785616"/>
            <a:ext cx="5230368" cy="54864"/>
          </a:xfrm>
          <a:prstGeom prst="rect">
            <a:avLst/>
          </a:prstGeom>
          <a:solidFill>
            <a:srgbClr val="4A6FA5"/>
          </a:solidFill>
          <a:ln/>
        </p:spPr>
      </p:sp>
      <p:sp>
        <p:nvSpPr>
          <p:cNvPr id="31" name="Shape 29"/>
          <p:cNvSpPr/>
          <p:nvPr/>
        </p:nvSpPr>
        <p:spPr>
          <a:xfrm>
            <a:off x="3593592" y="4078224"/>
            <a:ext cx="548640" cy="548640"/>
          </a:xfrm>
          <a:prstGeom prst="ellipse">
            <a:avLst/>
          </a:prstGeom>
          <a:solidFill>
            <a:srgbClr val="4A6FA5"/>
          </a:solidFill>
          <a:ln/>
        </p:spPr>
      </p:sp>
      <p:sp>
        <p:nvSpPr>
          <p:cNvPr id="32" name="Text 30"/>
          <p:cNvSpPr/>
          <p:nvPr/>
        </p:nvSpPr>
        <p:spPr>
          <a:xfrm>
            <a:off x="3593592" y="407822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信</a:t>
            </a:r>
            <a:endParaRPr lang="en-US" sz="1600" dirty="0"/>
          </a:p>
        </p:txBody>
      </p:sp>
      <p:sp>
        <p:nvSpPr>
          <p:cNvPr id="33" name="Text 31"/>
          <p:cNvSpPr/>
          <p:nvPr/>
        </p:nvSpPr>
        <p:spPr>
          <a:xfrm>
            <a:off x="4261104" y="3877056"/>
            <a:ext cx="4297680" cy="365760"/>
          </a:xfrm>
          <a:prstGeom prst="rect">
            <a:avLst/>
          </a:prstGeom>
          <a:noFill/>
          <a:ln/>
        </p:spPr>
        <p:txBody>
          <a:bodyPr wrap="square" rtlCol="0" anchor="ctr"/>
          <a:lstStyle/>
          <a:p>
            <a:pPr indent="0" marL="0">
              <a:buNone/>
            </a:pPr>
            <a:r>
              <a:rPr lang="en-US" sz="1300" b="1" dirty="0">
                <a:solidFill>
                  <a:srgbClr val="1E3461"/>
                </a:solidFill>
                <a:latin typeface="Calibri" pitchFamily="34" charset="0"/>
                <a:ea typeface="Calibri" pitchFamily="34" charset="-122"/>
                <a:cs typeface="Calibri" pitchFamily="34" charset="-120"/>
              </a:rPr>
              <a:t>行政・企業との協業実績</a:t>
            </a:r>
            <a:endParaRPr lang="en-US" sz="1300" dirty="0"/>
          </a:p>
        </p:txBody>
      </p:sp>
      <p:sp>
        <p:nvSpPr>
          <p:cNvPr id="34" name="Text 32"/>
          <p:cNvSpPr/>
          <p:nvPr/>
        </p:nvSpPr>
        <p:spPr>
          <a:xfrm>
            <a:off x="4261104" y="4261104"/>
            <a:ext cx="4297680" cy="640080"/>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廃棄物収集業務を通じた自治体・企業との継続的な信頼関係。コンプライアンスを重視した誠実な事業運営を行っています。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8"/>
          </a:solidFill>
          <a:ln/>
        </p:spPr>
      </p:sp>
      <p:sp>
        <p:nvSpPr>
          <p:cNvPr id="3" name="Shape 1"/>
          <p:cNvSpPr/>
          <p:nvPr/>
        </p:nvSpPr>
        <p:spPr>
          <a:xfrm>
            <a:off x="457200" y="201168"/>
            <a:ext cx="914400" cy="237744"/>
          </a:xfrm>
          <a:prstGeom prst="rect">
            <a:avLst/>
          </a:prstGeom>
          <a:solidFill>
            <a:srgbClr val="00939D"/>
          </a:solidFill>
          <a:ln/>
        </p:spPr>
      </p:sp>
      <p:sp>
        <p:nvSpPr>
          <p:cNvPr id="4" name="Text 2"/>
          <p:cNvSpPr/>
          <p:nvPr/>
        </p:nvSpPr>
        <p:spPr>
          <a:xfrm>
            <a:off x="566928" y="210312"/>
            <a:ext cx="71323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提案概要</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2つのデータ収集事業を川崎市へご提案します</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57200" y="1261872"/>
            <a:ext cx="8412480" cy="512064"/>
          </a:xfrm>
          <a:prstGeom prst="rect">
            <a:avLst/>
          </a:prstGeom>
          <a:solidFill>
            <a:srgbClr val="1E3461"/>
          </a:solidFill>
          <a:ln/>
        </p:spPr>
      </p:sp>
      <p:sp>
        <p:nvSpPr>
          <p:cNvPr id="8" name="Shape 6"/>
          <p:cNvSpPr/>
          <p:nvPr/>
        </p:nvSpPr>
        <p:spPr>
          <a:xfrm>
            <a:off x="457200" y="1261872"/>
            <a:ext cx="54864" cy="512064"/>
          </a:xfrm>
          <a:prstGeom prst="rect">
            <a:avLst/>
          </a:prstGeom>
          <a:solidFill>
            <a:srgbClr val="00939D"/>
          </a:solidFill>
          <a:ln/>
        </p:spPr>
      </p:sp>
      <p:sp>
        <p:nvSpPr>
          <p:cNvPr id="9" name="Text 7"/>
          <p:cNvSpPr/>
          <p:nvPr/>
        </p:nvSpPr>
        <p:spPr>
          <a:xfrm>
            <a:off x="685800" y="1261872"/>
            <a:ext cx="818388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共通資産：200台以上の配送トラック × 250社超の廃棄物収集ネットワーク</a:t>
            </a:r>
            <a:endParaRPr lang="en-US" sz="1300" dirty="0"/>
          </a:p>
        </p:txBody>
      </p:sp>
      <p:sp>
        <p:nvSpPr>
          <p:cNvPr id="10" name="Shape 8"/>
          <p:cNvSpPr/>
          <p:nvPr/>
        </p:nvSpPr>
        <p:spPr>
          <a:xfrm>
            <a:off x="457200" y="1883664"/>
            <a:ext cx="4069080" cy="3017520"/>
          </a:xfrm>
          <a:prstGeom prst="rect">
            <a:avLst/>
          </a:prstGeom>
          <a:solidFill>
            <a:srgbClr val="FFFFFF"/>
          </a:solidFill>
          <a:ln w="9525">
            <a:solidFill>
              <a:srgbClr val="D8E4EE"/>
            </a:solidFill>
            <a:prstDash val="solid"/>
          </a:ln>
        </p:spPr>
      </p:sp>
      <p:sp>
        <p:nvSpPr>
          <p:cNvPr id="11" name="Shape 9"/>
          <p:cNvSpPr/>
          <p:nvPr/>
        </p:nvSpPr>
        <p:spPr>
          <a:xfrm>
            <a:off x="457200" y="1883664"/>
            <a:ext cx="4069080" cy="54864"/>
          </a:xfrm>
          <a:prstGeom prst="rect">
            <a:avLst/>
          </a:prstGeom>
          <a:solidFill>
            <a:srgbClr val="2E7D32"/>
          </a:solidFill>
          <a:ln/>
        </p:spPr>
      </p:sp>
      <p:sp>
        <p:nvSpPr>
          <p:cNvPr id="12" name="Shape 10"/>
          <p:cNvSpPr/>
          <p:nvPr/>
        </p:nvSpPr>
        <p:spPr>
          <a:xfrm>
            <a:off x="658368" y="1993392"/>
            <a:ext cx="594360" cy="594360"/>
          </a:xfrm>
          <a:prstGeom prst="ellipse">
            <a:avLst/>
          </a:prstGeom>
          <a:solidFill>
            <a:srgbClr val="2E7D32"/>
          </a:solidFill>
          <a:ln/>
        </p:spPr>
      </p:sp>
      <p:sp>
        <p:nvSpPr>
          <p:cNvPr id="13" name="Text 11"/>
          <p:cNvSpPr/>
          <p:nvPr/>
        </p:nvSpPr>
        <p:spPr>
          <a:xfrm>
            <a:off x="658368" y="1993392"/>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廃</a:t>
            </a:r>
            <a:endParaRPr lang="en-US" sz="2000" dirty="0"/>
          </a:p>
        </p:txBody>
      </p:sp>
      <p:sp>
        <p:nvSpPr>
          <p:cNvPr id="14" name="Text 12"/>
          <p:cNvSpPr/>
          <p:nvPr/>
        </p:nvSpPr>
        <p:spPr>
          <a:xfrm>
            <a:off x="1371600" y="2011680"/>
            <a:ext cx="3063240" cy="420624"/>
          </a:xfrm>
          <a:prstGeom prst="rect">
            <a:avLst/>
          </a:prstGeom>
          <a:noFill/>
          <a:ln/>
        </p:spPr>
        <p:txBody>
          <a:bodyPr wrap="square"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廃棄物量データ収集事業</a:t>
            </a:r>
            <a:endParaRPr lang="en-US" sz="1400" dirty="0"/>
          </a:p>
        </p:txBody>
      </p:sp>
      <p:sp>
        <p:nvSpPr>
          <p:cNvPr id="15" name="Shape 13"/>
          <p:cNvSpPr/>
          <p:nvPr/>
        </p:nvSpPr>
        <p:spPr>
          <a:xfrm>
            <a:off x="594360" y="2560320"/>
            <a:ext cx="128016" cy="128016"/>
          </a:xfrm>
          <a:prstGeom prst="ellipse">
            <a:avLst/>
          </a:prstGeom>
          <a:solidFill>
            <a:srgbClr val="2E7D32"/>
          </a:solidFill>
          <a:ln/>
        </p:spPr>
      </p:sp>
      <p:sp>
        <p:nvSpPr>
          <p:cNvPr id="16" name="Text 14"/>
          <p:cNvSpPr/>
          <p:nvPr/>
        </p:nvSpPr>
        <p:spPr>
          <a:xfrm>
            <a:off x="822960" y="2523744"/>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250施設の廃棄物量を定期記録</a:t>
            </a:r>
            <a:endParaRPr lang="en-US" sz="1150" dirty="0"/>
          </a:p>
        </p:txBody>
      </p:sp>
      <p:sp>
        <p:nvSpPr>
          <p:cNvPr id="17" name="Shape 15"/>
          <p:cNvSpPr/>
          <p:nvPr/>
        </p:nvSpPr>
        <p:spPr>
          <a:xfrm>
            <a:off x="594360" y="2980944"/>
            <a:ext cx="128016" cy="128016"/>
          </a:xfrm>
          <a:prstGeom prst="ellipse">
            <a:avLst/>
          </a:prstGeom>
          <a:solidFill>
            <a:srgbClr val="2E7D32"/>
          </a:solidFill>
          <a:ln/>
        </p:spPr>
      </p:sp>
      <p:sp>
        <p:nvSpPr>
          <p:cNvPr id="18" name="Text 16"/>
          <p:cNvSpPr/>
          <p:nvPr/>
        </p:nvSpPr>
        <p:spPr>
          <a:xfrm>
            <a:off x="822960" y="2944368"/>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施設別・品目別・時系列データ</a:t>
            </a:r>
            <a:endParaRPr lang="en-US" sz="1150" dirty="0"/>
          </a:p>
        </p:txBody>
      </p:sp>
      <p:sp>
        <p:nvSpPr>
          <p:cNvPr id="19" name="Shape 17"/>
          <p:cNvSpPr/>
          <p:nvPr/>
        </p:nvSpPr>
        <p:spPr>
          <a:xfrm>
            <a:off x="594360" y="3401568"/>
            <a:ext cx="128016" cy="128016"/>
          </a:xfrm>
          <a:prstGeom prst="ellipse">
            <a:avLst/>
          </a:prstGeom>
          <a:solidFill>
            <a:srgbClr val="2E7D32"/>
          </a:solidFill>
          <a:ln/>
        </p:spPr>
      </p:sp>
      <p:sp>
        <p:nvSpPr>
          <p:cNvPr id="20" name="Text 18"/>
          <p:cNvSpPr/>
          <p:nvPr/>
        </p:nvSpPr>
        <p:spPr>
          <a:xfrm>
            <a:off x="822960" y="3364992"/>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環境KPI・廃棄物管理施策に活用</a:t>
            </a:r>
            <a:endParaRPr lang="en-US" sz="1150" dirty="0"/>
          </a:p>
        </p:txBody>
      </p:sp>
      <p:sp>
        <p:nvSpPr>
          <p:cNvPr id="21" name="Shape 19"/>
          <p:cNvSpPr/>
          <p:nvPr/>
        </p:nvSpPr>
        <p:spPr>
          <a:xfrm>
            <a:off x="594360" y="3822192"/>
            <a:ext cx="128016" cy="128016"/>
          </a:xfrm>
          <a:prstGeom prst="ellipse">
            <a:avLst/>
          </a:prstGeom>
          <a:solidFill>
            <a:srgbClr val="2E7D32"/>
          </a:solidFill>
          <a:ln/>
        </p:spPr>
      </p:sp>
      <p:sp>
        <p:nvSpPr>
          <p:cNvPr id="22" name="Text 20"/>
          <p:cNvSpPr/>
          <p:nvPr/>
        </p:nvSpPr>
        <p:spPr>
          <a:xfrm>
            <a:off x="822960" y="3785616"/>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追加人員・設備不要（既存業務から記録）</a:t>
            </a:r>
            <a:endParaRPr lang="en-US" sz="1150" dirty="0"/>
          </a:p>
        </p:txBody>
      </p:sp>
      <p:sp>
        <p:nvSpPr>
          <p:cNvPr id="23" name="Shape 21"/>
          <p:cNvSpPr/>
          <p:nvPr/>
        </p:nvSpPr>
        <p:spPr>
          <a:xfrm>
            <a:off x="594360" y="4242816"/>
            <a:ext cx="128016" cy="128016"/>
          </a:xfrm>
          <a:prstGeom prst="ellipse">
            <a:avLst/>
          </a:prstGeom>
          <a:solidFill>
            <a:srgbClr val="2E7D32"/>
          </a:solidFill>
          <a:ln/>
        </p:spPr>
      </p:sp>
      <p:sp>
        <p:nvSpPr>
          <p:cNvPr id="24" name="Text 22"/>
          <p:cNvSpPr/>
          <p:nvPr/>
        </p:nvSpPr>
        <p:spPr>
          <a:xfrm>
            <a:off x="822960" y="4206240"/>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廃棄物収集許可業者のみが取得可能なデータ</a:t>
            </a:r>
            <a:endParaRPr lang="en-US" sz="1150" dirty="0"/>
          </a:p>
        </p:txBody>
      </p:sp>
      <p:sp>
        <p:nvSpPr>
          <p:cNvPr id="25" name="Shape 23"/>
          <p:cNvSpPr/>
          <p:nvPr/>
        </p:nvSpPr>
        <p:spPr>
          <a:xfrm>
            <a:off x="4617720" y="1883664"/>
            <a:ext cx="4069080" cy="3017520"/>
          </a:xfrm>
          <a:prstGeom prst="rect">
            <a:avLst/>
          </a:prstGeom>
          <a:solidFill>
            <a:srgbClr val="FFFFFF"/>
          </a:solidFill>
          <a:ln w="9525">
            <a:solidFill>
              <a:srgbClr val="D8E4EE"/>
            </a:solidFill>
            <a:prstDash val="solid"/>
          </a:ln>
        </p:spPr>
      </p:sp>
      <p:sp>
        <p:nvSpPr>
          <p:cNvPr id="26" name="Shape 24"/>
          <p:cNvSpPr/>
          <p:nvPr/>
        </p:nvSpPr>
        <p:spPr>
          <a:xfrm>
            <a:off x="4617720" y="1883664"/>
            <a:ext cx="4069080" cy="54864"/>
          </a:xfrm>
          <a:prstGeom prst="rect">
            <a:avLst/>
          </a:prstGeom>
          <a:solidFill>
            <a:srgbClr val="00939D"/>
          </a:solidFill>
          <a:ln/>
        </p:spPr>
      </p:sp>
      <p:sp>
        <p:nvSpPr>
          <p:cNvPr id="27" name="Shape 25"/>
          <p:cNvSpPr/>
          <p:nvPr/>
        </p:nvSpPr>
        <p:spPr>
          <a:xfrm>
            <a:off x="4818888" y="1993392"/>
            <a:ext cx="594360" cy="594360"/>
          </a:xfrm>
          <a:prstGeom prst="ellipse">
            <a:avLst/>
          </a:prstGeom>
          <a:solidFill>
            <a:srgbClr val="00939D"/>
          </a:solidFill>
          <a:ln/>
        </p:spPr>
      </p:sp>
      <p:sp>
        <p:nvSpPr>
          <p:cNvPr id="28" name="Text 26"/>
          <p:cNvSpPr/>
          <p:nvPr/>
        </p:nvSpPr>
        <p:spPr>
          <a:xfrm>
            <a:off x="4818888" y="1993392"/>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路</a:t>
            </a:r>
            <a:endParaRPr lang="en-US" sz="2000" dirty="0"/>
          </a:p>
        </p:txBody>
      </p:sp>
      <p:sp>
        <p:nvSpPr>
          <p:cNvPr id="29" name="Text 27"/>
          <p:cNvSpPr/>
          <p:nvPr/>
        </p:nvSpPr>
        <p:spPr>
          <a:xfrm>
            <a:off x="5532120" y="2011680"/>
            <a:ext cx="3063240" cy="420624"/>
          </a:xfrm>
          <a:prstGeom prst="rect">
            <a:avLst/>
          </a:prstGeom>
          <a:noFill/>
          <a:ln/>
        </p:spPr>
        <p:txBody>
          <a:bodyPr wrap="square" rtlCol="0" anchor="ctr"/>
          <a:lstStyle/>
          <a:p>
            <a:pPr indent="0" marL="0">
              <a:buNone/>
            </a:pPr>
            <a:r>
              <a:rPr lang="en-US" sz="1400" b="1" dirty="0">
                <a:solidFill>
                  <a:srgbClr val="006B74"/>
                </a:solidFill>
                <a:latin typeface="Calibri" pitchFamily="34" charset="0"/>
                <a:ea typeface="Calibri" pitchFamily="34" charset="-122"/>
                <a:cs typeface="Calibri" pitchFamily="34" charset="-120"/>
              </a:rPr>
              <a:t>走行センサーデータ収集事業</a:t>
            </a:r>
            <a:endParaRPr lang="en-US" sz="1400" dirty="0"/>
          </a:p>
        </p:txBody>
      </p:sp>
      <p:sp>
        <p:nvSpPr>
          <p:cNvPr id="30" name="Shape 28"/>
          <p:cNvSpPr/>
          <p:nvPr/>
        </p:nvSpPr>
        <p:spPr>
          <a:xfrm>
            <a:off x="4736592" y="2560320"/>
            <a:ext cx="128016" cy="128016"/>
          </a:xfrm>
          <a:prstGeom prst="ellipse">
            <a:avLst/>
          </a:prstGeom>
          <a:solidFill>
            <a:srgbClr val="00939D"/>
          </a:solidFill>
          <a:ln/>
        </p:spPr>
      </p:sp>
      <p:sp>
        <p:nvSpPr>
          <p:cNvPr id="31" name="Text 29"/>
          <p:cNvSpPr/>
          <p:nvPr/>
        </p:nvSpPr>
        <p:spPr>
          <a:xfrm>
            <a:off x="4983480" y="2523744"/>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200台のトラックにカメラ＋エッジAI搭載</a:t>
            </a:r>
            <a:endParaRPr lang="en-US" sz="1150" dirty="0"/>
          </a:p>
        </p:txBody>
      </p:sp>
      <p:sp>
        <p:nvSpPr>
          <p:cNvPr id="32" name="Shape 30"/>
          <p:cNvSpPr/>
          <p:nvPr/>
        </p:nvSpPr>
        <p:spPr>
          <a:xfrm>
            <a:off x="4736592" y="2980944"/>
            <a:ext cx="128016" cy="128016"/>
          </a:xfrm>
          <a:prstGeom prst="ellipse">
            <a:avLst/>
          </a:prstGeom>
          <a:solidFill>
            <a:srgbClr val="00939D"/>
          </a:solidFill>
          <a:ln/>
        </p:spPr>
      </p:sp>
      <p:sp>
        <p:nvSpPr>
          <p:cNvPr id="33" name="Text 31"/>
          <p:cNvSpPr/>
          <p:nvPr/>
        </p:nvSpPr>
        <p:spPr>
          <a:xfrm>
            <a:off x="4983480" y="2944368"/>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道路損傷・街路樹・交通状況を自動収集</a:t>
            </a:r>
            <a:endParaRPr lang="en-US" sz="1150" dirty="0"/>
          </a:p>
        </p:txBody>
      </p:sp>
      <p:sp>
        <p:nvSpPr>
          <p:cNvPr id="34" name="Shape 32"/>
          <p:cNvSpPr/>
          <p:nvPr/>
        </p:nvSpPr>
        <p:spPr>
          <a:xfrm>
            <a:off x="4736592" y="3401568"/>
            <a:ext cx="128016" cy="128016"/>
          </a:xfrm>
          <a:prstGeom prst="ellipse">
            <a:avLst/>
          </a:prstGeom>
          <a:solidFill>
            <a:srgbClr val="00939D"/>
          </a:solidFill>
          <a:ln/>
        </p:spPr>
      </p:sp>
      <p:sp>
        <p:nvSpPr>
          <p:cNvPr id="35" name="Text 33"/>
          <p:cNvSpPr/>
          <p:nvPr/>
        </p:nvSpPr>
        <p:spPr>
          <a:xfrm>
            <a:off x="4983480" y="3364992"/>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道路維持管理・交通施策に活用可能</a:t>
            </a:r>
            <a:endParaRPr lang="en-US" sz="1150" dirty="0"/>
          </a:p>
        </p:txBody>
      </p:sp>
      <p:sp>
        <p:nvSpPr>
          <p:cNvPr id="36" name="Shape 34"/>
          <p:cNvSpPr/>
          <p:nvPr/>
        </p:nvSpPr>
        <p:spPr>
          <a:xfrm>
            <a:off x="4736592" y="3822192"/>
            <a:ext cx="128016" cy="128016"/>
          </a:xfrm>
          <a:prstGeom prst="ellipse">
            <a:avLst/>
          </a:prstGeom>
          <a:solidFill>
            <a:srgbClr val="00939D"/>
          </a:solidFill>
          <a:ln/>
        </p:spPr>
      </p:sp>
      <p:sp>
        <p:nvSpPr>
          <p:cNvPr id="37" name="Text 35"/>
          <p:cNvSpPr/>
          <p:nvPr/>
        </p:nvSpPr>
        <p:spPr>
          <a:xfrm>
            <a:off x="4983480" y="3785616"/>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専用調査車両の追加購入不要</a:t>
            </a:r>
            <a:endParaRPr lang="en-US" sz="1150" dirty="0"/>
          </a:p>
        </p:txBody>
      </p:sp>
      <p:sp>
        <p:nvSpPr>
          <p:cNvPr id="38" name="Shape 36"/>
          <p:cNvSpPr/>
          <p:nvPr/>
        </p:nvSpPr>
        <p:spPr>
          <a:xfrm>
            <a:off x="4736592" y="4242816"/>
            <a:ext cx="128016" cy="128016"/>
          </a:xfrm>
          <a:prstGeom prst="ellipse">
            <a:avLst/>
          </a:prstGeom>
          <a:solidFill>
            <a:srgbClr val="00939D"/>
          </a:solidFill>
          <a:ln/>
        </p:spPr>
      </p:sp>
      <p:sp>
        <p:nvSpPr>
          <p:cNvPr id="39" name="Text 37"/>
          <p:cNvSpPr/>
          <p:nvPr/>
        </p:nvSpPr>
        <p:spPr>
          <a:xfrm>
            <a:off x="4983480" y="4206240"/>
            <a:ext cx="3566160" cy="384048"/>
          </a:xfrm>
          <a:prstGeom prst="rect">
            <a:avLst/>
          </a:prstGeom>
          <a:noFill/>
          <a:ln/>
        </p:spPr>
        <p:txBody>
          <a:bodyPr wrap="square" rtlCol="0" anchor="ctr"/>
          <a:lstStyle/>
          <a:p>
            <a:pPr indent="0" marL="0">
              <a:buNone/>
            </a:pPr>
            <a:r>
              <a:rPr lang="en-US" sz="1150" dirty="0">
                <a:solidFill>
                  <a:srgbClr val="1A2332"/>
                </a:solidFill>
                <a:latin typeface="Calibri" pitchFamily="34" charset="0"/>
                <a:ea typeface="Calibri" pitchFamily="34" charset="-122"/>
                <a:cs typeface="Calibri" pitchFamily="34" charset="-120"/>
              </a:rPr>
              <a:t>個人情報はリアルタイムマスキング処理</a:t>
            </a:r>
            <a:endParaRPr lang="en-US" sz="1150" dirty="0"/>
          </a:p>
        </p:txBody>
      </p:sp>
      <p:sp>
        <p:nvSpPr>
          <p:cNvPr id="40" name="Text 38"/>
          <p:cNvSpPr/>
          <p:nvPr/>
        </p:nvSpPr>
        <p:spPr>
          <a:xfrm>
            <a:off x="4407408" y="3017520"/>
            <a:ext cx="365760" cy="365760"/>
          </a:xfrm>
          <a:prstGeom prst="rect">
            <a:avLst/>
          </a:prstGeom>
          <a:noFill/>
          <a:ln/>
        </p:spPr>
        <p:txBody>
          <a:bodyPr wrap="square" rtlCol="0" anchor="ctr"/>
          <a:lstStyle/>
          <a:p>
            <a:pPr algn="ctr" indent="0" marL="0">
              <a:buNone/>
            </a:pPr>
            <a:r>
              <a:rPr lang="en-US" sz="1800" b="1" dirty="0">
                <a:solidFill>
                  <a:srgbClr val="B0C4CE"/>
                </a:solidFill>
                <a:latin typeface="Calibri" pitchFamily="34" charset="0"/>
                <a:ea typeface="Calibri" pitchFamily="34" charset="-122"/>
                <a:cs typeface="Calibri" pitchFamily="34" charset="-120"/>
              </a:rPr>
              <a: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457200" y="201168"/>
            <a:ext cx="1074420" cy="237744"/>
          </a:xfrm>
          <a:prstGeom prst="rect">
            <a:avLst/>
          </a:prstGeom>
          <a:solidFill>
            <a:srgbClr val="00939D"/>
          </a:solidFill>
          <a:ln/>
        </p:spPr>
      </p:sp>
      <p:sp>
        <p:nvSpPr>
          <p:cNvPr id="4" name="Text 2"/>
          <p:cNvSpPr/>
          <p:nvPr/>
        </p:nvSpPr>
        <p:spPr>
          <a:xfrm>
            <a:off x="566928" y="210312"/>
            <a:ext cx="87325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課題の認識</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川崎市が直面する3つのデータ課題</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57200" y="1307592"/>
            <a:ext cx="54864" cy="1005840"/>
          </a:xfrm>
          <a:prstGeom prst="rect">
            <a:avLst/>
          </a:prstGeom>
          <a:solidFill>
            <a:srgbClr val="1E3461"/>
          </a:solidFill>
          <a:ln/>
        </p:spPr>
      </p:sp>
      <p:sp>
        <p:nvSpPr>
          <p:cNvPr id="8" name="Shape 6"/>
          <p:cNvSpPr/>
          <p:nvPr/>
        </p:nvSpPr>
        <p:spPr>
          <a:xfrm>
            <a:off x="640080" y="1307592"/>
            <a:ext cx="475488" cy="475488"/>
          </a:xfrm>
          <a:prstGeom prst="ellipse">
            <a:avLst/>
          </a:prstGeom>
          <a:solidFill>
            <a:srgbClr val="1E3461"/>
          </a:solidFill>
          <a:ln/>
        </p:spPr>
      </p:sp>
      <p:sp>
        <p:nvSpPr>
          <p:cNvPr id="9" name="Text 7"/>
          <p:cNvSpPr/>
          <p:nvPr/>
        </p:nvSpPr>
        <p:spPr>
          <a:xfrm>
            <a:off x="640080" y="130759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234440" y="1316736"/>
            <a:ext cx="7543800" cy="384048"/>
          </a:xfrm>
          <a:prstGeom prst="rect">
            <a:avLst/>
          </a:prstGeom>
          <a:noFill/>
          <a:ln/>
        </p:spPr>
        <p:txBody>
          <a:bodyPr wrap="square" rtlCol="0" anchor="ctr"/>
          <a:lstStyle/>
          <a:p>
            <a:pPr indent="0" marL="0">
              <a:buNone/>
            </a:pPr>
            <a:r>
              <a:rPr lang="en-US" sz="1500" b="1" dirty="0">
                <a:solidFill>
                  <a:srgbClr val="1E3461"/>
                </a:solidFill>
                <a:latin typeface="Calibri" pitchFamily="34" charset="0"/>
                <a:ea typeface="Calibri" pitchFamily="34" charset="-122"/>
                <a:cs typeface="Calibri" pitchFamily="34" charset="-120"/>
              </a:rPr>
              <a:t>パトロール・巡回体制の維持が困難</a:t>
            </a:r>
            <a:endParaRPr lang="en-US" sz="1500" dirty="0"/>
          </a:p>
        </p:txBody>
      </p:sp>
      <p:sp>
        <p:nvSpPr>
          <p:cNvPr id="11" name="Text 9"/>
          <p:cNvSpPr/>
          <p:nvPr/>
        </p:nvSpPr>
        <p:spPr>
          <a:xfrm>
            <a:off x="1234440" y="1737360"/>
            <a:ext cx="7543800" cy="658368"/>
          </a:xfrm>
          <a:prstGeom prst="rect">
            <a:avLst/>
          </a:prstGeom>
          <a:noFill/>
          <a:ln/>
        </p:spPr>
        <p:txBody>
          <a:bodyPr wrap="square" rtlCol="0" anchor="ctr"/>
          <a:lstStyle/>
          <a:p>
            <a:pPr indent="0" marL="0">
              <a:lnSpc>
                <a:spcPct val="135000"/>
              </a:lnSpc>
              <a:buNone/>
            </a:pPr>
            <a:r>
              <a:rPr lang="en-US" sz="1200" dirty="0">
                <a:solidFill>
                  <a:srgbClr val="546E7A"/>
                </a:solidFill>
                <a:latin typeface="Calibri" pitchFamily="34" charset="0"/>
                <a:ea typeface="Calibri" pitchFamily="34" charset="-122"/>
                <a:cs typeface="Calibri" pitchFamily="34" charset="-120"/>
              </a:rPr>
              <a:t>自治体職員の減少と高齢化が進むなか、広大なエリアを高頻度でカバーする人的パトロールの継続は、人員・予算の両面から困難な状況にあります。</a:t>
            </a:r>
            <a:endParaRPr lang="en-US" sz="1200" dirty="0"/>
          </a:p>
        </p:txBody>
      </p:sp>
      <p:sp>
        <p:nvSpPr>
          <p:cNvPr id="12" name="Shape 10"/>
          <p:cNvSpPr/>
          <p:nvPr/>
        </p:nvSpPr>
        <p:spPr>
          <a:xfrm>
            <a:off x="457200" y="2569464"/>
            <a:ext cx="54864" cy="1005840"/>
          </a:xfrm>
          <a:prstGeom prst="rect">
            <a:avLst/>
          </a:prstGeom>
          <a:solidFill>
            <a:srgbClr val="00939D"/>
          </a:solidFill>
          <a:ln/>
        </p:spPr>
      </p:sp>
      <p:sp>
        <p:nvSpPr>
          <p:cNvPr id="13" name="Shape 11"/>
          <p:cNvSpPr/>
          <p:nvPr/>
        </p:nvSpPr>
        <p:spPr>
          <a:xfrm>
            <a:off x="640080" y="2569464"/>
            <a:ext cx="475488" cy="475488"/>
          </a:xfrm>
          <a:prstGeom prst="ellipse">
            <a:avLst/>
          </a:prstGeom>
          <a:solidFill>
            <a:srgbClr val="00939D"/>
          </a:solidFill>
          <a:ln/>
        </p:spPr>
      </p:sp>
      <p:sp>
        <p:nvSpPr>
          <p:cNvPr id="14" name="Text 12"/>
          <p:cNvSpPr/>
          <p:nvPr/>
        </p:nvSpPr>
        <p:spPr>
          <a:xfrm>
            <a:off x="640080" y="2569464"/>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234440" y="2578608"/>
            <a:ext cx="7543800" cy="384048"/>
          </a:xfrm>
          <a:prstGeom prst="rect">
            <a:avLst/>
          </a:prstGeom>
          <a:noFill/>
          <a:ln/>
        </p:spPr>
        <p:txBody>
          <a:bodyPr wrap="square" rtlCol="0" anchor="ctr"/>
          <a:lstStyle/>
          <a:p>
            <a:pPr indent="0" marL="0">
              <a:buNone/>
            </a:pPr>
            <a:r>
              <a:rPr lang="en-US" sz="1500" b="1" dirty="0">
                <a:solidFill>
                  <a:srgbClr val="1E3461"/>
                </a:solidFill>
                <a:latin typeface="Calibri" pitchFamily="34" charset="0"/>
                <a:ea typeface="Calibri" pitchFamily="34" charset="-122"/>
                <a:cs typeface="Calibri" pitchFamily="34" charset="-120"/>
              </a:rPr>
              <a:t>市民通報を主とする「事後対応」からの脱却</a:t>
            </a:r>
            <a:endParaRPr lang="en-US" sz="1500" dirty="0"/>
          </a:p>
        </p:txBody>
      </p:sp>
      <p:sp>
        <p:nvSpPr>
          <p:cNvPr id="16" name="Text 14"/>
          <p:cNvSpPr/>
          <p:nvPr/>
        </p:nvSpPr>
        <p:spPr>
          <a:xfrm>
            <a:off x="1234440" y="2999232"/>
            <a:ext cx="7543800" cy="658368"/>
          </a:xfrm>
          <a:prstGeom prst="rect">
            <a:avLst/>
          </a:prstGeom>
          <a:noFill/>
          <a:ln/>
        </p:spPr>
        <p:txBody>
          <a:bodyPr wrap="square" rtlCol="0" anchor="ctr"/>
          <a:lstStyle/>
          <a:p>
            <a:pPr indent="0" marL="0">
              <a:lnSpc>
                <a:spcPct val="135000"/>
              </a:lnSpc>
              <a:buNone/>
            </a:pPr>
            <a:r>
              <a:rPr lang="en-US" sz="1200" dirty="0">
                <a:solidFill>
                  <a:srgbClr val="546E7A"/>
                </a:solidFill>
                <a:latin typeface="Calibri" pitchFamily="34" charset="0"/>
                <a:ea typeface="Calibri" pitchFamily="34" charset="-122"/>
                <a:cs typeface="Calibri" pitchFamily="34" charset="-120"/>
              </a:rPr>
              <a:t>道路陥没・落下物等のインフラ損傷は、市民通報を受けて初めて対応するケースが多く、損傷の早期発見・予防的な管理体制の構築が喫緊の課題です。</a:t>
            </a:r>
            <a:endParaRPr lang="en-US" sz="1200" dirty="0"/>
          </a:p>
        </p:txBody>
      </p:sp>
      <p:sp>
        <p:nvSpPr>
          <p:cNvPr id="17" name="Shape 15"/>
          <p:cNvSpPr/>
          <p:nvPr/>
        </p:nvSpPr>
        <p:spPr>
          <a:xfrm>
            <a:off x="457200" y="3831336"/>
            <a:ext cx="54864" cy="1005840"/>
          </a:xfrm>
          <a:prstGeom prst="rect">
            <a:avLst/>
          </a:prstGeom>
          <a:solidFill>
            <a:srgbClr val="2E7D32"/>
          </a:solidFill>
          <a:ln/>
        </p:spPr>
      </p:sp>
      <p:sp>
        <p:nvSpPr>
          <p:cNvPr id="18" name="Shape 16"/>
          <p:cNvSpPr/>
          <p:nvPr/>
        </p:nvSpPr>
        <p:spPr>
          <a:xfrm>
            <a:off x="640080" y="3831336"/>
            <a:ext cx="475488" cy="475488"/>
          </a:xfrm>
          <a:prstGeom prst="ellipse">
            <a:avLst/>
          </a:prstGeom>
          <a:solidFill>
            <a:srgbClr val="2E7D32"/>
          </a:solidFill>
          <a:ln/>
        </p:spPr>
      </p:sp>
      <p:sp>
        <p:nvSpPr>
          <p:cNvPr id="19" name="Text 17"/>
          <p:cNvSpPr/>
          <p:nvPr/>
        </p:nvSpPr>
        <p:spPr>
          <a:xfrm>
            <a:off x="640080" y="3831336"/>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1234440" y="3840480"/>
            <a:ext cx="7543800" cy="384048"/>
          </a:xfrm>
          <a:prstGeom prst="rect">
            <a:avLst/>
          </a:prstGeom>
          <a:noFill/>
          <a:ln/>
        </p:spPr>
        <p:txBody>
          <a:bodyPr wrap="square" rtlCol="0" anchor="ctr"/>
          <a:lstStyle/>
          <a:p>
            <a:pPr indent="0" marL="0">
              <a:buNone/>
            </a:pPr>
            <a:r>
              <a:rPr lang="en-US" sz="1500" b="1" dirty="0">
                <a:solidFill>
                  <a:srgbClr val="1E3461"/>
                </a:solidFill>
                <a:latin typeface="Calibri" pitchFamily="34" charset="0"/>
                <a:ea typeface="Calibri" pitchFamily="34" charset="-122"/>
                <a:cs typeface="Calibri" pitchFamily="34" charset="-120"/>
              </a:rPr>
              <a:t>環境施策・廃棄物管理のデータ不足</a:t>
            </a:r>
            <a:endParaRPr lang="en-US" sz="1500" dirty="0"/>
          </a:p>
        </p:txBody>
      </p:sp>
      <p:sp>
        <p:nvSpPr>
          <p:cNvPr id="21" name="Text 19"/>
          <p:cNvSpPr/>
          <p:nvPr/>
        </p:nvSpPr>
        <p:spPr>
          <a:xfrm>
            <a:off x="1234440" y="4261104"/>
            <a:ext cx="7543800" cy="658368"/>
          </a:xfrm>
          <a:prstGeom prst="rect">
            <a:avLst/>
          </a:prstGeom>
          <a:noFill/>
          <a:ln/>
        </p:spPr>
        <p:txBody>
          <a:bodyPr wrap="square" rtlCol="0" anchor="ctr"/>
          <a:lstStyle/>
          <a:p>
            <a:pPr indent="0" marL="0">
              <a:lnSpc>
                <a:spcPct val="135000"/>
              </a:lnSpc>
              <a:buNone/>
            </a:pPr>
            <a:r>
              <a:rPr lang="en-US" sz="1200" dirty="0">
                <a:solidFill>
                  <a:srgbClr val="546E7A"/>
                </a:solidFill>
                <a:latin typeface="Calibri" pitchFamily="34" charset="0"/>
                <a:ea typeface="Calibri" pitchFamily="34" charset="-122"/>
                <a:cs typeface="Calibri" pitchFamily="34" charset="-120"/>
              </a:rPr>
              <a:t>廃棄物排出量の変動や施設別の廃棄物動向を定量的に把握する手段が乏しく、環境KPIの達成状況の検証や廃棄物管理施策の根拠となるデータの整備が求められています。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8"/>
          </a:solidFill>
          <a:ln/>
        </p:spPr>
      </p:sp>
      <p:sp>
        <p:nvSpPr>
          <p:cNvPr id="3" name="Shape 1"/>
          <p:cNvSpPr/>
          <p:nvPr/>
        </p:nvSpPr>
        <p:spPr>
          <a:xfrm>
            <a:off x="457200" y="201168"/>
            <a:ext cx="754380" cy="237744"/>
          </a:xfrm>
          <a:prstGeom prst="rect">
            <a:avLst/>
          </a:prstGeom>
          <a:solidFill>
            <a:srgbClr val="00939D"/>
          </a:solidFill>
          <a:ln/>
        </p:spPr>
      </p:sp>
      <p:sp>
        <p:nvSpPr>
          <p:cNvPr id="4" name="Text 2"/>
          <p:cNvSpPr/>
          <p:nvPr/>
        </p:nvSpPr>
        <p:spPr>
          <a:xfrm>
            <a:off x="566928" y="210312"/>
            <a:ext cx="55321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仕組み</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2つの事業が生み出すデータフロー</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57200" y="1261872"/>
            <a:ext cx="8412480" cy="457200"/>
          </a:xfrm>
          <a:prstGeom prst="rect">
            <a:avLst/>
          </a:prstGeom>
          <a:solidFill>
            <a:srgbClr val="1E3461"/>
          </a:solidFill>
          <a:ln/>
        </p:spPr>
      </p:sp>
      <p:sp>
        <p:nvSpPr>
          <p:cNvPr id="8" name="Shape 6"/>
          <p:cNvSpPr/>
          <p:nvPr/>
        </p:nvSpPr>
        <p:spPr>
          <a:xfrm>
            <a:off x="457200" y="1261872"/>
            <a:ext cx="54864" cy="457200"/>
          </a:xfrm>
          <a:prstGeom prst="rect">
            <a:avLst/>
          </a:prstGeom>
          <a:solidFill>
            <a:srgbClr val="00939D"/>
          </a:solidFill>
          <a:ln/>
        </p:spPr>
      </p:sp>
      <p:sp>
        <p:nvSpPr>
          <p:cNvPr id="9" name="Text 7"/>
          <p:cNvSpPr/>
          <p:nvPr/>
        </p:nvSpPr>
        <p:spPr>
          <a:xfrm>
            <a:off x="685800" y="1261872"/>
            <a:ext cx="818388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株式会社サキュレ　200台以上の配送トラック × 250社超の廃棄物収集ネットワーク</a:t>
            </a:r>
            <a:endParaRPr lang="en-US" sz="1250" dirty="0"/>
          </a:p>
        </p:txBody>
      </p:sp>
      <p:sp>
        <p:nvSpPr>
          <p:cNvPr id="10" name="Shape 8"/>
          <p:cNvSpPr/>
          <p:nvPr/>
        </p:nvSpPr>
        <p:spPr>
          <a:xfrm>
            <a:off x="457200" y="1828800"/>
            <a:ext cx="4069080" cy="3090672"/>
          </a:xfrm>
          <a:prstGeom prst="rect">
            <a:avLst/>
          </a:prstGeom>
          <a:solidFill>
            <a:srgbClr val="FFFFFF"/>
          </a:solidFill>
          <a:ln w="9525">
            <a:solidFill>
              <a:srgbClr val="D8E4EE"/>
            </a:solidFill>
            <a:prstDash val="solid"/>
          </a:ln>
        </p:spPr>
      </p:sp>
      <p:sp>
        <p:nvSpPr>
          <p:cNvPr id="11" name="Shape 9"/>
          <p:cNvSpPr/>
          <p:nvPr/>
        </p:nvSpPr>
        <p:spPr>
          <a:xfrm>
            <a:off x="457200" y="1828800"/>
            <a:ext cx="4069080" cy="274320"/>
          </a:xfrm>
          <a:prstGeom prst="rect">
            <a:avLst/>
          </a:prstGeom>
          <a:solidFill>
            <a:srgbClr val="2E7D32"/>
          </a:solidFill>
          <a:ln/>
        </p:spPr>
      </p:sp>
      <p:sp>
        <p:nvSpPr>
          <p:cNvPr id="12" name="Text 10"/>
          <p:cNvSpPr/>
          <p:nvPr/>
        </p:nvSpPr>
        <p:spPr>
          <a:xfrm>
            <a:off x="457200" y="1828800"/>
            <a:ext cx="406908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廃棄物量データ</a:t>
            </a:r>
            <a:endParaRPr lang="en-US" sz="1200" dirty="0"/>
          </a:p>
        </p:txBody>
      </p:sp>
      <p:sp>
        <p:nvSpPr>
          <p:cNvPr id="13" name="Shape 11"/>
          <p:cNvSpPr/>
          <p:nvPr/>
        </p:nvSpPr>
        <p:spPr>
          <a:xfrm>
            <a:off x="594360" y="2212848"/>
            <a:ext cx="475488" cy="475488"/>
          </a:xfrm>
          <a:prstGeom prst="ellipse">
            <a:avLst/>
          </a:prstGeom>
          <a:solidFill>
            <a:srgbClr val="2E7D32"/>
          </a:solidFill>
          <a:ln/>
        </p:spPr>
      </p:sp>
      <p:sp>
        <p:nvSpPr>
          <p:cNvPr id="14" name="Text 12"/>
          <p:cNvSpPr/>
          <p:nvPr/>
        </p:nvSpPr>
        <p:spPr>
          <a:xfrm>
            <a:off x="594360" y="221284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Shape 13"/>
          <p:cNvSpPr/>
          <p:nvPr/>
        </p:nvSpPr>
        <p:spPr>
          <a:xfrm>
            <a:off x="795528" y="2715768"/>
            <a:ext cx="0" cy="292608"/>
          </a:xfrm>
          <a:prstGeom prst="line">
            <a:avLst/>
          </a:prstGeom>
          <a:noFill/>
          <a:ln w="15240">
            <a:solidFill>
              <a:srgbClr val="B0C4CE"/>
            </a:solidFill>
            <a:prstDash val="solid"/>
          </a:ln>
        </p:spPr>
      </p:sp>
      <p:sp>
        <p:nvSpPr>
          <p:cNvPr id="16" name="Text 14"/>
          <p:cNvSpPr/>
          <p:nvPr/>
        </p:nvSpPr>
        <p:spPr>
          <a:xfrm>
            <a:off x="1188720" y="2249424"/>
            <a:ext cx="3200400" cy="329184"/>
          </a:xfrm>
          <a:prstGeom prst="rect">
            <a:avLst/>
          </a:prstGeom>
          <a:noFill/>
          <a:ln/>
        </p:spPr>
        <p:txBody>
          <a:bodyPr wrap="square"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廃棄物の収集</a:t>
            </a:r>
            <a:endParaRPr lang="en-US" sz="1300" dirty="0"/>
          </a:p>
        </p:txBody>
      </p:sp>
      <p:sp>
        <p:nvSpPr>
          <p:cNvPr id="17" name="Text 15"/>
          <p:cNvSpPr/>
          <p:nvPr/>
        </p:nvSpPr>
        <p:spPr>
          <a:xfrm>
            <a:off x="1188720" y="2596896"/>
            <a:ext cx="3200400" cy="25603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施設別に量・品目を記録</a:t>
            </a:r>
            <a:endParaRPr lang="en-US" sz="1050" dirty="0"/>
          </a:p>
        </p:txBody>
      </p:sp>
      <p:sp>
        <p:nvSpPr>
          <p:cNvPr id="18" name="Shape 16"/>
          <p:cNvSpPr/>
          <p:nvPr/>
        </p:nvSpPr>
        <p:spPr>
          <a:xfrm>
            <a:off x="594360" y="2962656"/>
            <a:ext cx="3794760" cy="0"/>
          </a:xfrm>
          <a:prstGeom prst="line">
            <a:avLst/>
          </a:prstGeom>
          <a:noFill/>
          <a:ln w="6350">
            <a:solidFill>
              <a:srgbClr val="B0C4CE"/>
            </a:solidFill>
            <a:prstDash val="solid"/>
          </a:ln>
        </p:spPr>
      </p:sp>
      <p:sp>
        <p:nvSpPr>
          <p:cNvPr id="19" name="Shape 17"/>
          <p:cNvSpPr/>
          <p:nvPr/>
        </p:nvSpPr>
        <p:spPr>
          <a:xfrm>
            <a:off x="594360" y="3035808"/>
            <a:ext cx="475488" cy="475488"/>
          </a:xfrm>
          <a:prstGeom prst="ellipse">
            <a:avLst/>
          </a:prstGeom>
          <a:solidFill>
            <a:srgbClr val="2E7D32"/>
          </a:solidFill>
          <a:ln/>
        </p:spPr>
      </p:sp>
      <p:sp>
        <p:nvSpPr>
          <p:cNvPr id="20" name="Text 18"/>
          <p:cNvSpPr/>
          <p:nvPr/>
        </p:nvSpPr>
        <p:spPr>
          <a:xfrm>
            <a:off x="594360" y="303580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Shape 19"/>
          <p:cNvSpPr/>
          <p:nvPr/>
        </p:nvSpPr>
        <p:spPr>
          <a:xfrm>
            <a:off x="795528" y="3538728"/>
            <a:ext cx="0" cy="292608"/>
          </a:xfrm>
          <a:prstGeom prst="line">
            <a:avLst/>
          </a:prstGeom>
          <a:noFill/>
          <a:ln w="15240">
            <a:solidFill>
              <a:srgbClr val="B0C4CE"/>
            </a:solidFill>
            <a:prstDash val="solid"/>
          </a:ln>
        </p:spPr>
      </p:sp>
      <p:sp>
        <p:nvSpPr>
          <p:cNvPr id="22" name="Text 20"/>
          <p:cNvSpPr/>
          <p:nvPr/>
        </p:nvSpPr>
        <p:spPr>
          <a:xfrm>
            <a:off x="1188720" y="3072384"/>
            <a:ext cx="3200400" cy="329184"/>
          </a:xfrm>
          <a:prstGeom prst="rect">
            <a:avLst/>
          </a:prstGeom>
          <a:noFill/>
          <a:ln/>
        </p:spPr>
        <p:txBody>
          <a:bodyPr wrap="square"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データ分析・整備</a:t>
            </a:r>
            <a:endParaRPr lang="en-US" sz="1300" dirty="0"/>
          </a:p>
        </p:txBody>
      </p:sp>
      <p:sp>
        <p:nvSpPr>
          <p:cNvPr id="23" name="Text 21"/>
          <p:cNvSpPr/>
          <p:nvPr/>
        </p:nvSpPr>
        <p:spPr>
          <a:xfrm>
            <a:off x="1188720" y="3419856"/>
            <a:ext cx="3200400" cy="25603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時系列・カテゴリ別に集計</a:t>
            </a:r>
            <a:endParaRPr lang="en-US" sz="1050" dirty="0"/>
          </a:p>
        </p:txBody>
      </p:sp>
      <p:sp>
        <p:nvSpPr>
          <p:cNvPr id="24" name="Shape 22"/>
          <p:cNvSpPr/>
          <p:nvPr/>
        </p:nvSpPr>
        <p:spPr>
          <a:xfrm>
            <a:off x="594360" y="3785616"/>
            <a:ext cx="3794760" cy="0"/>
          </a:xfrm>
          <a:prstGeom prst="line">
            <a:avLst/>
          </a:prstGeom>
          <a:noFill/>
          <a:ln w="6350">
            <a:solidFill>
              <a:srgbClr val="B0C4CE"/>
            </a:solidFill>
            <a:prstDash val="solid"/>
          </a:ln>
        </p:spPr>
      </p:sp>
      <p:sp>
        <p:nvSpPr>
          <p:cNvPr id="25" name="Shape 23"/>
          <p:cNvSpPr/>
          <p:nvPr/>
        </p:nvSpPr>
        <p:spPr>
          <a:xfrm>
            <a:off x="594360" y="3858768"/>
            <a:ext cx="475488" cy="475488"/>
          </a:xfrm>
          <a:prstGeom prst="ellipse">
            <a:avLst/>
          </a:prstGeom>
          <a:solidFill>
            <a:srgbClr val="2E7D32"/>
          </a:solidFill>
          <a:ln/>
        </p:spPr>
      </p:sp>
      <p:sp>
        <p:nvSpPr>
          <p:cNvPr id="26" name="Text 24"/>
          <p:cNvSpPr/>
          <p:nvPr/>
        </p:nvSpPr>
        <p:spPr>
          <a:xfrm>
            <a:off x="594360" y="385876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p:nvPr/>
        </p:nvSpPr>
        <p:spPr>
          <a:xfrm>
            <a:off x="1188720" y="3895344"/>
            <a:ext cx="3200400" cy="329184"/>
          </a:xfrm>
          <a:prstGeom prst="rect">
            <a:avLst/>
          </a:prstGeom>
          <a:noFill/>
          <a:ln/>
        </p:spPr>
        <p:txBody>
          <a:bodyPr wrap="square"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川崎市へ提供</a:t>
            </a:r>
            <a:endParaRPr lang="en-US" sz="1300" dirty="0"/>
          </a:p>
        </p:txBody>
      </p:sp>
      <p:sp>
        <p:nvSpPr>
          <p:cNvPr id="28" name="Text 26"/>
          <p:cNvSpPr/>
          <p:nvPr/>
        </p:nvSpPr>
        <p:spPr>
          <a:xfrm>
            <a:off x="1188720" y="4242816"/>
            <a:ext cx="3200400" cy="25603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廃棄物管理部門・環境政策に活用</a:t>
            </a:r>
            <a:endParaRPr lang="en-US" sz="1050" dirty="0"/>
          </a:p>
        </p:txBody>
      </p:sp>
      <p:sp>
        <p:nvSpPr>
          <p:cNvPr id="29" name="Shape 27"/>
          <p:cNvSpPr/>
          <p:nvPr/>
        </p:nvSpPr>
        <p:spPr>
          <a:xfrm>
            <a:off x="4617720" y="1828800"/>
            <a:ext cx="4069080" cy="3090672"/>
          </a:xfrm>
          <a:prstGeom prst="rect">
            <a:avLst/>
          </a:prstGeom>
          <a:solidFill>
            <a:srgbClr val="FFFFFF"/>
          </a:solidFill>
          <a:ln w="9525">
            <a:solidFill>
              <a:srgbClr val="D8E4EE"/>
            </a:solidFill>
            <a:prstDash val="solid"/>
          </a:ln>
        </p:spPr>
      </p:sp>
      <p:sp>
        <p:nvSpPr>
          <p:cNvPr id="30" name="Shape 28"/>
          <p:cNvSpPr/>
          <p:nvPr/>
        </p:nvSpPr>
        <p:spPr>
          <a:xfrm>
            <a:off x="4617720" y="1828800"/>
            <a:ext cx="4069080" cy="274320"/>
          </a:xfrm>
          <a:prstGeom prst="rect">
            <a:avLst/>
          </a:prstGeom>
          <a:solidFill>
            <a:srgbClr val="00939D"/>
          </a:solidFill>
          <a:ln/>
        </p:spPr>
      </p:sp>
      <p:sp>
        <p:nvSpPr>
          <p:cNvPr id="31" name="Text 29"/>
          <p:cNvSpPr/>
          <p:nvPr/>
        </p:nvSpPr>
        <p:spPr>
          <a:xfrm>
            <a:off x="4617720" y="1828800"/>
            <a:ext cx="406908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走行センサーデータ</a:t>
            </a:r>
            <a:endParaRPr lang="en-US" sz="1200" dirty="0"/>
          </a:p>
        </p:txBody>
      </p:sp>
      <p:sp>
        <p:nvSpPr>
          <p:cNvPr id="32" name="Shape 30"/>
          <p:cNvSpPr/>
          <p:nvPr/>
        </p:nvSpPr>
        <p:spPr>
          <a:xfrm>
            <a:off x="4736592" y="2212848"/>
            <a:ext cx="475488" cy="475488"/>
          </a:xfrm>
          <a:prstGeom prst="ellipse">
            <a:avLst/>
          </a:prstGeom>
          <a:solidFill>
            <a:srgbClr val="00939D"/>
          </a:solidFill>
          <a:ln/>
        </p:spPr>
      </p:sp>
      <p:sp>
        <p:nvSpPr>
          <p:cNvPr id="33" name="Text 31"/>
          <p:cNvSpPr/>
          <p:nvPr/>
        </p:nvSpPr>
        <p:spPr>
          <a:xfrm>
            <a:off x="4736592" y="221284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4" name="Shape 32"/>
          <p:cNvSpPr/>
          <p:nvPr/>
        </p:nvSpPr>
        <p:spPr>
          <a:xfrm>
            <a:off x="4937760" y="2715768"/>
            <a:ext cx="0" cy="128016"/>
          </a:xfrm>
          <a:prstGeom prst="line">
            <a:avLst/>
          </a:prstGeom>
          <a:noFill/>
          <a:ln w="15240">
            <a:solidFill>
              <a:srgbClr val="B0C4CE"/>
            </a:solidFill>
            <a:prstDash val="solid"/>
          </a:ln>
        </p:spPr>
      </p:sp>
      <p:sp>
        <p:nvSpPr>
          <p:cNvPr id="35" name="Text 33"/>
          <p:cNvSpPr/>
          <p:nvPr/>
        </p:nvSpPr>
        <p:spPr>
          <a:xfrm>
            <a:off x="5321808" y="2249424"/>
            <a:ext cx="3246120" cy="310896"/>
          </a:xfrm>
          <a:prstGeom prst="rect">
            <a:avLst/>
          </a:prstGeom>
          <a:noFill/>
          <a:ln/>
        </p:spPr>
        <p:txBody>
          <a:bodyPr wrap="square"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配送トラック走行</a:t>
            </a:r>
            <a:endParaRPr lang="en-US" sz="1250" dirty="0"/>
          </a:p>
        </p:txBody>
      </p:sp>
      <p:sp>
        <p:nvSpPr>
          <p:cNvPr id="36" name="Text 34"/>
          <p:cNvSpPr/>
          <p:nvPr/>
        </p:nvSpPr>
        <p:spPr>
          <a:xfrm>
            <a:off x="5321808" y="2569464"/>
            <a:ext cx="3246120" cy="237744"/>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搭載カメラで撮影・記録</a:t>
            </a:r>
            <a:endParaRPr lang="en-US" sz="1050" dirty="0"/>
          </a:p>
        </p:txBody>
      </p:sp>
      <p:sp>
        <p:nvSpPr>
          <p:cNvPr id="37" name="Shape 35"/>
          <p:cNvSpPr/>
          <p:nvPr/>
        </p:nvSpPr>
        <p:spPr>
          <a:xfrm>
            <a:off x="4736592" y="2834640"/>
            <a:ext cx="3794760" cy="0"/>
          </a:xfrm>
          <a:prstGeom prst="line">
            <a:avLst/>
          </a:prstGeom>
          <a:noFill/>
          <a:ln w="6350">
            <a:solidFill>
              <a:srgbClr val="B0C4CE"/>
            </a:solidFill>
            <a:prstDash val="solid"/>
          </a:ln>
        </p:spPr>
      </p:sp>
      <p:sp>
        <p:nvSpPr>
          <p:cNvPr id="38" name="Shape 36"/>
          <p:cNvSpPr/>
          <p:nvPr/>
        </p:nvSpPr>
        <p:spPr>
          <a:xfrm>
            <a:off x="4736592" y="2871216"/>
            <a:ext cx="475488" cy="475488"/>
          </a:xfrm>
          <a:prstGeom prst="ellipse">
            <a:avLst/>
          </a:prstGeom>
          <a:solidFill>
            <a:srgbClr val="00939D"/>
          </a:solidFill>
          <a:ln/>
        </p:spPr>
      </p:sp>
      <p:sp>
        <p:nvSpPr>
          <p:cNvPr id="39" name="Text 37"/>
          <p:cNvSpPr/>
          <p:nvPr/>
        </p:nvSpPr>
        <p:spPr>
          <a:xfrm>
            <a:off x="4736592" y="2871216"/>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Shape 38"/>
          <p:cNvSpPr/>
          <p:nvPr/>
        </p:nvSpPr>
        <p:spPr>
          <a:xfrm>
            <a:off x="4937760" y="3374136"/>
            <a:ext cx="0" cy="128016"/>
          </a:xfrm>
          <a:prstGeom prst="line">
            <a:avLst/>
          </a:prstGeom>
          <a:noFill/>
          <a:ln w="15240">
            <a:solidFill>
              <a:srgbClr val="B0C4CE"/>
            </a:solidFill>
            <a:prstDash val="solid"/>
          </a:ln>
        </p:spPr>
      </p:sp>
      <p:sp>
        <p:nvSpPr>
          <p:cNvPr id="41" name="Text 39"/>
          <p:cNvSpPr/>
          <p:nvPr/>
        </p:nvSpPr>
        <p:spPr>
          <a:xfrm>
            <a:off x="5321808" y="2907792"/>
            <a:ext cx="3246120" cy="310896"/>
          </a:xfrm>
          <a:prstGeom prst="rect">
            <a:avLst/>
          </a:prstGeom>
          <a:noFill/>
          <a:ln/>
        </p:spPr>
        <p:txBody>
          <a:bodyPr wrap="square"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エッジAI処理</a:t>
            </a:r>
            <a:endParaRPr lang="en-US" sz="1250" dirty="0"/>
          </a:p>
        </p:txBody>
      </p:sp>
      <p:sp>
        <p:nvSpPr>
          <p:cNvPr id="42" name="Text 40"/>
          <p:cNvSpPr/>
          <p:nvPr/>
        </p:nvSpPr>
        <p:spPr>
          <a:xfrm>
            <a:off x="5321808" y="3227832"/>
            <a:ext cx="3246120" cy="237744"/>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個人情報を車内でマスキング</a:t>
            </a:r>
            <a:endParaRPr lang="en-US" sz="1050" dirty="0"/>
          </a:p>
        </p:txBody>
      </p:sp>
      <p:sp>
        <p:nvSpPr>
          <p:cNvPr id="43" name="Shape 41"/>
          <p:cNvSpPr/>
          <p:nvPr/>
        </p:nvSpPr>
        <p:spPr>
          <a:xfrm>
            <a:off x="4736592" y="3493008"/>
            <a:ext cx="3794760" cy="0"/>
          </a:xfrm>
          <a:prstGeom prst="line">
            <a:avLst/>
          </a:prstGeom>
          <a:noFill/>
          <a:ln w="6350">
            <a:solidFill>
              <a:srgbClr val="B0C4CE"/>
            </a:solidFill>
            <a:prstDash val="solid"/>
          </a:ln>
        </p:spPr>
      </p:sp>
      <p:sp>
        <p:nvSpPr>
          <p:cNvPr id="44" name="Shape 42"/>
          <p:cNvSpPr/>
          <p:nvPr/>
        </p:nvSpPr>
        <p:spPr>
          <a:xfrm>
            <a:off x="4736592" y="3529584"/>
            <a:ext cx="475488" cy="475488"/>
          </a:xfrm>
          <a:prstGeom prst="ellipse">
            <a:avLst/>
          </a:prstGeom>
          <a:solidFill>
            <a:srgbClr val="00939D"/>
          </a:solidFill>
          <a:ln/>
        </p:spPr>
      </p:sp>
      <p:sp>
        <p:nvSpPr>
          <p:cNvPr id="45" name="Text 43"/>
          <p:cNvSpPr/>
          <p:nvPr/>
        </p:nvSpPr>
        <p:spPr>
          <a:xfrm>
            <a:off x="4736592" y="3529584"/>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6" name="Shape 44"/>
          <p:cNvSpPr/>
          <p:nvPr/>
        </p:nvSpPr>
        <p:spPr>
          <a:xfrm>
            <a:off x="4937760" y="4032504"/>
            <a:ext cx="0" cy="128016"/>
          </a:xfrm>
          <a:prstGeom prst="line">
            <a:avLst/>
          </a:prstGeom>
          <a:noFill/>
          <a:ln w="15240">
            <a:solidFill>
              <a:srgbClr val="B0C4CE"/>
            </a:solidFill>
            <a:prstDash val="solid"/>
          </a:ln>
        </p:spPr>
      </p:sp>
      <p:sp>
        <p:nvSpPr>
          <p:cNvPr id="47" name="Text 45"/>
          <p:cNvSpPr/>
          <p:nvPr/>
        </p:nvSpPr>
        <p:spPr>
          <a:xfrm>
            <a:off x="5321808" y="3566160"/>
            <a:ext cx="3246120" cy="310896"/>
          </a:xfrm>
          <a:prstGeom prst="rect">
            <a:avLst/>
          </a:prstGeom>
          <a:noFill/>
          <a:ln/>
        </p:spPr>
        <p:txBody>
          <a:bodyPr wrap="square"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クラウドへ送信</a:t>
            </a:r>
            <a:endParaRPr lang="en-US" sz="1250" dirty="0"/>
          </a:p>
        </p:txBody>
      </p:sp>
      <p:sp>
        <p:nvSpPr>
          <p:cNvPr id="48" name="Text 46"/>
          <p:cNvSpPr/>
          <p:nvPr/>
        </p:nvSpPr>
        <p:spPr>
          <a:xfrm>
            <a:off x="5321808" y="3886200"/>
            <a:ext cx="3246120" cy="237744"/>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処理済みデータのみ転送</a:t>
            </a:r>
            <a:endParaRPr lang="en-US" sz="1050" dirty="0"/>
          </a:p>
        </p:txBody>
      </p:sp>
      <p:sp>
        <p:nvSpPr>
          <p:cNvPr id="49" name="Shape 47"/>
          <p:cNvSpPr/>
          <p:nvPr/>
        </p:nvSpPr>
        <p:spPr>
          <a:xfrm>
            <a:off x="4736592" y="4151376"/>
            <a:ext cx="3794760" cy="0"/>
          </a:xfrm>
          <a:prstGeom prst="line">
            <a:avLst/>
          </a:prstGeom>
          <a:noFill/>
          <a:ln w="6350">
            <a:solidFill>
              <a:srgbClr val="B0C4CE"/>
            </a:solidFill>
            <a:prstDash val="solid"/>
          </a:ln>
        </p:spPr>
      </p:sp>
      <p:sp>
        <p:nvSpPr>
          <p:cNvPr id="50" name="Shape 48"/>
          <p:cNvSpPr/>
          <p:nvPr/>
        </p:nvSpPr>
        <p:spPr>
          <a:xfrm>
            <a:off x="4736592" y="4187952"/>
            <a:ext cx="475488" cy="475488"/>
          </a:xfrm>
          <a:prstGeom prst="ellipse">
            <a:avLst/>
          </a:prstGeom>
          <a:solidFill>
            <a:srgbClr val="00939D"/>
          </a:solidFill>
          <a:ln/>
        </p:spPr>
      </p:sp>
      <p:sp>
        <p:nvSpPr>
          <p:cNvPr id="51" name="Text 49"/>
          <p:cNvSpPr/>
          <p:nvPr/>
        </p:nvSpPr>
        <p:spPr>
          <a:xfrm>
            <a:off x="4736592" y="418795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52" name="Text 50"/>
          <p:cNvSpPr/>
          <p:nvPr/>
        </p:nvSpPr>
        <p:spPr>
          <a:xfrm>
            <a:off x="5321808" y="4224528"/>
            <a:ext cx="3246120" cy="310896"/>
          </a:xfrm>
          <a:prstGeom prst="rect">
            <a:avLst/>
          </a:prstGeom>
          <a:noFill/>
          <a:ln/>
        </p:spPr>
        <p:txBody>
          <a:bodyPr wrap="square"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行政ダッシュボード</a:t>
            </a:r>
            <a:endParaRPr lang="en-US" sz="1250" dirty="0"/>
          </a:p>
        </p:txBody>
      </p:sp>
      <p:sp>
        <p:nvSpPr>
          <p:cNvPr id="53" name="Text 51"/>
          <p:cNvSpPr/>
          <p:nvPr/>
        </p:nvSpPr>
        <p:spPr>
          <a:xfrm>
            <a:off x="5321808" y="4544568"/>
            <a:ext cx="3246120" cy="237744"/>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地図上で可視化・アラート通知</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457200" y="201168"/>
            <a:ext cx="1714500" cy="237744"/>
          </a:xfrm>
          <a:prstGeom prst="rect">
            <a:avLst/>
          </a:prstGeom>
          <a:solidFill>
            <a:srgbClr val="00939D"/>
          </a:solidFill>
          <a:ln/>
        </p:spPr>
      </p:sp>
      <p:sp>
        <p:nvSpPr>
          <p:cNvPr id="4" name="Text 2"/>
          <p:cNvSpPr/>
          <p:nvPr/>
        </p:nvSpPr>
        <p:spPr>
          <a:xfrm>
            <a:off x="566928" y="210312"/>
            <a:ext cx="151333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走行センサーデータ</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トラックが走るだけで3分野のデータが集まる</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57200" y="1261872"/>
            <a:ext cx="2834640" cy="3657600"/>
          </a:xfrm>
          <a:prstGeom prst="rect">
            <a:avLst/>
          </a:prstGeom>
          <a:solidFill>
            <a:srgbClr val="1E3461"/>
          </a:solidFill>
          <a:ln/>
        </p:spPr>
      </p:sp>
      <p:sp>
        <p:nvSpPr>
          <p:cNvPr id="8" name="Shape 6"/>
          <p:cNvSpPr/>
          <p:nvPr/>
        </p:nvSpPr>
        <p:spPr>
          <a:xfrm>
            <a:off x="658368" y="1874520"/>
            <a:ext cx="2423160" cy="1371600"/>
          </a:xfrm>
          <a:prstGeom prst="rect">
            <a:avLst/>
          </a:prstGeom>
          <a:solidFill>
            <a:srgbClr val="00939D"/>
          </a:solidFill>
          <a:ln/>
        </p:spPr>
      </p:sp>
      <p:sp>
        <p:nvSpPr>
          <p:cNvPr id="9" name="Shape 7"/>
          <p:cNvSpPr/>
          <p:nvPr/>
        </p:nvSpPr>
        <p:spPr>
          <a:xfrm>
            <a:off x="658368" y="2834640"/>
            <a:ext cx="2423160" cy="347472"/>
          </a:xfrm>
          <a:prstGeom prst="rect">
            <a:avLst/>
          </a:prstGeom>
          <a:solidFill>
            <a:srgbClr val="006B74"/>
          </a:solidFill>
          <a:ln/>
        </p:spPr>
      </p:sp>
      <p:sp>
        <p:nvSpPr>
          <p:cNvPr id="10" name="Shape 8"/>
          <p:cNvSpPr/>
          <p:nvPr/>
        </p:nvSpPr>
        <p:spPr>
          <a:xfrm>
            <a:off x="804672" y="3127248"/>
            <a:ext cx="411480" cy="411480"/>
          </a:xfrm>
          <a:prstGeom prst="ellipse">
            <a:avLst/>
          </a:prstGeom>
          <a:solidFill>
            <a:srgbClr val="1A2332"/>
          </a:solidFill>
          <a:ln/>
        </p:spPr>
      </p:sp>
      <p:sp>
        <p:nvSpPr>
          <p:cNvPr id="11" name="Shape 9"/>
          <p:cNvSpPr/>
          <p:nvPr/>
        </p:nvSpPr>
        <p:spPr>
          <a:xfrm>
            <a:off x="2395728" y="3127248"/>
            <a:ext cx="411480" cy="411480"/>
          </a:xfrm>
          <a:prstGeom prst="ellipse">
            <a:avLst/>
          </a:prstGeom>
          <a:solidFill>
            <a:srgbClr val="1A2332"/>
          </a:solidFill>
          <a:ln/>
        </p:spPr>
      </p:sp>
      <p:sp>
        <p:nvSpPr>
          <p:cNvPr id="12" name="Shape 10"/>
          <p:cNvSpPr/>
          <p:nvPr/>
        </p:nvSpPr>
        <p:spPr>
          <a:xfrm>
            <a:off x="1463040" y="1664208"/>
            <a:ext cx="804672" cy="256032"/>
          </a:xfrm>
          <a:prstGeom prst="rect">
            <a:avLst/>
          </a:prstGeom>
          <a:solidFill>
            <a:srgbClr val="00B4D8"/>
          </a:solidFill>
          <a:ln/>
        </p:spPr>
      </p:sp>
      <p:sp>
        <p:nvSpPr>
          <p:cNvPr id="13" name="Text 11"/>
          <p:cNvSpPr/>
          <p:nvPr/>
        </p:nvSpPr>
        <p:spPr>
          <a:xfrm>
            <a:off x="1463040" y="1664208"/>
            <a:ext cx="80467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カメラ搭載</a:t>
            </a:r>
            <a:endParaRPr lang="en-US" sz="800" dirty="0"/>
          </a:p>
        </p:txBody>
      </p:sp>
      <p:sp>
        <p:nvSpPr>
          <p:cNvPr id="14" name="Text 12"/>
          <p:cNvSpPr/>
          <p:nvPr/>
        </p:nvSpPr>
        <p:spPr>
          <a:xfrm>
            <a:off x="457200" y="3611880"/>
            <a:ext cx="283464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配送トラック</a:t>
            </a:r>
            <a:endParaRPr lang="en-US" sz="1300" dirty="0"/>
          </a:p>
        </p:txBody>
      </p:sp>
      <p:sp>
        <p:nvSpPr>
          <p:cNvPr id="15" name="Text 13"/>
          <p:cNvSpPr/>
          <p:nvPr/>
        </p:nvSpPr>
        <p:spPr>
          <a:xfrm>
            <a:off x="457200" y="3904488"/>
            <a:ext cx="2834640" cy="256032"/>
          </a:xfrm>
          <a:prstGeom prst="rect">
            <a:avLst/>
          </a:prstGeom>
          <a:noFill/>
          <a:ln/>
        </p:spPr>
        <p:txBody>
          <a:bodyPr wrap="square" rtlCol="0" anchor="ctr"/>
          <a:lstStyle/>
          <a:p>
            <a:pPr algn="ctr" indent="0" marL="0">
              <a:buNone/>
            </a:pPr>
            <a:r>
              <a:rPr lang="en-US" sz="1050" spc="50" kern="0" dirty="0">
                <a:solidFill>
                  <a:srgbClr val="00939D"/>
                </a:solidFill>
                <a:latin typeface="Calibri" pitchFamily="34" charset="0"/>
                <a:ea typeface="Calibri" pitchFamily="34" charset="-122"/>
                <a:cs typeface="Calibri" pitchFamily="34" charset="-120"/>
              </a:rPr>
              <a:t>走行しながら自動収集</a:t>
            </a:r>
            <a:endParaRPr lang="en-US" sz="1050" dirty="0"/>
          </a:p>
        </p:txBody>
      </p:sp>
      <p:sp>
        <p:nvSpPr>
          <p:cNvPr id="16" name="Shape 14"/>
          <p:cNvSpPr/>
          <p:nvPr/>
        </p:nvSpPr>
        <p:spPr>
          <a:xfrm>
            <a:off x="3310128" y="1865376"/>
            <a:ext cx="502920" cy="0"/>
          </a:xfrm>
          <a:prstGeom prst="line">
            <a:avLst/>
          </a:prstGeom>
          <a:noFill/>
          <a:ln w="19050">
            <a:solidFill>
              <a:srgbClr val="00939D"/>
            </a:solidFill>
            <a:prstDash val="solid"/>
          </a:ln>
        </p:spPr>
      </p:sp>
      <p:sp>
        <p:nvSpPr>
          <p:cNvPr id="17" name="Shape 15"/>
          <p:cNvSpPr/>
          <p:nvPr/>
        </p:nvSpPr>
        <p:spPr>
          <a:xfrm>
            <a:off x="3785616" y="1755648"/>
            <a:ext cx="201168" cy="201168"/>
          </a:xfrm>
          <a:prstGeom prst="rect">
            <a:avLst/>
          </a:prstGeom>
          <a:solidFill>
            <a:srgbClr val="00939D"/>
          </a:solidFill>
          <a:ln/>
        </p:spPr>
      </p:sp>
      <p:sp>
        <p:nvSpPr>
          <p:cNvPr id="18" name="Text 16"/>
          <p:cNvSpPr/>
          <p:nvPr/>
        </p:nvSpPr>
        <p:spPr>
          <a:xfrm>
            <a:off x="3785616" y="1755648"/>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3310128" y="2980944"/>
            <a:ext cx="502920" cy="0"/>
          </a:xfrm>
          <a:prstGeom prst="line">
            <a:avLst/>
          </a:prstGeom>
          <a:noFill/>
          <a:ln w="19050">
            <a:solidFill>
              <a:srgbClr val="00939D"/>
            </a:solidFill>
            <a:prstDash val="solid"/>
          </a:ln>
        </p:spPr>
      </p:sp>
      <p:sp>
        <p:nvSpPr>
          <p:cNvPr id="20" name="Shape 18"/>
          <p:cNvSpPr/>
          <p:nvPr/>
        </p:nvSpPr>
        <p:spPr>
          <a:xfrm>
            <a:off x="3785616" y="2871216"/>
            <a:ext cx="201168" cy="201168"/>
          </a:xfrm>
          <a:prstGeom prst="rect">
            <a:avLst/>
          </a:prstGeom>
          <a:solidFill>
            <a:srgbClr val="00939D"/>
          </a:solidFill>
          <a:ln/>
        </p:spPr>
      </p:sp>
      <p:sp>
        <p:nvSpPr>
          <p:cNvPr id="21" name="Text 19"/>
          <p:cNvSpPr/>
          <p:nvPr/>
        </p:nvSpPr>
        <p:spPr>
          <a:xfrm>
            <a:off x="3785616" y="2871216"/>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3310128" y="4096512"/>
            <a:ext cx="502920" cy="0"/>
          </a:xfrm>
          <a:prstGeom prst="line">
            <a:avLst/>
          </a:prstGeom>
          <a:noFill/>
          <a:ln w="19050">
            <a:solidFill>
              <a:srgbClr val="00939D"/>
            </a:solidFill>
            <a:prstDash val="solid"/>
          </a:ln>
        </p:spPr>
      </p:sp>
      <p:sp>
        <p:nvSpPr>
          <p:cNvPr id="23" name="Shape 21"/>
          <p:cNvSpPr/>
          <p:nvPr/>
        </p:nvSpPr>
        <p:spPr>
          <a:xfrm>
            <a:off x="3785616" y="3986784"/>
            <a:ext cx="201168" cy="201168"/>
          </a:xfrm>
          <a:prstGeom prst="rect">
            <a:avLst/>
          </a:prstGeom>
          <a:solidFill>
            <a:srgbClr val="00939D"/>
          </a:solidFill>
          <a:ln/>
        </p:spPr>
      </p:sp>
      <p:sp>
        <p:nvSpPr>
          <p:cNvPr id="24" name="Text 22"/>
          <p:cNvSpPr/>
          <p:nvPr/>
        </p:nvSpPr>
        <p:spPr>
          <a:xfrm>
            <a:off x="3785616" y="39867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5" name="Shape 23"/>
          <p:cNvSpPr/>
          <p:nvPr/>
        </p:nvSpPr>
        <p:spPr>
          <a:xfrm>
            <a:off x="4041648" y="1389888"/>
            <a:ext cx="594360" cy="594360"/>
          </a:xfrm>
          <a:prstGeom prst="ellipse">
            <a:avLst/>
          </a:prstGeom>
          <a:solidFill>
            <a:srgbClr val="1E3461"/>
          </a:solidFill>
          <a:ln/>
        </p:spPr>
      </p:sp>
      <p:sp>
        <p:nvSpPr>
          <p:cNvPr id="26" name="Text 24"/>
          <p:cNvSpPr/>
          <p:nvPr/>
        </p:nvSpPr>
        <p:spPr>
          <a:xfrm>
            <a:off x="4041648" y="1389888"/>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路</a:t>
            </a:r>
            <a:endParaRPr lang="en-US" sz="2000" dirty="0"/>
          </a:p>
        </p:txBody>
      </p:sp>
      <p:sp>
        <p:nvSpPr>
          <p:cNvPr id="27" name="Text 25"/>
          <p:cNvSpPr/>
          <p:nvPr/>
        </p:nvSpPr>
        <p:spPr>
          <a:xfrm>
            <a:off x="4736592" y="1417320"/>
            <a:ext cx="4114800" cy="384048"/>
          </a:xfrm>
          <a:prstGeom prst="rect">
            <a:avLst/>
          </a:prstGeom>
          <a:noFill/>
          <a:ln/>
        </p:spPr>
        <p:txBody>
          <a:bodyPr wrap="square" rtlCol="0" anchor="ctr"/>
          <a:lstStyle/>
          <a:p>
            <a:pPr indent="0" marL="0">
              <a:buNone/>
            </a:pPr>
            <a:r>
              <a:rPr lang="en-US" sz="1700" b="1" dirty="0">
                <a:solidFill>
                  <a:srgbClr val="1E3461"/>
                </a:solidFill>
                <a:latin typeface="Calibri" pitchFamily="34" charset="0"/>
                <a:ea typeface="Calibri" pitchFamily="34" charset="-122"/>
                <a:cs typeface="Calibri" pitchFamily="34" charset="-120"/>
              </a:rPr>
              <a:t>道路インフラ</a:t>
            </a:r>
            <a:endParaRPr lang="en-US" sz="1700" dirty="0"/>
          </a:p>
        </p:txBody>
      </p:sp>
      <p:sp>
        <p:nvSpPr>
          <p:cNvPr id="28" name="Text 26"/>
          <p:cNvSpPr/>
          <p:nvPr/>
        </p:nvSpPr>
        <p:spPr>
          <a:xfrm>
            <a:off x="4736592" y="1847088"/>
            <a:ext cx="4114800" cy="548640"/>
          </a:xfrm>
          <a:prstGeom prst="rect">
            <a:avLst/>
          </a:prstGeom>
          <a:noFill/>
          <a:ln/>
        </p:spPr>
        <p:txBody>
          <a:bodyPr wrap="square" rtlCol="0" anchor="ctr"/>
          <a:lstStyle/>
          <a:p>
            <a:pPr indent="0" marL="0">
              <a:buNone/>
            </a:pPr>
            <a:r>
              <a:rPr lang="en-US" sz="1250" dirty="0">
                <a:solidFill>
                  <a:srgbClr val="546E7A"/>
                </a:solidFill>
                <a:latin typeface="Calibri" pitchFamily="34" charset="0"/>
                <a:ea typeface="Calibri" pitchFamily="34" charset="-122"/>
                <a:cs typeface="Calibri" pitchFamily="34" charset="-120"/>
              </a:rPr>
              <a:t>路面陥没・ひび割れ・落下物・補修優先度マップ</a:t>
            </a:r>
            <a:endParaRPr lang="en-US" sz="1250" dirty="0"/>
          </a:p>
        </p:txBody>
      </p:sp>
      <p:sp>
        <p:nvSpPr>
          <p:cNvPr id="29" name="Shape 27"/>
          <p:cNvSpPr/>
          <p:nvPr/>
        </p:nvSpPr>
        <p:spPr>
          <a:xfrm>
            <a:off x="4041648" y="2514600"/>
            <a:ext cx="4828032" cy="0"/>
          </a:xfrm>
          <a:prstGeom prst="line">
            <a:avLst/>
          </a:prstGeom>
          <a:noFill/>
          <a:ln w="6350">
            <a:solidFill>
              <a:srgbClr val="B0C4CE"/>
            </a:solidFill>
            <a:prstDash val="solid"/>
          </a:ln>
        </p:spPr>
      </p:sp>
      <p:sp>
        <p:nvSpPr>
          <p:cNvPr id="30" name="Shape 28"/>
          <p:cNvSpPr/>
          <p:nvPr/>
        </p:nvSpPr>
        <p:spPr>
          <a:xfrm>
            <a:off x="4041648" y="2624328"/>
            <a:ext cx="594360" cy="594360"/>
          </a:xfrm>
          <a:prstGeom prst="ellipse">
            <a:avLst/>
          </a:prstGeom>
          <a:solidFill>
            <a:srgbClr val="00939D"/>
          </a:solidFill>
          <a:ln/>
        </p:spPr>
      </p:sp>
      <p:sp>
        <p:nvSpPr>
          <p:cNvPr id="31" name="Text 29"/>
          <p:cNvSpPr/>
          <p:nvPr/>
        </p:nvSpPr>
        <p:spPr>
          <a:xfrm>
            <a:off x="4041648" y="2624328"/>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緑</a:t>
            </a:r>
            <a:endParaRPr lang="en-US" sz="2000" dirty="0"/>
          </a:p>
        </p:txBody>
      </p:sp>
      <p:sp>
        <p:nvSpPr>
          <p:cNvPr id="32" name="Text 30"/>
          <p:cNvSpPr/>
          <p:nvPr/>
        </p:nvSpPr>
        <p:spPr>
          <a:xfrm>
            <a:off x="4736592" y="2651760"/>
            <a:ext cx="4114800" cy="384048"/>
          </a:xfrm>
          <a:prstGeom prst="rect">
            <a:avLst/>
          </a:prstGeom>
          <a:noFill/>
          <a:ln/>
        </p:spPr>
        <p:txBody>
          <a:bodyPr wrap="square" rtlCol="0" anchor="ctr"/>
          <a:lstStyle/>
          <a:p>
            <a:pPr indent="0" marL="0">
              <a:buNone/>
            </a:pPr>
            <a:r>
              <a:rPr lang="en-US" sz="1700" b="1" dirty="0">
                <a:solidFill>
                  <a:srgbClr val="00939D"/>
                </a:solidFill>
                <a:latin typeface="Calibri" pitchFamily="34" charset="0"/>
                <a:ea typeface="Calibri" pitchFamily="34" charset="-122"/>
                <a:cs typeface="Calibri" pitchFamily="34" charset="-120"/>
              </a:rPr>
              <a:t>都市景観・緑地</a:t>
            </a:r>
            <a:endParaRPr lang="en-US" sz="1700" dirty="0"/>
          </a:p>
        </p:txBody>
      </p:sp>
      <p:sp>
        <p:nvSpPr>
          <p:cNvPr id="33" name="Text 31"/>
          <p:cNvSpPr/>
          <p:nvPr/>
        </p:nvSpPr>
        <p:spPr>
          <a:xfrm>
            <a:off x="4736592" y="3081528"/>
            <a:ext cx="4114800" cy="548640"/>
          </a:xfrm>
          <a:prstGeom prst="rect">
            <a:avLst/>
          </a:prstGeom>
          <a:noFill/>
          <a:ln/>
        </p:spPr>
        <p:txBody>
          <a:bodyPr wrap="square" rtlCol="0" anchor="ctr"/>
          <a:lstStyle/>
          <a:p>
            <a:pPr indent="0" marL="0">
              <a:buNone/>
            </a:pPr>
            <a:r>
              <a:rPr lang="en-US" sz="1250" dirty="0">
                <a:solidFill>
                  <a:srgbClr val="546E7A"/>
                </a:solidFill>
                <a:latin typeface="Calibri" pitchFamily="34" charset="0"/>
                <a:ea typeface="Calibri" pitchFamily="34" charset="-122"/>
                <a:cs typeface="Calibri" pitchFamily="34" charset="-120"/>
              </a:rPr>
              <a:t>街路樹の状態・看板視認性・メンテナンス要否</a:t>
            </a:r>
            <a:endParaRPr lang="en-US" sz="1250" dirty="0"/>
          </a:p>
        </p:txBody>
      </p:sp>
      <p:sp>
        <p:nvSpPr>
          <p:cNvPr id="34" name="Shape 32"/>
          <p:cNvSpPr/>
          <p:nvPr/>
        </p:nvSpPr>
        <p:spPr>
          <a:xfrm>
            <a:off x="4041648" y="3749040"/>
            <a:ext cx="4828032" cy="0"/>
          </a:xfrm>
          <a:prstGeom prst="line">
            <a:avLst/>
          </a:prstGeom>
          <a:noFill/>
          <a:ln w="6350">
            <a:solidFill>
              <a:srgbClr val="B0C4CE"/>
            </a:solidFill>
            <a:prstDash val="solid"/>
          </a:ln>
        </p:spPr>
      </p:sp>
      <p:sp>
        <p:nvSpPr>
          <p:cNvPr id="35" name="Shape 33"/>
          <p:cNvSpPr/>
          <p:nvPr/>
        </p:nvSpPr>
        <p:spPr>
          <a:xfrm>
            <a:off x="4041648" y="3858768"/>
            <a:ext cx="594360" cy="594360"/>
          </a:xfrm>
          <a:prstGeom prst="ellipse">
            <a:avLst/>
          </a:prstGeom>
          <a:solidFill>
            <a:srgbClr val="4A6FA5"/>
          </a:solidFill>
          <a:ln/>
        </p:spPr>
      </p:sp>
      <p:sp>
        <p:nvSpPr>
          <p:cNvPr id="36" name="Text 34"/>
          <p:cNvSpPr/>
          <p:nvPr/>
        </p:nvSpPr>
        <p:spPr>
          <a:xfrm>
            <a:off x="4041648" y="3858768"/>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交</a:t>
            </a:r>
            <a:endParaRPr lang="en-US" sz="2000" dirty="0"/>
          </a:p>
        </p:txBody>
      </p:sp>
      <p:sp>
        <p:nvSpPr>
          <p:cNvPr id="37" name="Text 35"/>
          <p:cNvSpPr/>
          <p:nvPr/>
        </p:nvSpPr>
        <p:spPr>
          <a:xfrm>
            <a:off x="4736592" y="3886200"/>
            <a:ext cx="4114800" cy="384048"/>
          </a:xfrm>
          <a:prstGeom prst="rect">
            <a:avLst/>
          </a:prstGeom>
          <a:noFill/>
          <a:ln/>
        </p:spPr>
        <p:txBody>
          <a:bodyPr wrap="square" rtlCol="0" anchor="ctr"/>
          <a:lstStyle/>
          <a:p>
            <a:pPr indent="0" marL="0">
              <a:buNone/>
            </a:pPr>
            <a:r>
              <a:rPr lang="en-US" sz="1700" b="1" dirty="0">
                <a:solidFill>
                  <a:srgbClr val="4A6FA5"/>
                </a:solidFill>
                <a:latin typeface="Calibri" pitchFamily="34" charset="0"/>
                <a:ea typeface="Calibri" pitchFamily="34" charset="-122"/>
                <a:cs typeface="Calibri" pitchFamily="34" charset="-120"/>
              </a:rPr>
              <a:t>交通・モビリティ</a:t>
            </a:r>
            <a:endParaRPr lang="en-US" sz="1700" dirty="0"/>
          </a:p>
        </p:txBody>
      </p:sp>
      <p:sp>
        <p:nvSpPr>
          <p:cNvPr id="38" name="Text 36"/>
          <p:cNvSpPr/>
          <p:nvPr/>
        </p:nvSpPr>
        <p:spPr>
          <a:xfrm>
            <a:off x="4736592" y="4315968"/>
            <a:ext cx="4114800" cy="548640"/>
          </a:xfrm>
          <a:prstGeom prst="rect">
            <a:avLst/>
          </a:prstGeom>
          <a:noFill/>
          <a:ln/>
        </p:spPr>
        <p:txBody>
          <a:bodyPr wrap="square" rtlCol="0" anchor="ctr"/>
          <a:lstStyle/>
          <a:p>
            <a:pPr indent="0" marL="0">
              <a:buNone/>
            </a:pPr>
            <a:r>
              <a:rPr lang="en-US" sz="1250" dirty="0">
                <a:solidFill>
                  <a:srgbClr val="546E7A"/>
                </a:solidFill>
                <a:latin typeface="Calibri" pitchFamily="34" charset="0"/>
                <a:ea typeface="Calibri" pitchFamily="34" charset="-122"/>
                <a:cs typeface="Calibri" pitchFamily="34" charset="-120"/>
              </a:rPr>
              <a:t>渋滞区間・路上駐車・交通施策の効果測定</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8"/>
          </a:solidFill>
          <a:ln/>
        </p:spPr>
      </p:sp>
      <p:sp>
        <p:nvSpPr>
          <p:cNvPr id="3" name="Shape 1"/>
          <p:cNvSpPr/>
          <p:nvPr/>
        </p:nvSpPr>
        <p:spPr>
          <a:xfrm>
            <a:off x="457200" y="201168"/>
            <a:ext cx="1394460" cy="237744"/>
          </a:xfrm>
          <a:prstGeom prst="rect">
            <a:avLst/>
          </a:prstGeom>
          <a:solidFill>
            <a:srgbClr val="00939D"/>
          </a:solidFill>
          <a:ln/>
        </p:spPr>
      </p:sp>
      <p:sp>
        <p:nvSpPr>
          <p:cNvPr id="4" name="Text 2"/>
          <p:cNvSpPr/>
          <p:nvPr/>
        </p:nvSpPr>
        <p:spPr>
          <a:xfrm>
            <a:off x="566928" y="210312"/>
            <a:ext cx="119329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廃棄物量データ</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廃棄物収集業務が生み出す都市環境データ</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Text 5"/>
          <p:cNvSpPr/>
          <p:nvPr/>
        </p:nvSpPr>
        <p:spPr>
          <a:xfrm>
            <a:off x="457200" y="1234440"/>
            <a:ext cx="3840480" cy="804672"/>
          </a:xfrm>
          <a:prstGeom prst="rect">
            <a:avLst/>
          </a:prstGeom>
          <a:noFill/>
          <a:ln/>
        </p:spPr>
        <p:txBody>
          <a:bodyPr wrap="square" rtlCol="0" anchor="ctr"/>
          <a:lstStyle/>
          <a:p>
            <a:pPr indent="0" marL="0">
              <a:lnSpc>
                <a:spcPct val="125000"/>
              </a:lnSpc>
              <a:buNone/>
            </a:pPr>
            <a:r>
              <a:rPr lang="en-US" sz="1900" b="1" dirty="0">
                <a:solidFill>
                  <a:srgbClr val="1E3461"/>
                </a:solidFill>
                <a:latin typeface="Calibri" pitchFamily="34" charset="0"/>
                <a:ea typeface="Calibri" pitchFamily="34" charset="-122"/>
                <a:cs typeface="Calibri" pitchFamily="34" charset="-120"/>
              </a:rPr>
              <a:t>廃棄物量を</a:t>
            </a:r>
            <a:endParaRPr lang="en-US" sz="1900" dirty="0"/>
          </a:p>
          <a:p>
            <a:pPr indent="0" marL="0">
              <a:lnSpc>
                <a:spcPct val="125000"/>
              </a:lnSpc>
              <a:buNone/>
            </a:pPr>
            <a:r>
              <a:rPr lang="en-US" sz="1900" b="1" dirty="0">
                <a:solidFill>
                  <a:srgbClr val="1E3461"/>
                </a:solidFill>
                <a:latin typeface="Calibri" pitchFamily="34" charset="0"/>
                <a:ea typeface="Calibri" pitchFamily="34" charset="-122"/>
                <a:cs typeface="Calibri" pitchFamily="34" charset="-120"/>
              </a:rPr>
              <a:t>都市の環境指標に変える</a:t>
            </a:r>
            <a:endParaRPr lang="en-US" sz="1900" dirty="0"/>
          </a:p>
        </p:txBody>
      </p:sp>
      <p:sp>
        <p:nvSpPr>
          <p:cNvPr id="8" name="Text 6"/>
          <p:cNvSpPr/>
          <p:nvPr/>
        </p:nvSpPr>
        <p:spPr>
          <a:xfrm>
            <a:off x="457200" y="2103120"/>
            <a:ext cx="3840480" cy="1417320"/>
          </a:xfrm>
          <a:prstGeom prst="rect">
            <a:avLst/>
          </a:prstGeom>
          <a:noFill/>
          <a:ln/>
        </p:spPr>
        <p:txBody>
          <a:bodyPr wrap="square" rtlCol="0" anchor="ctr"/>
          <a:lstStyle/>
          <a:p>
            <a:pPr indent="0" marL="0">
              <a:lnSpc>
                <a:spcPct val="140000"/>
              </a:lnSpc>
              <a:buNone/>
            </a:pPr>
            <a:r>
              <a:rPr lang="en-US" sz="1200" dirty="0">
                <a:solidFill>
                  <a:srgbClr val="1A2332"/>
                </a:solidFill>
                <a:latin typeface="Calibri" pitchFamily="34" charset="0"/>
                <a:ea typeface="Calibri" pitchFamily="34" charset="-122"/>
                <a:cs typeface="Calibri" pitchFamily="34" charset="-120"/>
              </a:rPr>
              <a:t>廃棄物収集許可業者として、</a:t>
            </a:r>
            <a:endParaRPr lang="en-US" sz="1200" dirty="0"/>
          </a:p>
          <a:p>
            <a:pPr indent="0" marL="0">
              <a:lnSpc>
                <a:spcPct val="140000"/>
              </a:lnSpc>
              <a:buNone/>
            </a:pPr>
            <a:r>
              <a:rPr lang="en-US" sz="1200" dirty="0">
                <a:solidFill>
                  <a:srgbClr val="1A2332"/>
                </a:solidFill>
                <a:latin typeface="Calibri" pitchFamily="34" charset="0"/>
                <a:ea typeface="Calibri" pitchFamily="34" charset="-122"/>
                <a:cs typeface="Calibri" pitchFamily="34" charset="-120"/>
              </a:rPr>
              <a:t>施設内の廃棄物量・品目・頻度を</a:t>
            </a:r>
            <a:endParaRPr lang="en-US" sz="1200" dirty="0"/>
          </a:p>
          <a:p>
            <a:pPr indent="0" marL="0">
              <a:lnSpc>
                <a:spcPct val="140000"/>
              </a:lnSpc>
              <a:buNone/>
            </a:pPr>
            <a:r>
              <a:rPr lang="en-US" sz="1200" dirty="0">
                <a:solidFill>
                  <a:srgbClr val="1A2332"/>
                </a:solidFill>
                <a:latin typeface="Calibri" pitchFamily="34" charset="0"/>
                <a:ea typeface="Calibri" pitchFamily="34" charset="-122"/>
                <a:cs typeface="Calibri" pitchFamily="34" charset="-120"/>
              </a:rPr>
              <a:t>合法的に記録・蓄積できます。</a:t>
            </a:r>
            <a:endParaRPr lang="en-US" sz="1200" dirty="0"/>
          </a:p>
          <a:p>
            <a:pPr indent="0" marL="0">
              <a:lnSpc>
                <a:spcPct val="140000"/>
              </a:lnSpc>
              <a:buNone/>
            </a:pPr>
            <a:r>
              <a:rPr lang="en-US" sz="1200" dirty="0">
                <a:solidFill>
                  <a:srgbClr val="1A2332"/>
                </a:solidFill>
                <a:latin typeface="Calibri" pitchFamily="34" charset="0"/>
                <a:ea typeface="Calibri" pitchFamily="34" charset="-122"/>
                <a:cs typeface="Calibri" pitchFamily="34" charset="-120"/>
              </a:rPr>
              <a:t>自治体では入手できない施設別の</a:t>
            </a:r>
            <a:endParaRPr lang="en-US" sz="1200" dirty="0"/>
          </a:p>
          <a:p>
            <a:pPr indent="0" marL="0">
              <a:lnSpc>
                <a:spcPct val="140000"/>
              </a:lnSpc>
              <a:buNone/>
            </a:pPr>
            <a:r>
              <a:rPr lang="en-US" sz="1200" dirty="0">
                <a:solidFill>
                  <a:srgbClr val="1A2332"/>
                </a:solidFill>
                <a:latin typeface="Calibri" pitchFamily="34" charset="0"/>
                <a:ea typeface="Calibri" pitchFamily="34" charset="-122"/>
                <a:cs typeface="Calibri" pitchFamily="34" charset="-120"/>
              </a:rPr>
              <a:t>リアルタイム廃棄物動向データを</a:t>
            </a:r>
            <a:endParaRPr lang="en-US" sz="1200" dirty="0"/>
          </a:p>
          <a:p>
            <a:pPr indent="0" marL="0">
              <a:lnSpc>
                <a:spcPct val="140000"/>
              </a:lnSpc>
              <a:buNone/>
            </a:pPr>
            <a:r>
              <a:rPr lang="en-US" sz="1200" dirty="0">
                <a:solidFill>
                  <a:srgbClr val="1A2332"/>
                </a:solidFill>
                <a:latin typeface="Calibri" pitchFamily="34" charset="0"/>
                <a:ea typeface="Calibri" pitchFamily="34" charset="-122"/>
                <a:cs typeface="Calibri" pitchFamily="34" charset="-120"/>
              </a:rPr>
              <a:t>定期的に提供します。</a:t>
            </a:r>
            <a:endParaRPr lang="en-US" sz="1200" dirty="0"/>
          </a:p>
        </p:txBody>
      </p:sp>
      <p:sp>
        <p:nvSpPr>
          <p:cNvPr id="9" name="Shape 7"/>
          <p:cNvSpPr/>
          <p:nvPr/>
        </p:nvSpPr>
        <p:spPr>
          <a:xfrm>
            <a:off x="457200" y="3621024"/>
            <a:ext cx="3840480" cy="1298448"/>
          </a:xfrm>
          <a:prstGeom prst="rect">
            <a:avLst/>
          </a:prstGeom>
          <a:solidFill>
            <a:srgbClr val="2E7D32"/>
          </a:solidFill>
          <a:ln/>
        </p:spPr>
      </p:sp>
      <p:sp>
        <p:nvSpPr>
          <p:cNvPr id="10" name="Shape 8"/>
          <p:cNvSpPr/>
          <p:nvPr/>
        </p:nvSpPr>
        <p:spPr>
          <a:xfrm>
            <a:off x="457200" y="3621024"/>
            <a:ext cx="54864" cy="1298448"/>
          </a:xfrm>
          <a:prstGeom prst="rect">
            <a:avLst/>
          </a:prstGeom>
          <a:solidFill>
            <a:srgbClr val="00939D"/>
          </a:solidFill>
          <a:ln/>
        </p:spPr>
      </p:sp>
      <p:sp>
        <p:nvSpPr>
          <p:cNvPr id="11" name="Text 9"/>
          <p:cNvSpPr/>
          <p:nvPr/>
        </p:nvSpPr>
        <p:spPr>
          <a:xfrm>
            <a:off x="685800" y="3621024"/>
            <a:ext cx="3611880" cy="1298448"/>
          </a:xfrm>
          <a:prstGeom prst="rect">
            <a:avLst/>
          </a:prstGeom>
          <a:noFill/>
          <a:ln/>
        </p:spPr>
        <p:txBody>
          <a:bodyPr wrap="square" rtlCol="0" anchor="ctr"/>
          <a:lstStyle/>
          <a:p>
            <a:pPr indent="0" marL="0">
              <a:lnSpc>
                <a:spcPct val="150000"/>
              </a:lnSpc>
              <a:buNone/>
            </a:pPr>
            <a:r>
              <a:rPr lang="en-US" sz="1250" b="1" dirty="0">
                <a:solidFill>
                  <a:srgbClr val="FFFFFF"/>
                </a:solidFill>
                <a:latin typeface="Calibri" pitchFamily="34" charset="0"/>
                <a:ea typeface="Calibri" pitchFamily="34" charset="-122"/>
                <a:cs typeface="Calibri" pitchFamily="34" charset="-120"/>
              </a:rPr>
              <a:t>追加のセンサー・人員・設備は不要</a:t>
            </a:r>
            <a:endParaRPr lang="en-US" sz="1250" dirty="0"/>
          </a:p>
          <a:p>
            <a:pPr indent="0" marL="0">
              <a:lnSpc>
                <a:spcPct val="150000"/>
              </a:lnSpc>
              <a:buNone/>
            </a:pPr>
            <a:r>
              <a:rPr lang="en-US" sz="1250" b="1" dirty="0">
                <a:solidFill>
                  <a:srgbClr val="FFFFFF"/>
                </a:solidFill>
                <a:latin typeface="Calibri" pitchFamily="34" charset="0"/>
                <a:ea typeface="Calibri" pitchFamily="34" charset="-122"/>
                <a:cs typeface="Calibri" pitchFamily="34" charset="-120"/>
              </a:rPr>
              <a:t>廃棄物収集業務の「ついで」に都市環境データを生成</a:t>
            </a:r>
            <a:endParaRPr lang="en-US" sz="1250" dirty="0"/>
          </a:p>
        </p:txBody>
      </p:sp>
      <p:sp>
        <p:nvSpPr>
          <p:cNvPr id="12" name="Shape 10"/>
          <p:cNvSpPr/>
          <p:nvPr/>
        </p:nvSpPr>
        <p:spPr>
          <a:xfrm>
            <a:off x="4480560" y="1261872"/>
            <a:ext cx="594360" cy="594360"/>
          </a:xfrm>
          <a:prstGeom prst="ellipse">
            <a:avLst/>
          </a:prstGeom>
          <a:solidFill>
            <a:srgbClr val="2E7D32"/>
          </a:solidFill>
          <a:ln/>
        </p:spPr>
      </p:sp>
      <p:sp>
        <p:nvSpPr>
          <p:cNvPr id="13" name="Text 11"/>
          <p:cNvSpPr/>
          <p:nvPr/>
        </p:nvSpPr>
        <p:spPr>
          <a:xfrm>
            <a:off x="4480560" y="1261872"/>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量</a:t>
            </a:r>
            <a:endParaRPr lang="en-US" sz="2000" dirty="0"/>
          </a:p>
        </p:txBody>
      </p:sp>
      <p:sp>
        <p:nvSpPr>
          <p:cNvPr id="14" name="Text 12"/>
          <p:cNvSpPr/>
          <p:nvPr/>
        </p:nvSpPr>
        <p:spPr>
          <a:xfrm>
            <a:off x="5193792" y="1280160"/>
            <a:ext cx="3657600" cy="384048"/>
          </a:xfrm>
          <a:prstGeom prst="rect">
            <a:avLst/>
          </a:prstGeom>
          <a:noFill/>
          <a:ln/>
        </p:spPr>
        <p:txBody>
          <a:bodyPr wrap="square" rtlCol="0" anchor="ctr"/>
          <a:lstStyle/>
          <a:p>
            <a:pPr indent="0" marL="0">
              <a:buNone/>
            </a:pPr>
            <a:r>
              <a:rPr lang="en-US" sz="1600" b="1" dirty="0">
                <a:solidFill>
                  <a:srgbClr val="2E7D32"/>
                </a:solidFill>
                <a:latin typeface="Calibri" pitchFamily="34" charset="0"/>
                <a:ea typeface="Calibri" pitchFamily="34" charset="-122"/>
                <a:cs typeface="Calibri" pitchFamily="34" charset="-120"/>
              </a:rPr>
              <a:t>廃棄物排出量トレンド</a:t>
            </a:r>
            <a:endParaRPr lang="en-US" sz="1600" dirty="0"/>
          </a:p>
        </p:txBody>
      </p:sp>
      <p:sp>
        <p:nvSpPr>
          <p:cNvPr id="15" name="Text 13"/>
          <p:cNvSpPr/>
          <p:nvPr/>
        </p:nvSpPr>
        <p:spPr>
          <a:xfrm>
            <a:off x="5193792" y="1719072"/>
            <a:ext cx="3657600" cy="594360"/>
          </a:xfrm>
          <a:prstGeom prst="rect">
            <a:avLst/>
          </a:prstGeom>
          <a:noFill/>
          <a:ln/>
        </p:spPr>
        <p:txBody>
          <a:bodyPr wrap="square" rtlCol="0" anchor="ctr"/>
          <a:lstStyle/>
          <a:p>
            <a:pPr indent="0" marL="0">
              <a:lnSpc>
                <a:spcPct val="135000"/>
              </a:lnSpc>
              <a:buNone/>
            </a:pPr>
            <a:r>
              <a:rPr lang="en-US" sz="1150" dirty="0">
                <a:solidFill>
                  <a:srgbClr val="546E7A"/>
                </a:solidFill>
                <a:latin typeface="Calibri" pitchFamily="34" charset="0"/>
                <a:ea typeface="Calibri" pitchFamily="34" charset="-122"/>
                <a:cs typeface="Calibri" pitchFamily="34" charset="-120"/>
              </a:rPr>
              <a:t>施設別・品目別の月次推移。環境KPI測定・廃棄物削減施策の効果検証に活用</a:t>
            </a:r>
            <a:endParaRPr lang="en-US" sz="1150" dirty="0"/>
          </a:p>
        </p:txBody>
      </p:sp>
      <p:sp>
        <p:nvSpPr>
          <p:cNvPr id="16" name="Shape 14"/>
          <p:cNvSpPr/>
          <p:nvPr/>
        </p:nvSpPr>
        <p:spPr>
          <a:xfrm>
            <a:off x="4480560" y="2450592"/>
            <a:ext cx="4389120" cy="0"/>
          </a:xfrm>
          <a:prstGeom prst="line">
            <a:avLst/>
          </a:prstGeom>
          <a:noFill/>
          <a:ln w="6350">
            <a:solidFill>
              <a:srgbClr val="B0C4CE"/>
            </a:solidFill>
            <a:prstDash val="solid"/>
          </a:ln>
        </p:spPr>
      </p:sp>
      <p:sp>
        <p:nvSpPr>
          <p:cNvPr id="17" name="Shape 15"/>
          <p:cNvSpPr/>
          <p:nvPr/>
        </p:nvSpPr>
        <p:spPr>
          <a:xfrm>
            <a:off x="4480560" y="2542032"/>
            <a:ext cx="594360" cy="594360"/>
          </a:xfrm>
          <a:prstGeom prst="ellipse">
            <a:avLst/>
          </a:prstGeom>
          <a:solidFill>
            <a:srgbClr val="4A6FA5"/>
          </a:solidFill>
          <a:ln/>
        </p:spPr>
      </p:sp>
      <p:sp>
        <p:nvSpPr>
          <p:cNvPr id="18" name="Text 16"/>
          <p:cNvSpPr/>
          <p:nvPr/>
        </p:nvSpPr>
        <p:spPr>
          <a:xfrm>
            <a:off x="4480560" y="2542032"/>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比</a:t>
            </a:r>
            <a:endParaRPr lang="en-US" sz="2000" dirty="0"/>
          </a:p>
        </p:txBody>
      </p:sp>
      <p:sp>
        <p:nvSpPr>
          <p:cNvPr id="19" name="Text 17"/>
          <p:cNvSpPr/>
          <p:nvPr/>
        </p:nvSpPr>
        <p:spPr>
          <a:xfrm>
            <a:off x="5193792" y="2560320"/>
            <a:ext cx="3657600" cy="384048"/>
          </a:xfrm>
          <a:prstGeom prst="rect">
            <a:avLst/>
          </a:prstGeom>
          <a:noFill/>
          <a:ln/>
        </p:spPr>
        <p:txBody>
          <a:bodyPr wrap="square" rtlCol="0" anchor="ctr"/>
          <a:lstStyle/>
          <a:p>
            <a:pPr indent="0" marL="0">
              <a:buNone/>
            </a:pPr>
            <a:r>
              <a:rPr lang="en-US" sz="1600" b="1" dirty="0">
                <a:solidFill>
                  <a:srgbClr val="4A6FA5"/>
                </a:solidFill>
                <a:latin typeface="Calibri" pitchFamily="34" charset="0"/>
                <a:ea typeface="Calibri" pitchFamily="34" charset="-122"/>
                <a:cs typeface="Calibri" pitchFamily="34" charset="-120"/>
              </a:rPr>
              <a:t>施設間比較・ベンチマーク</a:t>
            </a:r>
            <a:endParaRPr lang="en-US" sz="1600" dirty="0"/>
          </a:p>
        </p:txBody>
      </p:sp>
      <p:sp>
        <p:nvSpPr>
          <p:cNvPr id="20" name="Text 18"/>
          <p:cNvSpPr/>
          <p:nvPr/>
        </p:nvSpPr>
        <p:spPr>
          <a:xfrm>
            <a:off x="5193792" y="2999232"/>
            <a:ext cx="3657600" cy="594360"/>
          </a:xfrm>
          <a:prstGeom prst="rect">
            <a:avLst/>
          </a:prstGeom>
          <a:noFill/>
          <a:ln/>
        </p:spPr>
        <p:txBody>
          <a:bodyPr wrap="square" rtlCol="0" anchor="ctr"/>
          <a:lstStyle/>
          <a:p>
            <a:pPr indent="0" marL="0">
              <a:lnSpc>
                <a:spcPct val="135000"/>
              </a:lnSpc>
              <a:buNone/>
            </a:pPr>
            <a:r>
              <a:rPr lang="en-US" sz="1150" dirty="0">
                <a:solidFill>
                  <a:srgbClr val="546E7A"/>
                </a:solidFill>
                <a:latin typeface="Calibri" pitchFamily="34" charset="0"/>
                <a:ea typeface="Calibri" pitchFamily="34" charset="-122"/>
                <a:cs typeface="Calibri" pitchFamily="34" charset="-120"/>
              </a:rPr>
              <a:t>同業種・同規模施設との廃棄物量比較。省資源化の優先施設を特定可能</a:t>
            </a:r>
            <a:endParaRPr lang="en-US" sz="1150" dirty="0"/>
          </a:p>
        </p:txBody>
      </p:sp>
      <p:sp>
        <p:nvSpPr>
          <p:cNvPr id="21" name="Shape 19"/>
          <p:cNvSpPr/>
          <p:nvPr/>
        </p:nvSpPr>
        <p:spPr>
          <a:xfrm>
            <a:off x="4480560" y="3730752"/>
            <a:ext cx="4389120" cy="0"/>
          </a:xfrm>
          <a:prstGeom prst="line">
            <a:avLst/>
          </a:prstGeom>
          <a:noFill/>
          <a:ln w="6350">
            <a:solidFill>
              <a:srgbClr val="B0C4CE"/>
            </a:solidFill>
            <a:prstDash val="solid"/>
          </a:ln>
        </p:spPr>
      </p:sp>
      <p:sp>
        <p:nvSpPr>
          <p:cNvPr id="22" name="Shape 20"/>
          <p:cNvSpPr/>
          <p:nvPr/>
        </p:nvSpPr>
        <p:spPr>
          <a:xfrm>
            <a:off x="4480560" y="3822192"/>
            <a:ext cx="594360" cy="594360"/>
          </a:xfrm>
          <a:prstGeom prst="ellipse">
            <a:avLst/>
          </a:prstGeom>
          <a:solidFill>
            <a:srgbClr val="00939D"/>
          </a:solidFill>
          <a:ln/>
        </p:spPr>
      </p:sp>
      <p:sp>
        <p:nvSpPr>
          <p:cNvPr id="23" name="Text 21"/>
          <p:cNvSpPr/>
          <p:nvPr/>
        </p:nvSpPr>
        <p:spPr>
          <a:xfrm>
            <a:off x="4480560" y="3822192"/>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域</a:t>
            </a:r>
            <a:endParaRPr lang="en-US" sz="2000" dirty="0"/>
          </a:p>
        </p:txBody>
      </p:sp>
      <p:sp>
        <p:nvSpPr>
          <p:cNvPr id="24" name="Text 22"/>
          <p:cNvSpPr/>
          <p:nvPr/>
        </p:nvSpPr>
        <p:spPr>
          <a:xfrm>
            <a:off x="5193792" y="3840480"/>
            <a:ext cx="3657600" cy="384048"/>
          </a:xfrm>
          <a:prstGeom prst="rect">
            <a:avLst/>
          </a:prstGeom>
          <a:noFill/>
          <a:ln/>
        </p:spPr>
        <p:txBody>
          <a:bodyPr wrap="square" rtlCol="0" anchor="ctr"/>
          <a:lstStyle/>
          <a:p>
            <a:pPr indent="0" marL="0">
              <a:buNone/>
            </a:pPr>
            <a:r>
              <a:rPr lang="en-US" sz="1600" b="1" dirty="0">
                <a:solidFill>
                  <a:srgbClr val="00939D"/>
                </a:solidFill>
                <a:latin typeface="Calibri" pitchFamily="34" charset="0"/>
                <a:ea typeface="Calibri" pitchFamily="34" charset="-122"/>
                <a:cs typeface="Calibri" pitchFamily="34" charset="-120"/>
              </a:rPr>
              <a:t>地域別廃棄物動向</a:t>
            </a:r>
            <a:endParaRPr lang="en-US" sz="1600" dirty="0"/>
          </a:p>
        </p:txBody>
      </p:sp>
      <p:sp>
        <p:nvSpPr>
          <p:cNvPr id="25" name="Text 23"/>
          <p:cNvSpPr/>
          <p:nvPr/>
        </p:nvSpPr>
        <p:spPr>
          <a:xfrm>
            <a:off x="5193792" y="4279392"/>
            <a:ext cx="3657600" cy="594360"/>
          </a:xfrm>
          <a:prstGeom prst="rect">
            <a:avLst/>
          </a:prstGeom>
          <a:noFill/>
          <a:ln/>
        </p:spPr>
        <p:txBody>
          <a:bodyPr wrap="square" rtlCol="0" anchor="ctr"/>
          <a:lstStyle/>
          <a:p>
            <a:pPr indent="0" marL="0">
              <a:lnSpc>
                <a:spcPct val="135000"/>
              </a:lnSpc>
              <a:buNone/>
            </a:pPr>
            <a:r>
              <a:rPr lang="en-US" sz="1150" dirty="0">
                <a:solidFill>
                  <a:srgbClr val="546E7A"/>
                </a:solidFill>
                <a:latin typeface="Calibri" pitchFamily="34" charset="0"/>
                <a:ea typeface="Calibri" pitchFamily="34" charset="-122"/>
                <a:cs typeface="Calibri" pitchFamily="34" charset="-120"/>
              </a:rPr>
              <a:t>川崎市内エリアごとの廃棄物量分布。施策立案・収集ルート最適化に貢献</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457200" y="201168"/>
            <a:ext cx="754380" cy="237744"/>
          </a:xfrm>
          <a:prstGeom prst="rect">
            <a:avLst/>
          </a:prstGeom>
          <a:solidFill>
            <a:srgbClr val="00939D"/>
          </a:solidFill>
          <a:ln/>
        </p:spPr>
      </p:sp>
      <p:sp>
        <p:nvSpPr>
          <p:cNvPr id="4" name="Text 2"/>
          <p:cNvSpPr/>
          <p:nvPr/>
        </p:nvSpPr>
        <p:spPr>
          <a:xfrm>
            <a:off x="566928" y="210312"/>
            <a:ext cx="55321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優位性</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200台ネットワークがもたらす3つの優位性</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11480" y="1261872"/>
            <a:ext cx="2697480" cy="3657600"/>
          </a:xfrm>
          <a:prstGeom prst="rect">
            <a:avLst/>
          </a:prstGeom>
          <a:solidFill>
            <a:srgbClr val="F0F4F8"/>
          </a:solidFill>
          <a:ln w="9525">
            <a:solidFill>
              <a:srgbClr val="D8E4EE"/>
            </a:solidFill>
            <a:prstDash val="solid"/>
          </a:ln>
        </p:spPr>
      </p:sp>
      <p:sp>
        <p:nvSpPr>
          <p:cNvPr id="8" name="Shape 6"/>
          <p:cNvSpPr/>
          <p:nvPr/>
        </p:nvSpPr>
        <p:spPr>
          <a:xfrm>
            <a:off x="411480" y="1261872"/>
            <a:ext cx="2697480" cy="54864"/>
          </a:xfrm>
          <a:prstGeom prst="rect">
            <a:avLst/>
          </a:prstGeom>
          <a:solidFill>
            <a:srgbClr val="1E3461"/>
          </a:solidFill>
          <a:ln/>
        </p:spPr>
      </p:sp>
      <p:sp>
        <p:nvSpPr>
          <p:cNvPr id="9" name="Text 7"/>
          <p:cNvSpPr/>
          <p:nvPr/>
        </p:nvSpPr>
        <p:spPr>
          <a:xfrm>
            <a:off x="411480" y="1371600"/>
            <a:ext cx="2697480" cy="868680"/>
          </a:xfrm>
          <a:prstGeom prst="rect">
            <a:avLst/>
          </a:prstGeom>
          <a:noFill/>
          <a:ln/>
        </p:spPr>
        <p:txBody>
          <a:bodyPr wrap="square" rtlCol="0" anchor="ctr"/>
          <a:lstStyle/>
          <a:p>
            <a:pPr algn="ctr" indent="0" marL="0">
              <a:buNone/>
            </a:pPr>
            <a:r>
              <a:rPr lang="en-US" sz="5200" b="1" dirty="0">
                <a:solidFill>
                  <a:srgbClr val="1E3461">
                    <a:alpha val="88000"/>
                  </a:srgbClr>
                </a:solidFill>
                <a:latin typeface="Calibri" pitchFamily="34" charset="0"/>
                <a:ea typeface="Calibri" pitchFamily="34" charset="-122"/>
                <a:cs typeface="Calibri" pitchFamily="34" charset="-120"/>
              </a:rPr>
              <a:t>1</a:t>
            </a:r>
            <a:endParaRPr lang="en-US" sz="5200" dirty="0"/>
          </a:p>
        </p:txBody>
      </p:sp>
      <p:sp>
        <p:nvSpPr>
          <p:cNvPr id="10" name="Text 8"/>
          <p:cNvSpPr/>
          <p:nvPr/>
        </p:nvSpPr>
        <p:spPr>
          <a:xfrm>
            <a:off x="548640" y="2249424"/>
            <a:ext cx="2423160" cy="475488"/>
          </a:xfrm>
          <a:prstGeom prst="rect">
            <a:avLst/>
          </a:prstGeom>
          <a:noFill/>
          <a:ln/>
        </p:spPr>
        <p:txBody>
          <a:bodyPr wrap="square" rtlCol="0" anchor="ctr"/>
          <a:lstStyle/>
          <a:p>
            <a:pPr algn="ctr" indent="0" marL="0">
              <a:buNone/>
            </a:pPr>
            <a:r>
              <a:rPr lang="en-US" sz="1500" b="1" dirty="0">
                <a:solidFill>
                  <a:srgbClr val="1E3461"/>
                </a:solidFill>
                <a:latin typeface="Calibri" pitchFamily="34" charset="0"/>
                <a:ea typeface="Calibri" pitchFamily="34" charset="-122"/>
                <a:cs typeface="Calibri" pitchFamily="34" charset="-120"/>
              </a:rPr>
              <a:t>網羅性と継続性</a:t>
            </a:r>
            <a:endParaRPr lang="en-US" sz="1500" dirty="0"/>
          </a:p>
        </p:txBody>
      </p:sp>
      <p:sp>
        <p:nvSpPr>
          <p:cNvPr id="11" name="Shape 9"/>
          <p:cNvSpPr/>
          <p:nvPr/>
        </p:nvSpPr>
        <p:spPr>
          <a:xfrm>
            <a:off x="594360" y="2761488"/>
            <a:ext cx="2331720" cy="0"/>
          </a:xfrm>
          <a:prstGeom prst="line">
            <a:avLst/>
          </a:prstGeom>
          <a:noFill/>
          <a:ln w="6350">
            <a:solidFill>
              <a:srgbClr val="B0C4CE"/>
            </a:solidFill>
            <a:prstDash val="solid"/>
          </a:ln>
        </p:spPr>
      </p:sp>
      <p:sp>
        <p:nvSpPr>
          <p:cNvPr id="12" name="Shape 10"/>
          <p:cNvSpPr/>
          <p:nvPr/>
        </p:nvSpPr>
        <p:spPr>
          <a:xfrm>
            <a:off x="576072" y="2916936"/>
            <a:ext cx="128016" cy="128016"/>
          </a:xfrm>
          <a:prstGeom prst="ellipse">
            <a:avLst/>
          </a:prstGeom>
          <a:solidFill>
            <a:srgbClr val="1E3461"/>
          </a:solidFill>
          <a:ln/>
        </p:spPr>
      </p:sp>
      <p:sp>
        <p:nvSpPr>
          <p:cNvPr id="13" name="Text 11"/>
          <p:cNvSpPr/>
          <p:nvPr/>
        </p:nvSpPr>
        <p:spPr>
          <a:xfrm>
            <a:off x="758952" y="2871216"/>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高頻度・日常的なエリアカバー</a:t>
            </a:r>
            <a:endParaRPr lang="en-US" sz="1100" dirty="0"/>
          </a:p>
        </p:txBody>
      </p:sp>
      <p:sp>
        <p:nvSpPr>
          <p:cNvPr id="14" name="Shape 12"/>
          <p:cNvSpPr/>
          <p:nvPr/>
        </p:nvSpPr>
        <p:spPr>
          <a:xfrm>
            <a:off x="576072" y="3447288"/>
            <a:ext cx="128016" cy="128016"/>
          </a:xfrm>
          <a:prstGeom prst="ellipse">
            <a:avLst/>
          </a:prstGeom>
          <a:solidFill>
            <a:srgbClr val="1E3461"/>
          </a:solidFill>
          <a:ln/>
        </p:spPr>
      </p:sp>
      <p:sp>
        <p:nvSpPr>
          <p:cNvPr id="15" name="Text 13"/>
          <p:cNvSpPr/>
          <p:nvPr/>
        </p:nvSpPr>
        <p:spPr>
          <a:xfrm>
            <a:off x="758952" y="3401568"/>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体系的・定期的なデータ収集</a:t>
            </a:r>
            <a:endParaRPr lang="en-US" sz="1100" dirty="0"/>
          </a:p>
        </p:txBody>
      </p:sp>
      <p:sp>
        <p:nvSpPr>
          <p:cNvPr id="16" name="Shape 14"/>
          <p:cNvSpPr/>
          <p:nvPr/>
        </p:nvSpPr>
        <p:spPr>
          <a:xfrm>
            <a:off x="576072" y="3977640"/>
            <a:ext cx="128016" cy="128016"/>
          </a:xfrm>
          <a:prstGeom prst="ellipse">
            <a:avLst/>
          </a:prstGeom>
          <a:solidFill>
            <a:srgbClr val="1E3461"/>
          </a:solidFill>
          <a:ln/>
        </p:spPr>
      </p:sp>
      <p:sp>
        <p:nvSpPr>
          <p:cNvPr id="17" name="Text 15"/>
          <p:cNvSpPr/>
          <p:nvPr/>
        </p:nvSpPr>
        <p:spPr>
          <a:xfrm>
            <a:off x="758952" y="3931920"/>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長期的な時系列データ蓄積</a:t>
            </a:r>
            <a:endParaRPr lang="en-US" sz="1100" dirty="0"/>
          </a:p>
        </p:txBody>
      </p:sp>
      <p:sp>
        <p:nvSpPr>
          <p:cNvPr id="18" name="Shape 16"/>
          <p:cNvSpPr/>
          <p:nvPr/>
        </p:nvSpPr>
        <p:spPr>
          <a:xfrm>
            <a:off x="3337560" y="1261872"/>
            <a:ext cx="2697480" cy="3657600"/>
          </a:xfrm>
          <a:prstGeom prst="rect">
            <a:avLst/>
          </a:prstGeom>
          <a:solidFill>
            <a:srgbClr val="F0F4F8"/>
          </a:solidFill>
          <a:ln w="9525">
            <a:solidFill>
              <a:srgbClr val="D8E4EE"/>
            </a:solidFill>
            <a:prstDash val="solid"/>
          </a:ln>
        </p:spPr>
      </p:sp>
      <p:sp>
        <p:nvSpPr>
          <p:cNvPr id="19" name="Shape 17"/>
          <p:cNvSpPr/>
          <p:nvPr/>
        </p:nvSpPr>
        <p:spPr>
          <a:xfrm>
            <a:off x="3337560" y="1261872"/>
            <a:ext cx="2697480" cy="54864"/>
          </a:xfrm>
          <a:prstGeom prst="rect">
            <a:avLst/>
          </a:prstGeom>
          <a:solidFill>
            <a:srgbClr val="00939D"/>
          </a:solidFill>
          <a:ln/>
        </p:spPr>
      </p:sp>
      <p:sp>
        <p:nvSpPr>
          <p:cNvPr id="20" name="Text 18"/>
          <p:cNvSpPr/>
          <p:nvPr/>
        </p:nvSpPr>
        <p:spPr>
          <a:xfrm>
            <a:off x="3337560" y="1371600"/>
            <a:ext cx="2697480" cy="868680"/>
          </a:xfrm>
          <a:prstGeom prst="rect">
            <a:avLst/>
          </a:prstGeom>
          <a:noFill/>
          <a:ln/>
        </p:spPr>
        <p:txBody>
          <a:bodyPr wrap="square" rtlCol="0" anchor="ctr"/>
          <a:lstStyle/>
          <a:p>
            <a:pPr algn="ctr" indent="0" marL="0">
              <a:buNone/>
            </a:pPr>
            <a:r>
              <a:rPr lang="en-US" sz="5200" b="1" dirty="0">
                <a:solidFill>
                  <a:srgbClr val="00939D">
                    <a:alpha val="88000"/>
                  </a:srgbClr>
                </a:solidFill>
                <a:latin typeface="Calibri" pitchFamily="34" charset="0"/>
                <a:ea typeface="Calibri" pitchFamily="34" charset="-122"/>
                <a:cs typeface="Calibri" pitchFamily="34" charset="-120"/>
              </a:rPr>
              <a:t>2</a:t>
            </a:r>
            <a:endParaRPr lang="en-US" sz="5200" dirty="0"/>
          </a:p>
        </p:txBody>
      </p:sp>
      <p:sp>
        <p:nvSpPr>
          <p:cNvPr id="21" name="Text 19"/>
          <p:cNvSpPr/>
          <p:nvPr/>
        </p:nvSpPr>
        <p:spPr>
          <a:xfrm>
            <a:off x="3474720" y="2249424"/>
            <a:ext cx="2423160" cy="475488"/>
          </a:xfrm>
          <a:prstGeom prst="rect">
            <a:avLst/>
          </a:prstGeom>
          <a:noFill/>
          <a:ln/>
        </p:spPr>
        <p:txBody>
          <a:bodyPr wrap="square" rtlCol="0" anchor="ctr"/>
          <a:lstStyle/>
          <a:p>
            <a:pPr algn="ctr" indent="0" marL="0">
              <a:buNone/>
            </a:pPr>
            <a:r>
              <a:rPr lang="en-US" sz="1500" b="1" dirty="0">
                <a:solidFill>
                  <a:srgbClr val="00939D"/>
                </a:solidFill>
                <a:latin typeface="Calibri" pitchFamily="34" charset="0"/>
                <a:ea typeface="Calibri" pitchFamily="34" charset="-122"/>
                <a:cs typeface="Calibri" pitchFamily="34" charset="-120"/>
              </a:rPr>
              <a:t>追加投資不要の経済性</a:t>
            </a:r>
            <a:endParaRPr lang="en-US" sz="1500" dirty="0"/>
          </a:p>
        </p:txBody>
      </p:sp>
      <p:sp>
        <p:nvSpPr>
          <p:cNvPr id="22" name="Shape 20"/>
          <p:cNvSpPr/>
          <p:nvPr/>
        </p:nvSpPr>
        <p:spPr>
          <a:xfrm>
            <a:off x="3520440" y="2761488"/>
            <a:ext cx="2331720" cy="0"/>
          </a:xfrm>
          <a:prstGeom prst="line">
            <a:avLst/>
          </a:prstGeom>
          <a:noFill/>
          <a:ln w="6350">
            <a:solidFill>
              <a:srgbClr val="B0C4CE"/>
            </a:solidFill>
            <a:prstDash val="solid"/>
          </a:ln>
        </p:spPr>
      </p:sp>
      <p:sp>
        <p:nvSpPr>
          <p:cNvPr id="23" name="Shape 21"/>
          <p:cNvSpPr/>
          <p:nvPr/>
        </p:nvSpPr>
        <p:spPr>
          <a:xfrm>
            <a:off x="3502152" y="2916936"/>
            <a:ext cx="128016" cy="128016"/>
          </a:xfrm>
          <a:prstGeom prst="ellipse">
            <a:avLst/>
          </a:prstGeom>
          <a:solidFill>
            <a:srgbClr val="00939D"/>
          </a:solidFill>
          <a:ln/>
        </p:spPr>
      </p:sp>
      <p:sp>
        <p:nvSpPr>
          <p:cNvPr id="24" name="Text 22"/>
          <p:cNvSpPr/>
          <p:nvPr/>
        </p:nvSpPr>
        <p:spPr>
          <a:xfrm>
            <a:off x="3685032" y="2871216"/>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専用車両の追加購入不要</a:t>
            </a:r>
            <a:endParaRPr lang="en-US" sz="1100" dirty="0"/>
          </a:p>
        </p:txBody>
      </p:sp>
      <p:sp>
        <p:nvSpPr>
          <p:cNvPr id="25" name="Shape 23"/>
          <p:cNvSpPr/>
          <p:nvPr/>
        </p:nvSpPr>
        <p:spPr>
          <a:xfrm>
            <a:off x="3502152" y="3447288"/>
            <a:ext cx="128016" cy="128016"/>
          </a:xfrm>
          <a:prstGeom prst="ellipse">
            <a:avLst/>
          </a:prstGeom>
          <a:solidFill>
            <a:srgbClr val="00939D"/>
          </a:solidFill>
          <a:ln/>
        </p:spPr>
      </p:sp>
      <p:sp>
        <p:nvSpPr>
          <p:cNvPr id="26" name="Text 24"/>
          <p:cNvSpPr/>
          <p:nvPr/>
        </p:nvSpPr>
        <p:spPr>
          <a:xfrm>
            <a:off x="3685032" y="3401568"/>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既存業務に付随してデータ収集</a:t>
            </a:r>
            <a:endParaRPr lang="en-US" sz="1100" dirty="0"/>
          </a:p>
        </p:txBody>
      </p:sp>
      <p:sp>
        <p:nvSpPr>
          <p:cNvPr id="27" name="Shape 25"/>
          <p:cNvSpPr/>
          <p:nvPr/>
        </p:nvSpPr>
        <p:spPr>
          <a:xfrm>
            <a:off x="3502152" y="3977640"/>
            <a:ext cx="128016" cy="128016"/>
          </a:xfrm>
          <a:prstGeom prst="ellipse">
            <a:avLst/>
          </a:prstGeom>
          <a:solidFill>
            <a:srgbClr val="00939D"/>
          </a:solidFill>
          <a:ln/>
        </p:spPr>
      </p:sp>
      <p:sp>
        <p:nvSpPr>
          <p:cNvPr id="28" name="Text 26"/>
          <p:cNvSpPr/>
          <p:nvPr/>
        </p:nvSpPr>
        <p:spPr>
          <a:xfrm>
            <a:off x="3685032" y="3931920"/>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運用コストを大幅に抑制</a:t>
            </a:r>
            <a:endParaRPr lang="en-US" sz="1100" dirty="0"/>
          </a:p>
        </p:txBody>
      </p:sp>
      <p:sp>
        <p:nvSpPr>
          <p:cNvPr id="29" name="Shape 27"/>
          <p:cNvSpPr/>
          <p:nvPr/>
        </p:nvSpPr>
        <p:spPr>
          <a:xfrm>
            <a:off x="6263640" y="1261872"/>
            <a:ext cx="2697480" cy="3657600"/>
          </a:xfrm>
          <a:prstGeom prst="rect">
            <a:avLst/>
          </a:prstGeom>
          <a:solidFill>
            <a:srgbClr val="F0F4F8"/>
          </a:solidFill>
          <a:ln w="9525">
            <a:solidFill>
              <a:srgbClr val="D8E4EE"/>
            </a:solidFill>
            <a:prstDash val="solid"/>
          </a:ln>
        </p:spPr>
      </p:sp>
      <p:sp>
        <p:nvSpPr>
          <p:cNvPr id="30" name="Shape 28"/>
          <p:cNvSpPr/>
          <p:nvPr/>
        </p:nvSpPr>
        <p:spPr>
          <a:xfrm>
            <a:off x="6263640" y="1261872"/>
            <a:ext cx="2697480" cy="54864"/>
          </a:xfrm>
          <a:prstGeom prst="rect">
            <a:avLst/>
          </a:prstGeom>
          <a:solidFill>
            <a:srgbClr val="2E7D32"/>
          </a:solidFill>
          <a:ln/>
        </p:spPr>
      </p:sp>
      <p:sp>
        <p:nvSpPr>
          <p:cNvPr id="31" name="Text 29"/>
          <p:cNvSpPr/>
          <p:nvPr/>
        </p:nvSpPr>
        <p:spPr>
          <a:xfrm>
            <a:off x="6263640" y="1371600"/>
            <a:ext cx="2697480" cy="868680"/>
          </a:xfrm>
          <a:prstGeom prst="rect">
            <a:avLst/>
          </a:prstGeom>
          <a:noFill/>
          <a:ln/>
        </p:spPr>
        <p:txBody>
          <a:bodyPr wrap="square" rtlCol="0" anchor="ctr"/>
          <a:lstStyle/>
          <a:p>
            <a:pPr algn="ctr" indent="0" marL="0">
              <a:buNone/>
            </a:pPr>
            <a:r>
              <a:rPr lang="en-US" sz="5200" b="1" dirty="0">
                <a:solidFill>
                  <a:srgbClr val="2E7D32">
                    <a:alpha val="88000"/>
                  </a:srgbClr>
                </a:solidFill>
                <a:latin typeface="Calibri" pitchFamily="34" charset="0"/>
                <a:ea typeface="Calibri" pitchFamily="34" charset="-122"/>
                <a:cs typeface="Calibri" pitchFamily="34" charset="-120"/>
              </a:rPr>
              <a:t>3</a:t>
            </a:r>
            <a:endParaRPr lang="en-US" sz="5200" dirty="0"/>
          </a:p>
        </p:txBody>
      </p:sp>
      <p:sp>
        <p:nvSpPr>
          <p:cNvPr id="32" name="Text 30"/>
          <p:cNvSpPr/>
          <p:nvPr/>
        </p:nvSpPr>
        <p:spPr>
          <a:xfrm>
            <a:off x="6400800" y="2249424"/>
            <a:ext cx="2423160" cy="475488"/>
          </a:xfrm>
          <a:prstGeom prst="rect">
            <a:avLst/>
          </a:prstGeom>
          <a:noFill/>
          <a:ln/>
        </p:spPr>
        <p:txBody>
          <a:bodyPr wrap="square" rtlCol="0" anchor="ctr"/>
          <a:lstStyle/>
          <a:p>
            <a:pPr algn="ctr" indent="0" marL="0">
              <a:buNone/>
            </a:pPr>
            <a:r>
              <a:rPr lang="en-US" sz="1500" b="1" dirty="0">
                <a:solidFill>
                  <a:srgbClr val="2E7D32"/>
                </a:solidFill>
                <a:latin typeface="Calibri" pitchFamily="34" charset="0"/>
                <a:ea typeface="Calibri" pitchFamily="34" charset="-122"/>
                <a:cs typeface="Calibri" pitchFamily="34" charset="-120"/>
              </a:rPr>
              <a:t>現場知と独占的取得権</a:t>
            </a:r>
            <a:endParaRPr lang="en-US" sz="1500" dirty="0"/>
          </a:p>
        </p:txBody>
      </p:sp>
      <p:sp>
        <p:nvSpPr>
          <p:cNvPr id="33" name="Shape 31"/>
          <p:cNvSpPr/>
          <p:nvPr/>
        </p:nvSpPr>
        <p:spPr>
          <a:xfrm>
            <a:off x="6446520" y="2761488"/>
            <a:ext cx="2331720" cy="0"/>
          </a:xfrm>
          <a:prstGeom prst="line">
            <a:avLst/>
          </a:prstGeom>
          <a:noFill/>
          <a:ln w="6350">
            <a:solidFill>
              <a:srgbClr val="B0C4CE"/>
            </a:solidFill>
            <a:prstDash val="solid"/>
          </a:ln>
        </p:spPr>
      </p:sp>
      <p:sp>
        <p:nvSpPr>
          <p:cNvPr id="34" name="Shape 32"/>
          <p:cNvSpPr/>
          <p:nvPr/>
        </p:nvSpPr>
        <p:spPr>
          <a:xfrm>
            <a:off x="6428232" y="2916936"/>
            <a:ext cx="128016" cy="128016"/>
          </a:xfrm>
          <a:prstGeom prst="ellipse">
            <a:avLst/>
          </a:prstGeom>
          <a:solidFill>
            <a:srgbClr val="2E7D32"/>
          </a:solidFill>
          <a:ln/>
        </p:spPr>
      </p:sp>
      <p:sp>
        <p:nvSpPr>
          <p:cNvPr id="35" name="Text 33"/>
          <p:cNvSpPr/>
          <p:nvPr/>
        </p:nvSpPr>
        <p:spPr>
          <a:xfrm>
            <a:off x="6611112" y="2871216"/>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廃棄物収集許可業者が取得可</a:t>
            </a:r>
            <a:endParaRPr lang="en-US" sz="1100" dirty="0"/>
          </a:p>
        </p:txBody>
      </p:sp>
      <p:sp>
        <p:nvSpPr>
          <p:cNvPr id="36" name="Shape 34"/>
          <p:cNvSpPr/>
          <p:nvPr/>
        </p:nvSpPr>
        <p:spPr>
          <a:xfrm>
            <a:off x="6428232" y="3447288"/>
            <a:ext cx="128016" cy="128016"/>
          </a:xfrm>
          <a:prstGeom prst="ellipse">
            <a:avLst/>
          </a:prstGeom>
          <a:solidFill>
            <a:srgbClr val="2E7D32"/>
          </a:solidFill>
          <a:ln/>
        </p:spPr>
      </p:sp>
      <p:sp>
        <p:nvSpPr>
          <p:cNvPr id="37" name="Text 35"/>
          <p:cNvSpPr/>
          <p:nvPr/>
        </p:nvSpPr>
        <p:spPr>
          <a:xfrm>
            <a:off x="6611112" y="3401568"/>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現地の実態を熟知した人材</a:t>
            </a:r>
            <a:endParaRPr lang="en-US" sz="1100" dirty="0"/>
          </a:p>
        </p:txBody>
      </p:sp>
      <p:sp>
        <p:nvSpPr>
          <p:cNvPr id="38" name="Shape 36"/>
          <p:cNvSpPr/>
          <p:nvPr/>
        </p:nvSpPr>
        <p:spPr>
          <a:xfrm>
            <a:off x="6428232" y="3977640"/>
            <a:ext cx="128016" cy="128016"/>
          </a:xfrm>
          <a:prstGeom prst="ellipse">
            <a:avLst/>
          </a:prstGeom>
          <a:solidFill>
            <a:srgbClr val="2E7D32"/>
          </a:solidFill>
          <a:ln/>
        </p:spPr>
      </p:sp>
      <p:sp>
        <p:nvSpPr>
          <p:cNvPr id="39" name="Text 37"/>
          <p:cNvSpPr/>
          <p:nvPr/>
        </p:nvSpPr>
        <p:spPr>
          <a:xfrm>
            <a:off x="6611112" y="3931920"/>
            <a:ext cx="2240280" cy="457200"/>
          </a:xfrm>
          <a:prstGeom prst="rect">
            <a:avLst/>
          </a:prstGeom>
          <a:noFill/>
          <a:ln/>
        </p:spPr>
        <p:txBody>
          <a:bodyPr wrap="square" rtlCol="0" anchor="ctr"/>
          <a:lstStyle/>
          <a:p>
            <a:pPr indent="0" marL="0">
              <a:buNone/>
            </a:pPr>
            <a:r>
              <a:rPr lang="en-US" sz="1100" dirty="0">
                <a:solidFill>
                  <a:srgbClr val="1A2332"/>
                </a:solidFill>
                <a:latin typeface="Calibri" pitchFamily="34" charset="0"/>
                <a:ea typeface="Calibri" pitchFamily="34" charset="-122"/>
                <a:cs typeface="Calibri" pitchFamily="34" charset="-120"/>
              </a:rPr>
              <a:t>行政・企業との長期信頼関係</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457200" y="201168"/>
            <a:ext cx="2034540" cy="237744"/>
          </a:xfrm>
          <a:prstGeom prst="rect">
            <a:avLst/>
          </a:prstGeom>
          <a:solidFill>
            <a:srgbClr val="00939D"/>
          </a:solidFill>
          <a:ln/>
        </p:spPr>
      </p:sp>
      <p:sp>
        <p:nvSpPr>
          <p:cNvPr id="4" name="Text 2"/>
          <p:cNvSpPr/>
          <p:nvPr/>
        </p:nvSpPr>
        <p:spPr>
          <a:xfrm>
            <a:off x="566928" y="210312"/>
            <a:ext cx="183337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法令・コンプライアンス</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個人情報・プライバシーへの対応方針</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57200" y="1261872"/>
            <a:ext cx="3291840" cy="3703320"/>
          </a:xfrm>
          <a:prstGeom prst="rect">
            <a:avLst/>
          </a:prstGeom>
          <a:solidFill>
            <a:srgbClr val="1E3461"/>
          </a:solidFill>
          <a:ln/>
        </p:spPr>
      </p:sp>
      <p:sp>
        <p:nvSpPr>
          <p:cNvPr id="8" name="Shape 6"/>
          <p:cNvSpPr/>
          <p:nvPr/>
        </p:nvSpPr>
        <p:spPr>
          <a:xfrm>
            <a:off x="457200" y="1261872"/>
            <a:ext cx="54864" cy="3703320"/>
          </a:xfrm>
          <a:prstGeom prst="rect">
            <a:avLst/>
          </a:prstGeom>
          <a:solidFill>
            <a:srgbClr val="00939D"/>
          </a:solidFill>
          <a:ln/>
        </p:spPr>
      </p:sp>
      <p:sp>
        <p:nvSpPr>
          <p:cNvPr id="9" name="Text 7"/>
          <p:cNvSpPr/>
          <p:nvPr/>
        </p:nvSpPr>
        <p:spPr>
          <a:xfrm>
            <a:off x="685800" y="1444752"/>
            <a:ext cx="2971800" cy="749808"/>
          </a:xfrm>
          <a:prstGeom prst="rect">
            <a:avLst/>
          </a:prstGeom>
          <a:noFill/>
          <a:ln/>
        </p:spPr>
        <p:txBody>
          <a:bodyPr wrap="square" rtlCol="0" anchor="ctr"/>
          <a:lstStyle/>
          <a:p>
            <a:pPr indent="0" marL="0">
              <a:lnSpc>
                <a:spcPct val="130000"/>
              </a:lnSpc>
              <a:buNone/>
            </a:pPr>
            <a:r>
              <a:rPr lang="en-US" sz="1800" b="1" dirty="0">
                <a:solidFill>
                  <a:srgbClr val="FFFFFF"/>
                </a:solidFill>
                <a:latin typeface="Calibri" pitchFamily="34" charset="0"/>
                <a:ea typeface="Calibri" pitchFamily="34" charset="-122"/>
                <a:cs typeface="Calibri" pitchFamily="34" charset="-120"/>
              </a:rPr>
              <a:t>個人情報を</a:t>
            </a:r>
            <a:endParaRPr lang="en-US" sz="1800" dirty="0"/>
          </a:p>
          <a:p>
            <a:pPr indent="0" marL="0">
              <a:lnSpc>
                <a:spcPct val="130000"/>
              </a:lnSpc>
              <a:buNone/>
            </a:pPr>
            <a:r>
              <a:rPr lang="en-US" sz="1800" b="1" dirty="0">
                <a:solidFill>
                  <a:srgbClr val="FFFFFF"/>
                </a:solidFill>
                <a:latin typeface="Calibri" pitchFamily="34" charset="0"/>
                <a:ea typeface="Calibri" pitchFamily="34" charset="-122"/>
                <a:cs typeface="Calibri" pitchFamily="34" charset="-120"/>
              </a:rPr>
              <a:t>取得しない設計</a:t>
            </a:r>
            <a:endParaRPr lang="en-US" sz="1800" dirty="0"/>
          </a:p>
        </p:txBody>
      </p:sp>
      <p:sp>
        <p:nvSpPr>
          <p:cNvPr id="10" name="Text 8"/>
          <p:cNvSpPr/>
          <p:nvPr/>
        </p:nvSpPr>
        <p:spPr>
          <a:xfrm>
            <a:off x="685800" y="2240280"/>
            <a:ext cx="2971800" cy="1005840"/>
          </a:xfrm>
          <a:prstGeom prst="rect">
            <a:avLst/>
          </a:prstGeom>
          <a:noFill/>
          <a:ln/>
        </p:spPr>
        <p:txBody>
          <a:bodyPr wrap="square" rtlCol="0" anchor="ctr"/>
          <a:lstStyle/>
          <a:p>
            <a:pPr indent="0" marL="0">
              <a:lnSpc>
                <a:spcPct val="140000"/>
              </a:lnSpc>
              <a:buNone/>
            </a:pPr>
            <a:r>
              <a:rPr lang="en-US" sz="1100" dirty="0">
                <a:solidFill>
                  <a:srgbClr val="C8DCE8"/>
                </a:solidFill>
                <a:latin typeface="Calibri" pitchFamily="34" charset="0"/>
                <a:ea typeface="Calibri" pitchFamily="34" charset="-122"/>
                <a:cs typeface="Calibri" pitchFamily="34" charset="-120"/>
              </a:rPr>
              <a:t>走行センサーシステムは道路インフラ管理に特化した設計のもと、歩行者・車両の個人識別情報を一切保持しない運用体制を採ります。廃棄物量データは施設単位の集計値のみを扱います。</a:t>
            </a:r>
            <a:endParaRPr lang="en-US" sz="1100" dirty="0"/>
          </a:p>
        </p:txBody>
      </p:sp>
      <p:sp>
        <p:nvSpPr>
          <p:cNvPr id="11" name="Text 9"/>
          <p:cNvSpPr/>
          <p:nvPr/>
        </p:nvSpPr>
        <p:spPr>
          <a:xfrm>
            <a:off x="685800" y="3310128"/>
            <a:ext cx="2926080" cy="292608"/>
          </a:xfrm>
          <a:prstGeom prst="rect">
            <a:avLst/>
          </a:prstGeom>
          <a:noFill/>
          <a:ln/>
        </p:spPr>
        <p:txBody>
          <a:bodyPr wrap="square" rtlCol="0" anchor="ctr"/>
          <a:lstStyle/>
          <a:p>
            <a:pPr indent="0" marL="0">
              <a:buNone/>
            </a:pPr>
            <a:r>
              <a:rPr lang="en-US" sz="1000" b="1" spc="50" kern="0" dirty="0">
                <a:solidFill>
                  <a:srgbClr val="00939D"/>
                </a:solidFill>
                <a:latin typeface="Calibri" pitchFamily="34" charset="0"/>
                <a:ea typeface="Calibri" pitchFamily="34" charset="-122"/>
                <a:cs typeface="Calibri" pitchFamily="34" charset="-120"/>
              </a:rPr>
              <a:t>準拠する主な法令</a:t>
            </a:r>
            <a:endParaRPr lang="en-US" sz="1000" dirty="0"/>
          </a:p>
        </p:txBody>
      </p:sp>
      <p:sp>
        <p:nvSpPr>
          <p:cNvPr id="12" name="Shape 10"/>
          <p:cNvSpPr/>
          <p:nvPr/>
        </p:nvSpPr>
        <p:spPr>
          <a:xfrm>
            <a:off x="685800" y="3685032"/>
            <a:ext cx="128016" cy="128016"/>
          </a:xfrm>
          <a:prstGeom prst="ellipse">
            <a:avLst/>
          </a:prstGeom>
          <a:solidFill>
            <a:srgbClr val="00939D"/>
          </a:solidFill>
          <a:ln/>
        </p:spPr>
      </p:sp>
      <p:sp>
        <p:nvSpPr>
          <p:cNvPr id="13" name="Text 11"/>
          <p:cNvSpPr/>
          <p:nvPr/>
        </p:nvSpPr>
        <p:spPr>
          <a:xfrm>
            <a:off x="914400" y="3602736"/>
            <a:ext cx="2788920" cy="310896"/>
          </a:xfrm>
          <a:prstGeom prst="rect">
            <a:avLst/>
          </a:prstGeom>
          <a:noFill/>
          <a:ln/>
        </p:spPr>
        <p:txBody>
          <a:bodyPr wrap="square" rtlCol="0" anchor="ctr"/>
          <a:lstStyle/>
          <a:p>
            <a:pPr indent="0" marL="0">
              <a:buNone/>
            </a:pPr>
            <a:r>
              <a:rPr lang="en-US" sz="1000" dirty="0">
                <a:solidFill>
                  <a:srgbClr val="B0C4CE"/>
                </a:solidFill>
                <a:latin typeface="Calibri" pitchFamily="34" charset="0"/>
                <a:ea typeface="Calibri" pitchFamily="34" charset="-122"/>
                <a:cs typeface="Calibri" pitchFamily="34" charset="-120"/>
              </a:rPr>
              <a:t>個人情報保護法 第17条（適正な取得）</a:t>
            </a:r>
            <a:endParaRPr lang="en-US" sz="1000" dirty="0"/>
          </a:p>
        </p:txBody>
      </p:sp>
      <p:sp>
        <p:nvSpPr>
          <p:cNvPr id="14" name="Shape 12"/>
          <p:cNvSpPr/>
          <p:nvPr/>
        </p:nvSpPr>
        <p:spPr>
          <a:xfrm>
            <a:off x="685800" y="4014216"/>
            <a:ext cx="128016" cy="128016"/>
          </a:xfrm>
          <a:prstGeom prst="ellipse">
            <a:avLst/>
          </a:prstGeom>
          <a:solidFill>
            <a:srgbClr val="00939D"/>
          </a:solidFill>
          <a:ln/>
        </p:spPr>
      </p:sp>
      <p:sp>
        <p:nvSpPr>
          <p:cNvPr id="15" name="Text 13"/>
          <p:cNvSpPr/>
          <p:nvPr/>
        </p:nvSpPr>
        <p:spPr>
          <a:xfrm>
            <a:off x="914400" y="3931920"/>
            <a:ext cx="2788920" cy="310896"/>
          </a:xfrm>
          <a:prstGeom prst="rect">
            <a:avLst/>
          </a:prstGeom>
          <a:noFill/>
          <a:ln/>
        </p:spPr>
        <p:txBody>
          <a:bodyPr wrap="square" rtlCol="0" anchor="ctr"/>
          <a:lstStyle/>
          <a:p>
            <a:pPr indent="0" marL="0">
              <a:buNone/>
            </a:pPr>
            <a:r>
              <a:rPr lang="en-US" sz="1000" dirty="0">
                <a:solidFill>
                  <a:srgbClr val="B0C4CE"/>
                </a:solidFill>
                <a:latin typeface="Calibri" pitchFamily="34" charset="0"/>
                <a:ea typeface="Calibri" pitchFamily="34" charset="-122"/>
                <a:cs typeface="Calibri" pitchFamily="34" charset="-120"/>
              </a:rPr>
              <a:t>個人情報保護法 第27条（第三者提供制限）</a:t>
            </a:r>
            <a:endParaRPr lang="en-US" sz="1000" dirty="0"/>
          </a:p>
        </p:txBody>
      </p:sp>
      <p:sp>
        <p:nvSpPr>
          <p:cNvPr id="16" name="Shape 14"/>
          <p:cNvSpPr/>
          <p:nvPr/>
        </p:nvSpPr>
        <p:spPr>
          <a:xfrm>
            <a:off x="685800" y="4343400"/>
            <a:ext cx="128016" cy="128016"/>
          </a:xfrm>
          <a:prstGeom prst="ellipse">
            <a:avLst/>
          </a:prstGeom>
          <a:solidFill>
            <a:srgbClr val="00939D"/>
          </a:solidFill>
          <a:ln/>
        </p:spPr>
      </p:sp>
      <p:sp>
        <p:nvSpPr>
          <p:cNvPr id="17" name="Text 15"/>
          <p:cNvSpPr/>
          <p:nvPr/>
        </p:nvSpPr>
        <p:spPr>
          <a:xfrm>
            <a:off x="914400" y="4261104"/>
            <a:ext cx="2788920" cy="310896"/>
          </a:xfrm>
          <a:prstGeom prst="rect">
            <a:avLst/>
          </a:prstGeom>
          <a:noFill/>
          <a:ln/>
        </p:spPr>
        <p:txBody>
          <a:bodyPr wrap="square" rtlCol="0" anchor="ctr"/>
          <a:lstStyle/>
          <a:p>
            <a:pPr indent="0" marL="0">
              <a:buNone/>
            </a:pPr>
            <a:r>
              <a:rPr lang="en-US" sz="1000" dirty="0">
                <a:solidFill>
                  <a:srgbClr val="B0C4CE"/>
                </a:solidFill>
                <a:latin typeface="Calibri" pitchFamily="34" charset="0"/>
                <a:ea typeface="Calibri" pitchFamily="34" charset="-122"/>
                <a:cs typeface="Calibri" pitchFamily="34" charset="-120"/>
              </a:rPr>
              <a:t>川崎市個人情報保護条例 への準拠</a:t>
            </a:r>
            <a:endParaRPr lang="en-US" sz="1000" dirty="0"/>
          </a:p>
        </p:txBody>
      </p:sp>
      <p:sp>
        <p:nvSpPr>
          <p:cNvPr id="18" name="Shape 16"/>
          <p:cNvSpPr/>
          <p:nvPr/>
        </p:nvSpPr>
        <p:spPr>
          <a:xfrm>
            <a:off x="4005072" y="1261872"/>
            <a:ext cx="475488" cy="475488"/>
          </a:xfrm>
          <a:prstGeom prst="ellipse">
            <a:avLst/>
          </a:prstGeom>
          <a:solidFill>
            <a:srgbClr val="1E3461"/>
          </a:solidFill>
          <a:ln/>
        </p:spPr>
      </p:sp>
      <p:sp>
        <p:nvSpPr>
          <p:cNvPr id="19" name="Text 17"/>
          <p:cNvSpPr/>
          <p:nvPr/>
        </p:nvSpPr>
        <p:spPr>
          <a:xfrm>
            <a:off x="4005072" y="126187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8"/>
          <p:cNvSpPr/>
          <p:nvPr/>
        </p:nvSpPr>
        <p:spPr>
          <a:xfrm>
            <a:off x="4572000" y="1307592"/>
            <a:ext cx="4251960" cy="365760"/>
          </a:xfrm>
          <a:prstGeom prst="rect">
            <a:avLst/>
          </a:prstGeom>
          <a:noFill/>
          <a:ln/>
        </p:spPr>
        <p:txBody>
          <a:bodyPr wrap="square" rtlCol="0" anchor="ctr"/>
          <a:lstStyle/>
          <a:p>
            <a:pPr indent="0" marL="0">
              <a:buNone/>
            </a:pPr>
            <a:r>
              <a:rPr lang="en-US" sz="1400" b="1" dirty="0">
                <a:solidFill>
                  <a:srgbClr val="1E3461"/>
                </a:solidFill>
                <a:latin typeface="Calibri" pitchFamily="34" charset="0"/>
                <a:ea typeface="Calibri" pitchFamily="34" charset="-122"/>
                <a:cs typeface="Calibri" pitchFamily="34" charset="-120"/>
              </a:rPr>
              <a:t>エッジAIによる自動マスキング</a:t>
            </a:r>
            <a:endParaRPr lang="en-US" sz="1400" dirty="0"/>
          </a:p>
        </p:txBody>
      </p:sp>
      <p:sp>
        <p:nvSpPr>
          <p:cNvPr id="21" name="Text 19"/>
          <p:cNvSpPr/>
          <p:nvPr/>
        </p:nvSpPr>
        <p:spPr>
          <a:xfrm>
            <a:off x="4572000" y="1700784"/>
            <a:ext cx="4251960" cy="713232"/>
          </a:xfrm>
          <a:prstGeom prst="rect">
            <a:avLst/>
          </a:prstGeom>
          <a:noFill/>
          <a:ln/>
        </p:spPr>
        <p:txBody>
          <a:bodyPr wrap="square" rtlCol="0" anchor="ctr"/>
          <a:lstStyle/>
          <a:p>
            <a:pPr indent="0" marL="0">
              <a:lnSpc>
                <a:spcPct val="135000"/>
              </a:lnSpc>
              <a:buNone/>
            </a:pPr>
            <a:r>
              <a:rPr lang="en-US" sz="1150" dirty="0">
                <a:solidFill>
                  <a:srgbClr val="546E7A"/>
                </a:solidFill>
                <a:latin typeface="Calibri" pitchFamily="34" charset="0"/>
                <a:ea typeface="Calibri" pitchFamily="34" charset="-122"/>
                <a:cs typeface="Calibri" pitchFamily="34" charset="-120"/>
              </a:rPr>
              <a:t>歩行者の顔・車両ナンバープレートをカメラ搭載のエッジAIがリアルタイムで自動処理。個人を識別できる情報は収集・保存しません。</a:t>
            </a:r>
            <a:endParaRPr lang="en-US" sz="1150" dirty="0"/>
          </a:p>
        </p:txBody>
      </p:sp>
      <p:sp>
        <p:nvSpPr>
          <p:cNvPr id="22" name="Shape 20"/>
          <p:cNvSpPr/>
          <p:nvPr/>
        </p:nvSpPr>
        <p:spPr>
          <a:xfrm>
            <a:off x="4005072" y="2423160"/>
            <a:ext cx="4828032" cy="0"/>
          </a:xfrm>
          <a:prstGeom prst="line">
            <a:avLst/>
          </a:prstGeom>
          <a:noFill/>
          <a:ln w="6350">
            <a:solidFill>
              <a:srgbClr val="B0C4CE"/>
            </a:solidFill>
            <a:prstDash val="solid"/>
          </a:ln>
        </p:spPr>
      </p:sp>
      <p:sp>
        <p:nvSpPr>
          <p:cNvPr id="23" name="Shape 21"/>
          <p:cNvSpPr/>
          <p:nvPr/>
        </p:nvSpPr>
        <p:spPr>
          <a:xfrm>
            <a:off x="4005072" y="2487168"/>
            <a:ext cx="475488" cy="475488"/>
          </a:xfrm>
          <a:prstGeom prst="ellipse">
            <a:avLst/>
          </a:prstGeom>
          <a:solidFill>
            <a:srgbClr val="00939D"/>
          </a:solidFill>
          <a:ln/>
        </p:spPr>
      </p:sp>
      <p:sp>
        <p:nvSpPr>
          <p:cNvPr id="24" name="Text 22"/>
          <p:cNvSpPr/>
          <p:nvPr/>
        </p:nvSpPr>
        <p:spPr>
          <a:xfrm>
            <a:off x="4005072" y="248716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5" name="Text 23"/>
          <p:cNvSpPr/>
          <p:nvPr/>
        </p:nvSpPr>
        <p:spPr>
          <a:xfrm>
            <a:off x="4572000" y="2532888"/>
            <a:ext cx="4251960" cy="365760"/>
          </a:xfrm>
          <a:prstGeom prst="rect">
            <a:avLst/>
          </a:prstGeom>
          <a:noFill/>
          <a:ln/>
        </p:spPr>
        <p:txBody>
          <a:bodyPr wrap="square" rtlCol="0" anchor="ctr"/>
          <a:lstStyle/>
          <a:p>
            <a:pPr indent="0" marL="0">
              <a:buNone/>
            </a:pPr>
            <a:r>
              <a:rPr lang="en-US" sz="1400" b="1" dirty="0">
                <a:solidFill>
                  <a:srgbClr val="1E3461"/>
                </a:solidFill>
                <a:latin typeface="Calibri" pitchFamily="34" charset="0"/>
                <a:ea typeface="Calibri" pitchFamily="34" charset="-122"/>
                <a:cs typeface="Calibri" pitchFamily="34" charset="-120"/>
              </a:rPr>
              <a:t>データの暗号化と厳格なアクセス管理</a:t>
            </a:r>
            <a:endParaRPr lang="en-US" sz="1400" dirty="0"/>
          </a:p>
        </p:txBody>
      </p:sp>
      <p:sp>
        <p:nvSpPr>
          <p:cNvPr id="26" name="Text 24"/>
          <p:cNvSpPr/>
          <p:nvPr/>
        </p:nvSpPr>
        <p:spPr>
          <a:xfrm>
            <a:off x="4572000" y="2926080"/>
            <a:ext cx="4251960" cy="713232"/>
          </a:xfrm>
          <a:prstGeom prst="rect">
            <a:avLst/>
          </a:prstGeom>
          <a:noFill/>
          <a:ln/>
        </p:spPr>
        <p:txBody>
          <a:bodyPr wrap="square" rtlCol="0" anchor="ctr"/>
          <a:lstStyle/>
          <a:p>
            <a:pPr indent="0" marL="0">
              <a:lnSpc>
                <a:spcPct val="135000"/>
              </a:lnSpc>
              <a:buNone/>
            </a:pPr>
            <a:r>
              <a:rPr lang="en-US" sz="1150" dirty="0">
                <a:solidFill>
                  <a:srgbClr val="546E7A"/>
                </a:solidFill>
                <a:latin typeface="Calibri" pitchFamily="34" charset="0"/>
                <a:ea typeface="Calibri" pitchFamily="34" charset="-122"/>
                <a:cs typeface="Calibri" pitchFamily="34" charset="-120"/>
              </a:rPr>
              <a:t>収集データは暗号化のうえクラウド管理。アクセス権限は最小限に設定し、定期的なセキュリティ監査を実施します。</a:t>
            </a:r>
            <a:endParaRPr lang="en-US" sz="1150" dirty="0"/>
          </a:p>
        </p:txBody>
      </p:sp>
      <p:sp>
        <p:nvSpPr>
          <p:cNvPr id="27" name="Shape 25"/>
          <p:cNvSpPr/>
          <p:nvPr/>
        </p:nvSpPr>
        <p:spPr>
          <a:xfrm>
            <a:off x="4005072" y="3648456"/>
            <a:ext cx="4828032" cy="0"/>
          </a:xfrm>
          <a:prstGeom prst="line">
            <a:avLst/>
          </a:prstGeom>
          <a:noFill/>
          <a:ln w="6350">
            <a:solidFill>
              <a:srgbClr val="B0C4CE"/>
            </a:solidFill>
            <a:prstDash val="solid"/>
          </a:ln>
        </p:spPr>
      </p:sp>
      <p:sp>
        <p:nvSpPr>
          <p:cNvPr id="28" name="Shape 26"/>
          <p:cNvSpPr/>
          <p:nvPr/>
        </p:nvSpPr>
        <p:spPr>
          <a:xfrm>
            <a:off x="4005072" y="3712464"/>
            <a:ext cx="475488" cy="475488"/>
          </a:xfrm>
          <a:prstGeom prst="ellipse">
            <a:avLst/>
          </a:prstGeom>
          <a:solidFill>
            <a:srgbClr val="2E7D32"/>
          </a:solidFill>
          <a:ln/>
        </p:spPr>
      </p:sp>
      <p:sp>
        <p:nvSpPr>
          <p:cNvPr id="29" name="Text 27"/>
          <p:cNvSpPr/>
          <p:nvPr/>
        </p:nvSpPr>
        <p:spPr>
          <a:xfrm>
            <a:off x="4005072" y="3712464"/>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0" name="Text 28"/>
          <p:cNvSpPr/>
          <p:nvPr/>
        </p:nvSpPr>
        <p:spPr>
          <a:xfrm>
            <a:off x="4572000" y="3758184"/>
            <a:ext cx="4251960" cy="365760"/>
          </a:xfrm>
          <a:prstGeom prst="rect">
            <a:avLst/>
          </a:prstGeom>
          <a:noFill/>
          <a:ln/>
        </p:spPr>
        <p:txBody>
          <a:bodyPr wrap="square" rtlCol="0" anchor="ctr"/>
          <a:lstStyle/>
          <a:p>
            <a:pPr indent="0" marL="0">
              <a:buNone/>
            </a:pPr>
            <a:r>
              <a:rPr lang="en-US" sz="1400" b="1" dirty="0">
                <a:solidFill>
                  <a:srgbClr val="1E3461"/>
                </a:solidFill>
                <a:latin typeface="Calibri" pitchFamily="34" charset="0"/>
                <a:ea typeface="Calibri" pitchFamily="34" charset="-122"/>
                <a:cs typeface="Calibri" pitchFamily="34" charset="-120"/>
              </a:rPr>
              <a:t>行政との協議による運用体制の整備</a:t>
            </a:r>
            <a:endParaRPr lang="en-US" sz="1400" dirty="0"/>
          </a:p>
        </p:txBody>
      </p:sp>
      <p:sp>
        <p:nvSpPr>
          <p:cNvPr id="31" name="Text 29"/>
          <p:cNvSpPr/>
          <p:nvPr/>
        </p:nvSpPr>
        <p:spPr>
          <a:xfrm>
            <a:off x="4572000" y="4151376"/>
            <a:ext cx="4251960" cy="713232"/>
          </a:xfrm>
          <a:prstGeom prst="rect">
            <a:avLst/>
          </a:prstGeom>
          <a:noFill/>
          <a:ln/>
        </p:spPr>
        <p:txBody>
          <a:bodyPr wrap="square" rtlCol="0" anchor="ctr"/>
          <a:lstStyle/>
          <a:p>
            <a:pPr indent="0" marL="0">
              <a:lnSpc>
                <a:spcPct val="135000"/>
              </a:lnSpc>
              <a:buNone/>
            </a:pPr>
            <a:r>
              <a:rPr lang="en-US" sz="1150" dirty="0">
                <a:solidFill>
                  <a:srgbClr val="546E7A"/>
                </a:solidFill>
                <a:latin typeface="Calibri" pitchFamily="34" charset="0"/>
                <a:ea typeface="Calibri" pitchFamily="34" charset="-122"/>
                <a:cs typeface="Calibri" pitchFamily="34" charset="-120"/>
              </a:rPr>
              <a:t>川崎市情報セキュリティ担当部署と協議のうえ、データ管理規程・利用目的・保存期間・消去プロセスを明文化します。</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8"/>
          </a:solidFill>
          <a:ln/>
        </p:spPr>
      </p:sp>
      <p:sp>
        <p:nvSpPr>
          <p:cNvPr id="3" name="Shape 1"/>
          <p:cNvSpPr/>
          <p:nvPr/>
        </p:nvSpPr>
        <p:spPr>
          <a:xfrm>
            <a:off x="457200" y="201168"/>
            <a:ext cx="1394460" cy="237744"/>
          </a:xfrm>
          <a:prstGeom prst="rect">
            <a:avLst/>
          </a:prstGeom>
          <a:solidFill>
            <a:srgbClr val="00939D"/>
          </a:solidFill>
          <a:ln/>
        </p:spPr>
      </p:sp>
      <p:sp>
        <p:nvSpPr>
          <p:cNvPr id="4" name="Text 2"/>
          <p:cNvSpPr/>
          <p:nvPr/>
        </p:nvSpPr>
        <p:spPr>
          <a:xfrm>
            <a:off x="566928" y="210312"/>
            <a:ext cx="119329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実証実験の設計</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小さく始め、効果を定量的に検証する</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11480" y="1261872"/>
            <a:ext cx="1938528" cy="1783080"/>
          </a:xfrm>
          <a:prstGeom prst="rect">
            <a:avLst/>
          </a:prstGeom>
          <a:solidFill>
            <a:srgbClr val="FFFFFF"/>
          </a:solidFill>
          <a:ln w="9525">
            <a:solidFill>
              <a:srgbClr val="D8E4EE"/>
            </a:solidFill>
            <a:prstDash val="solid"/>
          </a:ln>
        </p:spPr>
      </p:sp>
      <p:sp>
        <p:nvSpPr>
          <p:cNvPr id="8" name="Shape 6"/>
          <p:cNvSpPr/>
          <p:nvPr/>
        </p:nvSpPr>
        <p:spPr>
          <a:xfrm>
            <a:off x="411480" y="1261872"/>
            <a:ext cx="1938528" cy="54864"/>
          </a:xfrm>
          <a:prstGeom prst="rect">
            <a:avLst/>
          </a:prstGeom>
          <a:solidFill>
            <a:srgbClr val="00939D"/>
          </a:solidFill>
          <a:ln/>
        </p:spPr>
      </p:sp>
      <p:sp>
        <p:nvSpPr>
          <p:cNvPr id="9" name="Shape 7"/>
          <p:cNvSpPr/>
          <p:nvPr/>
        </p:nvSpPr>
        <p:spPr>
          <a:xfrm>
            <a:off x="521208" y="1389888"/>
            <a:ext cx="1719072" cy="256032"/>
          </a:xfrm>
          <a:prstGeom prst="rect">
            <a:avLst/>
          </a:prstGeom>
          <a:solidFill>
            <a:srgbClr val="E8F0F7"/>
          </a:solidFill>
          <a:ln/>
        </p:spPr>
      </p:sp>
      <p:sp>
        <p:nvSpPr>
          <p:cNvPr id="10" name="Text 8"/>
          <p:cNvSpPr/>
          <p:nvPr/>
        </p:nvSpPr>
        <p:spPr>
          <a:xfrm>
            <a:off x="521208" y="1389888"/>
            <a:ext cx="1719072" cy="256032"/>
          </a:xfrm>
          <a:prstGeom prst="rect">
            <a:avLst/>
          </a:prstGeom>
          <a:noFill/>
          <a:ln/>
        </p:spPr>
        <p:txBody>
          <a:bodyPr wrap="square" rtlCol="0" anchor="ctr"/>
          <a:lstStyle/>
          <a:p>
            <a:pPr algn="ctr" indent="0" marL="0">
              <a:buNone/>
            </a:pPr>
            <a:r>
              <a:rPr lang="en-US" sz="950" b="1" spc="50" kern="0" dirty="0">
                <a:solidFill>
                  <a:srgbClr val="006B74"/>
                </a:solidFill>
                <a:latin typeface="Calibri" pitchFamily="34" charset="0"/>
                <a:ea typeface="Calibri" pitchFamily="34" charset="-122"/>
                <a:cs typeface="Calibri" pitchFamily="34" charset="-120"/>
              </a:rPr>
              <a:t>対象エリア</a:t>
            </a:r>
            <a:endParaRPr lang="en-US" sz="950" dirty="0"/>
          </a:p>
        </p:txBody>
      </p:sp>
      <p:sp>
        <p:nvSpPr>
          <p:cNvPr id="11" name="Text 9"/>
          <p:cNvSpPr/>
          <p:nvPr/>
        </p:nvSpPr>
        <p:spPr>
          <a:xfrm>
            <a:off x="502920" y="1691640"/>
            <a:ext cx="1755648" cy="804672"/>
          </a:xfrm>
          <a:prstGeom prst="rect">
            <a:avLst/>
          </a:prstGeom>
          <a:noFill/>
          <a:ln/>
        </p:spPr>
        <p:txBody>
          <a:bodyPr wrap="square" rtlCol="0" anchor="ctr"/>
          <a:lstStyle/>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川崎区・中原区</a:t>
            </a:r>
            <a:endParaRPr lang="en-US" sz="1100" dirty="0"/>
          </a:p>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幹線道路を優先指定</a:t>
            </a:r>
            <a:endParaRPr lang="en-US" sz="1100" dirty="0"/>
          </a:p>
        </p:txBody>
      </p:sp>
      <p:sp>
        <p:nvSpPr>
          <p:cNvPr id="12" name="Shape 10"/>
          <p:cNvSpPr/>
          <p:nvPr/>
        </p:nvSpPr>
        <p:spPr>
          <a:xfrm>
            <a:off x="2514600" y="1261872"/>
            <a:ext cx="1938528" cy="1783080"/>
          </a:xfrm>
          <a:prstGeom prst="rect">
            <a:avLst/>
          </a:prstGeom>
          <a:solidFill>
            <a:srgbClr val="FFFFFF"/>
          </a:solidFill>
          <a:ln w="9525">
            <a:solidFill>
              <a:srgbClr val="D8E4EE"/>
            </a:solidFill>
            <a:prstDash val="solid"/>
          </a:ln>
        </p:spPr>
      </p:sp>
      <p:sp>
        <p:nvSpPr>
          <p:cNvPr id="13" name="Shape 11"/>
          <p:cNvSpPr/>
          <p:nvPr/>
        </p:nvSpPr>
        <p:spPr>
          <a:xfrm>
            <a:off x="2514600" y="1261872"/>
            <a:ext cx="1938528" cy="54864"/>
          </a:xfrm>
          <a:prstGeom prst="rect">
            <a:avLst/>
          </a:prstGeom>
          <a:solidFill>
            <a:srgbClr val="00939D"/>
          </a:solidFill>
          <a:ln/>
        </p:spPr>
      </p:sp>
      <p:sp>
        <p:nvSpPr>
          <p:cNvPr id="14" name="Shape 12"/>
          <p:cNvSpPr/>
          <p:nvPr/>
        </p:nvSpPr>
        <p:spPr>
          <a:xfrm>
            <a:off x="2624328" y="1389888"/>
            <a:ext cx="1719072" cy="256032"/>
          </a:xfrm>
          <a:prstGeom prst="rect">
            <a:avLst/>
          </a:prstGeom>
          <a:solidFill>
            <a:srgbClr val="E8F0F7"/>
          </a:solidFill>
          <a:ln/>
        </p:spPr>
      </p:sp>
      <p:sp>
        <p:nvSpPr>
          <p:cNvPr id="15" name="Text 13"/>
          <p:cNvSpPr/>
          <p:nvPr/>
        </p:nvSpPr>
        <p:spPr>
          <a:xfrm>
            <a:off x="2624328" y="1389888"/>
            <a:ext cx="1719072" cy="256032"/>
          </a:xfrm>
          <a:prstGeom prst="rect">
            <a:avLst/>
          </a:prstGeom>
          <a:noFill/>
          <a:ln/>
        </p:spPr>
        <p:txBody>
          <a:bodyPr wrap="square" rtlCol="0" anchor="ctr"/>
          <a:lstStyle/>
          <a:p>
            <a:pPr algn="ctr" indent="0" marL="0">
              <a:buNone/>
            </a:pPr>
            <a:r>
              <a:rPr lang="en-US" sz="950" b="1" spc="50" kern="0" dirty="0">
                <a:solidFill>
                  <a:srgbClr val="006B74"/>
                </a:solidFill>
                <a:latin typeface="Calibri" pitchFamily="34" charset="0"/>
                <a:ea typeface="Calibri" pitchFamily="34" charset="-122"/>
                <a:cs typeface="Calibri" pitchFamily="34" charset="-120"/>
              </a:rPr>
              <a:t>実施期間</a:t>
            </a:r>
            <a:endParaRPr lang="en-US" sz="950" dirty="0"/>
          </a:p>
        </p:txBody>
      </p:sp>
      <p:sp>
        <p:nvSpPr>
          <p:cNvPr id="16" name="Text 14"/>
          <p:cNvSpPr/>
          <p:nvPr/>
        </p:nvSpPr>
        <p:spPr>
          <a:xfrm>
            <a:off x="2606040" y="1691640"/>
            <a:ext cx="1755648" cy="804672"/>
          </a:xfrm>
          <a:prstGeom prst="rect">
            <a:avLst/>
          </a:prstGeom>
          <a:noFill/>
          <a:ln/>
        </p:spPr>
        <p:txBody>
          <a:bodyPr wrap="square" rtlCol="0" anchor="ctr"/>
          <a:lstStyle/>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第1期  3ヶ月</a:t>
            </a:r>
            <a:endParaRPr lang="en-US" sz="1100" dirty="0"/>
          </a:p>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第2期  3〜6ヶ月</a:t>
            </a:r>
            <a:endParaRPr lang="en-US" sz="1100" dirty="0"/>
          </a:p>
        </p:txBody>
      </p:sp>
      <p:sp>
        <p:nvSpPr>
          <p:cNvPr id="17" name="Shape 15"/>
          <p:cNvSpPr/>
          <p:nvPr/>
        </p:nvSpPr>
        <p:spPr>
          <a:xfrm>
            <a:off x="4617720" y="1261872"/>
            <a:ext cx="1938528" cy="1783080"/>
          </a:xfrm>
          <a:prstGeom prst="rect">
            <a:avLst/>
          </a:prstGeom>
          <a:solidFill>
            <a:srgbClr val="FFFFFF"/>
          </a:solidFill>
          <a:ln w="9525">
            <a:solidFill>
              <a:srgbClr val="D8E4EE"/>
            </a:solidFill>
            <a:prstDash val="solid"/>
          </a:ln>
        </p:spPr>
      </p:sp>
      <p:sp>
        <p:nvSpPr>
          <p:cNvPr id="18" name="Shape 16"/>
          <p:cNvSpPr/>
          <p:nvPr/>
        </p:nvSpPr>
        <p:spPr>
          <a:xfrm>
            <a:off x="4617720" y="1261872"/>
            <a:ext cx="1938528" cy="54864"/>
          </a:xfrm>
          <a:prstGeom prst="rect">
            <a:avLst/>
          </a:prstGeom>
          <a:solidFill>
            <a:srgbClr val="1E3461"/>
          </a:solidFill>
          <a:ln/>
        </p:spPr>
      </p:sp>
      <p:sp>
        <p:nvSpPr>
          <p:cNvPr id="19" name="Shape 17"/>
          <p:cNvSpPr/>
          <p:nvPr/>
        </p:nvSpPr>
        <p:spPr>
          <a:xfrm>
            <a:off x="4727448" y="1389888"/>
            <a:ext cx="1719072" cy="256032"/>
          </a:xfrm>
          <a:prstGeom prst="rect">
            <a:avLst/>
          </a:prstGeom>
          <a:solidFill>
            <a:srgbClr val="E8F0F7"/>
          </a:solidFill>
          <a:ln/>
        </p:spPr>
      </p:sp>
      <p:sp>
        <p:nvSpPr>
          <p:cNvPr id="20" name="Text 18"/>
          <p:cNvSpPr/>
          <p:nvPr/>
        </p:nvSpPr>
        <p:spPr>
          <a:xfrm>
            <a:off x="4727448" y="1389888"/>
            <a:ext cx="1719072" cy="256032"/>
          </a:xfrm>
          <a:prstGeom prst="rect">
            <a:avLst/>
          </a:prstGeom>
          <a:noFill/>
          <a:ln/>
        </p:spPr>
        <p:txBody>
          <a:bodyPr wrap="square" rtlCol="0" anchor="ctr"/>
          <a:lstStyle/>
          <a:p>
            <a:pPr algn="ctr" indent="0" marL="0">
              <a:buNone/>
            </a:pPr>
            <a:r>
              <a:rPr lang="en-US" sz="950" b="1" spc="50" kern="0" dirty="0">
                <a:solidFill>
                  <a:srgbClr val="006B74"/>
                </a:solidFill>
                <a:latin typeface="Calibri" pitchFamily="34" charset="0"/>
                <a:ea typeface="Calibri" pitchFamily="34" charset="-122"/>
                <a:cs typeface="Calibri" pitchFamily="34" charset="-120"/>
              </a:rPr>
              <a:t>センサー車両</a:t>
            </a:r>
            <a:endParaRPr lang="en-US" sz="950" dirty="0"/>
          </a:p>
        </p:txBody>
      </p:sp>
      <p:sp>
        <p:nvSpPr>
          <p:cNvPr id="21" name="Text 19"/>
          <p:cNvSpPr/>
          <p:nvPr/>
        </p:nvSpPr>
        <p:spPr>
          <a:xfrm>
            <a:off x="4709160" y="1691640"/>
            <a:ext cx="1755648" cy="804672"/>
          </a:xfrm>
          <a:prstGeom prst="rect">
            <a:avLst/>
          </a:prstGeom>
          <a:noFill/>
          <a:ln/>
        </p:spPr>
        <p:txBody>
          <a:bodyPr wrap="square" rtlCol="0" anchor="ctr"/>
          <a:lstStyle/>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10〜20台</a:t>
            </a:r>
            <a:endParaRPr lang="en-US" sz="1100" dirty="0"/>
          </a:p>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段階的に拡大</a:t>
            </a:r>
            <a:endParaRPr lang="en-US" sz="1100" dirty="0"/>
          </a:p>
        </p:txBody>
      </p:sp>
      <p:sp>
        <p:nvSpPr>
          <p:cNvPr id="22" name="Shape 20"/>
          <p:cNvSpPr/>
          <p:nvPr/>
        </p:nvSpPr>
        <p:spPr>
          <a:xfrm>
            <a:off x="6720840" y="1261872"/>
            <a:ext cx="1938528" cy="1783080"/>
          </a:xfrm>
          <a:prstGeom prst="rect">
            <a:avLst/>
          </a:prstGeom>
          <a:solidFill>
            <a:srgbClr val="FFFFFF"/>
          </a:solidFill>
          <a:ln w="9525">
            <a:solidFill>
              <a:srgbClr val="D8E4EE"/>
            </a:solidFill>
            <a:prstDash val="solid"/>
          </a:ln>
        </p:spPr>
      </p:sp>
      <p:sp>
        <p:nvSpPr>
          <p:cNvPr id="23" name="Shape 21"/>
          <p:cNvSpPr/>
          <p:nvPr/>
        </p:nvSpPr>
        <p:spPr>
          <a:xfrm>
            <a:off x="6720840" y="1261872"/>
            <a:ext cx="1938528" cy="54864"/>
          </a:xfrm>
          <a:prstGeom prst="rect">
            <a:avLst/>
          </a:prstGeom>
          <a:solidFill>
            <a:srgbClr val="2E7D32"/>
          </a:solidFill>
          <a:ln/>
        </p:spPr>
      </p:sp>
      <p:sp>
        <p:nvSpPr>
          <p:cNvPr id="24" name="Shape 22"/>
          <p:cNvSpPr/>
          <p:nvPr/>
        </p:nvSpPr>
        <p:spPr>
          <a:xfrm>
            <a:off x="6830568" y="1389888"/>
            <a:ext cx="1719072" cy="256032"/>
          </a:xfrm>
          <a:prstGeom prst="rect">
            <a:avLst/>
          </a:prstGeom>
          <a:solidFill>
            <a:srgbClr val="E8F0F7"/>
          </a:solidFill>
          <a:ln/>
        </p:spPr>
      </p:sp>
      <p:sp>
        <p:nvSpPr>
          <p:cNvPr id="25" name="Text 23"/>
          <p:cNvSpPr/>
          <p:nvPr/>
        </p:nvSpPr>
        <p:spPr>
          <a:xfrm>
            <a:off x="6830568" y="1389888"/>
            <a:ext cx="1719072" cy="256032"/>
          </a:xfrm>
          <a:prstGeom prst="rect">
            <a:avLst/>
          </a:prstGeom>
          <a:noFill/>
          <a:ln/>
        </p:spPr>
        <p:txBody>
          <a:bodyPr wrap="square" rtlCol="0" anchor="ctr"/>
          <a:lstStyle/>
          <a:p>
            <a:pPr algn="ctr" indent="0" marL="0">
              <a:buNone/>
            </a:pPr>
            <a:r>
              <a:rPr lang="en-US" sz="950" b="1" spc="50" kern="0" dirty="0">
                <a:solidFill>
                  <a:srgbClr val="006B74"/>
                </a:solidFill>
                <a:latin typeface="Calibri" pitchFamily="34" charset="0"/>
                <a:ea typeface="Calibri" pitchFamily="34" charset="-122"/>
                <a:cs typeface="Calibri" pitchFamily="34" charset="-120"/>
              </a:rPr>
              <a:t>廃棄物収集施設</a:t>
            </a:r>
            <a:endParaRPr lang="en-US" sz="950" dirty="0"/>
          </a:p>
        </p:txBody>
      </p:sp>
      <p:sp>
        <p:nvSpPr>
          <p:cNvPr id="26" name="Text 24"/>
          <p:cNvSpPr/>
          <p:nvPr/>
        </p:nvSpPr>
        <p:spPr>
          <a:xfrm>
            <a:off x="6812280" y="1691640"/>
            <a:ext cx="1755648" cy="804672"/>
          </a:xfrm>
          <a:prstGeom prst="rect">
            <a:avLst/>
          </a:prstGeom>
          <a:noFill/>
          <a:ln/>
        </p:spPr>
        <p:txBody>
          <a:bodyPr wrap="square" rtlCol="0" anchor="ctr"/>
          <a:lstStyle/>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10〜30施設</a:t>
            </a:r>
            <a:endParaRPr lang="en-US" sz="1100" dirty="0"/>
          </a:p>
          <a:p>
            <a:pPr algn="ctr" indent="0" marL="0">
              <a:lnSpc>
                <a:spcPct val="130000"/>
              </a:lnSpc>
              <a:buNone/>
            </a:pPr>
            <a:r>
              <a:rPr lang="en-US" sz="1100" b="1" dirty="0">
                <a:solidFill>
                  <a:srgbClr val="1E3461"/>
                </a:solidFill>
                <a:latin typeface="Calibri" pitchFamily="34" charset="0"/>
                <a:ea typeface="Calibri" pitchFamily="34" charset="-122"/>
                <a:cs typeface="Calibri" pitchFamily="34" charset="-120"/>
              </a:rPr>
              <a:t>川崎市内取引先から選定</a:t>
            </a:r>
            <a:endParaRPr lang="en-US" sz="1100" dirty="0"/>
          </a:p>
        </p:txBody>
      </p:sp>
      <p:sp>
        <p:nvSpPr>
          <p:cNvPr id="27" name="Text 25"/>
          <p:cNvSpPr/>
          <p:nvPr/>
        </p:nvSpPr>
        <p:spPr>
          <a:xfrm>
            <a:off x="457200" y="3182112"/>
            <a:ext cx="7315200" cy="347472"/>
          </a:xfrm>
          <a:prstGeom prst="rect">
            <a:avLst/>
          </a:prstGeom>
          <a:noFill/>
          <a:ln/>
        </p:spPr>
        <p:txBody>
          <a:bodyPr wrap="square" rtlCol="0" anchor="ctr"/>
          <a:lstStyle/>
          <a:p>
            <a:pPr indent="0" marL="0">
              <a:buNone/>
            </a:pPr>
            <a:r>
              <a:rPr lang="en-US" sz="1300" b="1" dirty="0">
                <a:solidFill>
                  <a:srgbClr val="006B74"/>
                </a:solidFill>
                <a:latin typeface="Calibri" pitchFamily="34" charset="0"/>
                <a:ea typeface="Calibri" pitchFamily="34" charset="-122"/>
                <a:cs typeface="Calibri" pitchFamily="34" charset="-120"/>
              </a:rPr>
              <a:t>実証実験において定量的に検証するKPI</a:t>
            </a:r>
            <a:endParaRPr lang="en-US" sz="1300" dirty="0"/>
          </a:p>
        </p:txBody>
      </p:sp>
      <p:sp>
        <p:nvSpPr>
          <p:cNvPr id="28" name="Shape 26"/>
          <p:cNvSpPr/>
          <p:nvPr/>
        </p:nvSpPr>
        <p:spPr>
          <a:xfrm>
            <a:off x="457200" y="3675888"/>
            <a:ext cx="566928" cy="292608"/>
          </a:xfrm>
          <a:prstGeom prst="rect">
            <a:avLst/>
          </a:prstGeom>
          <a:solidFill>
            <a:srgbClr val="00939D"/>
          </a:solidFill>
          <a:ln/>
        </p:spPr>
      </p:sp>
      <p:sp>
        <p:nvSpPr>
          <p:cNvPr id="29" name="Text 27"/>
          <p:cNvSpPr/>
          <p:nvPr/>
        </p:nvSpPr>
        <p:spPr>
          <a:xfrm>
            <a:off x="457200" y="3675888"/>
            <a:ext cx="566928"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 1</a:t>
            </a:r>
            <a:endParaRPr lang="en-US" sz="900" dirty="0"/>
          </a:p>
        </p:txBody>
      </p:sp>
      <p:sp>
        <p:nvSpPr>
          <p:cNvPr id="30" name="Text 28"/>
          <p:cNvSpPr/>
          <p:nvPr/>
        </p:nvSpPr>
        <p:spPr>
          <a:xfrm>
            <a:off x="1143000" y="3685032"/>
            <a:ext cx="7635240" cy="310896"/>
          </a:xfrm>
          <a:prstGeom prst="rect">
            <a:avLst/>
          </a:prstGeom>
          <a:noFill/>
          <a:ln/>
        </p:spPr>
        <p:txBody>
          <a:bodyPr wrap="square" rtlCol="0" anchor="ctr"/>
          <a:lstStyle/>
          <a:p>
            <a:pPr indent="0" marL="0">
              <a:buNone/>
            </a:pPr>
            <a:r>
              <a:rPr lang="en-US" sz="1200" dirty="0">
                <a:solidFill>
                  <a:srgbClr val="1A2332"/>
                </a:solidFill>
                <a:latin typeface="Calibri" pitchFamily="34" charset="0"/>
                <a:ea typeface="Calibri" pitchFamily="34" charset="-122"/>
                <a:cs typeface="Calibri" pitchFamily="34" charset="-120"/>
              </a:rPr>
              <a:t>道路損傷の異常検知精度（検知率・誤検知率・平均検知所要時間）</a:t>
            </a:r>
            <a:endParaRPr lang="en-US" sz="1200" dirty="0"/>
          </a:p>
        </p:txBody>
      </p:sp>
      <p:sp>
        <p:nvSpPr>
          <p:cNvPr id="31" name="Shape 29"/>
          <p:cNvSpPr/>
          <p:nvPr/>
        </p:nvSpPr>
        <p:spPr>
          <a:xfrm>
            <a:off x="457200" y="4023360"/>
            <a:ext cx="8412480" cy="0"/>
          </a:xfrm>
          <a:prstGeom prst="line">
            <a:avLst/>
          </a:prstGeom>
          <a:noFill/>
          <a:ln w="6350">
            <a:solidFill>
              <a:srgbClr val="B0C4CE"/>
            </a:solidFill>
            <a:prstDash val="solid"/>
          </a:ln>
        </p:spPr>
      </p:sp>
      <p:sp>
        <p:nvSpPr>
          <p:cNvPr id="32" name="Shape 30"/>
          <p:cNvSpPr/>
          <p:nvPr/>
        </p:nvSpPr>
        <p:spPr>
          <a:xfrm>
            <a:off x="457200" y="4133088"/>
            <a:ext cx="566928" cy="292608"/>
          </a:xfrm>
          <a:prstGeom prst="rect">
            <a:avLst/>
          </a:prstGeom>
          <a:solidFill>
            <a:srgbClr val="00939D"/>
          </a:solidFill>
          <a:ln/>
        </p:spPr>
      </p:sp>
      <p:sp>
        <p:nvSpPr>
          <p:cNvPr id="33" name="Text 31"/>
          <p:cNvSpPr/>
          <p:nvPr/>
        </p:nvSpPr>
        <p:spPr>
          <a:xfrm>
            <a:off x="457200" y="4133088"/>
            <a:ext cx="566928"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 2</a:t>
            </a:r>
            <a:endParaRPr lang="en-US" sz="900" dirty="0"/>
          </a:p>
        </p:txBody>
      </p:sp>
      <p:sp>
        <p:nvSpPr>
          <p:cNvPr id="34" name="Text 32"/>
          <p:cNvSpPr/>
          <p:nvPr/>
        </p:nvSpPr>
        <p:spPr>
          <a:xfrm>
            <a:off x="1143000" y="4142232"/>
            <a:ext cx="7635240" cy="310896"/>
          </a:xfrm>
          <a:prstGeom prst="rect">
            <a:avLst/>
          </a:prstGeom>
          <a:noFill/>
          <a:ln/>
        </p:spPr>
        <p:txBody>
          <a:bodyPr wrap="square" rtlCol="0" anchor="ctr"/>
          <a:lstStyle/>
          <a:p>
            <a:pPr indent="0" marL="0">
              <a:buNone/>
            </a:pPr>
            <a:r>
              <a:rPr lang="en-US" sz="1200" dirty="0">
                <a:solidFill>
                  <a:srgbClr val="1A2332"/>
                </a:solidFill>
                <a:latin typeface="Calibri" pitchFamily="34" charset="0"/>
                <a:ea typeface="Calibri" pitchFamily="34" charset="-122"/>
                <a:cs typeface="Calibri" pitchFamily="34" charset="-120"/>
              </a:rPr>
              <a:t>道路管理工数の変化（巡回・点検・対応処理 前年度比）</a:t>
            </a:r>
            <a:endParaRPr lang="en-US" sz="1200" dirty="0"/>
          </a:p>
        </p:txBody>
      </p:sp>
      <p:sp>
        <p:nvSpPr>
          <p:cNvPr id="35" name="Shape 33"/>
          <p:cNvSpPr/>
          <p:nvPr/>
        </p:nvSpPr>
        <p:spPr>
          <a:xfrm>
            <a:off x="457200" y="4480560"/>
            <a:ext cx="8412480" cy="0"/>
          </a:xfrm>
          <a:prstGeom prst="line">
            <a:avLst/>
          </a:prstGeom>
          <a:noFill/>
          <a:ln w="6350">
            <a:solidFill>
              <a:srgbClr val="B0C4CE"/>
            </a:solidFill>
            <a:prstDash val="solid"/>
          </a:ln>
        </p:spPr>
      </p:sp>
      <p:sp>
        <p:nvSpPr>
          <p:cNvPr id="36" name="Shape 34"/>
          <p:cNvSpPr/>
          <p:nvPr/>
        </p:nvSpPr>
        <p:spPr>
          <a:xfrm>
            <a:off x="457200" y="4590288"/>
            <a:ext cx="566928" cy="292608"/>
          </a:xfrm>
          <a:prstGeom prst="rect">
            <a:avLst/>
          </a:prstGeom>
          <a:solidFill>
            <a:srgbClr val="2E7D32"/>
          </a:solidFill>
          <a:ln/>
        </p:spPr>
      </p:sp>
      <p:sp>
        <p:nvSpPr>
          <p:cNvPr id="37" name="Text 35"/>
          <p:cNvSpPr/>
          <p:nvPr/>
        </p:nvSpPr>
        <p:spPr>
          <a:xfrm>
            <a:off x="457200" y="4590288"/>
            <a:ext cx="566928"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 3</a:t>
            </a:r>
            <a:endParaRPr lang="en-US" sz="900" dirty="0"/>
          </a:p>
        </p:txBody>
      </p:sp>
      <p:sp>
        <p:nvSpPr>
          <p:cNvPr id="38" name="Text 36"/>
          <p:cNvSpPr/>
          <p:nvPr/>
        </p:nvSpPr>
        <p:spPr>
          <a:xfrm>
            <a:off x="1143000" y="4599432"/>
            <a:ext cx="7635240" cy="310896"/>
          </a:xfrm>
          <a:prstGeom prst="rect">
            <a:avLst/>
          </a:prstGeom>
          <a:noFill/>
          <a:ln/>
        </p:spPr>
        <p:txBody>
          <a:bodyPr wrap="square" rtlCol="0" anchor="ctr"/>
          <a:lstStyle/>
          <a:p>
            <a:pPr indent="0" marL="0">
              <a:buNone/>
            </a:pPr>
            <a:r>
              <a:rPr lang="en-US" sz="1200" dirty="0">
                <a:solidFill>
                  <a:srgbClr val="1A2332"/>
                </a:solidFill>
                <a:latin typeface="Calibri" pitchFamily="34" charset="0"/>
                <a:ea typeface="Calibri" pitchFamily="34" charset="-122"/>
                <a:cs typeface="Calibri" pitchFamily="34" charset="-120"/>
              </a:rPr>
              <a:t>廃棄物排出量データの精度・カバレッジ（施設数・品目網羅率）</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457200" y="201168"/>
            <a:ext cx="914400" cy="237744"/>
          </a:xfrm>
          <a:prstGeom prst="rect">
            <a:avLst/>
          </a:prstGeom>
          <a:solidFill>
            <a:srgbClr val="00939D"/>
          </a:solidFill>
          <a:ln/>
        </p:spPr>
      </p:sp>
      <p:sp>
        <p:nvSpPr>
          <p:cNvPr id="4" name="Text 2"/>
          <p:cNvSpPr/>
          <p:nvPr/>
        </p:nvSpPr>
        <p:spPr>
          <a:xfrm>
            <a:off x="566928" y="210312"/>
            <a:ext cx="71323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想定効果</a:t>
            </a:r>
            <a:endParaRPr lang="en-US" sz="900" dirty="0"/>
          </a:p>
        </p:txBody>
      </p:sp>
      <p:sp>
        <p:nvSpPr>
          <p:cNvPr id="5" name="Text 3"/>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川崎市の都市管理に想定される変化（PoC検証予定）</a:t>
            </a:r>
            <a:endParaRPr lang="en-US" sz="2400" dirty="0"/>
          </a:p>
        </p:txBody>
      </p:sp>
      <p:sp>
        <p:nvSpPr>
          <p:cNvPr id="6" name="Shape 4"/>
          <p:cNvSpPr/>
          <p:nvPr/>
        </p:nvSpPr>
        <p:spPr>
          <a:xfrm>
            <a:off x="457200" y="1115568"/>
            <a:ext cx="8412480" cy="0"/>
          </a:xfrm>
          <a:prstGeom prst="line">
            <a:avLst/>
          </a:prstGeom>
          <a:noFill/>
          <a:ln w="6350">
            <a:solidFill>
              <a:srgbClr val="B0C4CE"/>
            </a:solidFill>
            <a:prstDash val="solid"/>
          </a:ln>
        </p:spPr>
      </p:sp>
      <p:sp>
        <p:nvSpPr>
          <p:cNvPr id="7" name="Shape 5"/>
          <p:cNvSpPr/>
          <p:nvPr/>
        </p:nvSpPr>
        <p:spPr>
          <a:xfrm>
            <a:off x="411480" y="1261872"/>
            <a:ext cx="2697480" cy="3493008"/>
          </a:xfrm>
          <a:prstGeom prst="rect">
            <a:avLst/>
          </a:prstGeom>
          <a:solidFill>
            <a:srgbClr val="F0F4F8"/>
          </a:solidFill>
          <a:ln w="9525">
            <a:solidFill>
              <a:srgbClr val="D8E4EE"/>
            </a:solidFill>
            <a:prstDash val="solid"/>
          </a:ln>
        </p:spPr>
      </p:sp>
      <p:sp>
        <p:nvSpPr>
          <p:cNvPr id="8" name="Shape 6"/>
          <p:cNvSpPr/>
          <p:nvPr/>
        </p:nvSpPr>
        <p:spPr>
          <a:xfrm>
            <a:off x="411480" y="1261872"/>
            <a:ext cx="2697480" cy="54864"/>
          </a:xfrm>
          <a:prstGeom prst="rect">
            <a:avLst/>
          </a:prstGeom>
          <a:solidFill>
            <a:srgbClr val="1E3461"/>
          </a:solidFill>
          <a:ln/>
        </p:spPr>
      </p:sp>
      <p:sp>
        <p:nvSpPr>
          <p:cNvPr id="9" name="Shape 7"/>
          <p:cNvSpPr/>
          <p:nvPr/>
        </p:nvSpPr>
        <p:spPr>
          <a:xfrm>
            <a:off x="1490472" y="1371600"/>
            <a:ext cx="475488" cy="475488"/>
          </a:xfrm>
          <a:prstGeom prst="ellipse">
            <a:avLst/>
          </a:prstGeom>
          <a:solidFill>
            <a:srgbClr val="1E3461"/>
          </a:solidFill>
          <a:ln/>
        </p:spPr>
      </p:sp>
      <p:sp>
        <p:nvSpPr>
          <p:cNvPr id="10" name="Text 8"/>
          <p:cNvSpPr/>
          <p:nvPr/>
        </p:nvSpPr>
        <p:spPr>
          <a:xfrm>
            <a:off x="1490472" y="137160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548640" y="1920240"/>
            <a:ext cx="2423160" cy="420624"/>
          </a:xfrm>
          <a:prstGeom prst="rect">
            <a:avLst/>
          </a:prstGeom>
          <a:noFill/>
          <a:ln/>
        </p:spPr>
        <p:txBody>
          <a:bodyPr wrap="square" rtlCol="0" anchor="ctr"/>
          <a:lstStyle/>
          <a:p>
            <a:pPr algn="ctr" indent="0" marL="0">
              <a:buNone/>
            </a:pPr>
            <a:r>
              <a:rPr lang="en-US" sz="1300" b="1" dirty="0">
                <a:solidFill>
                  <a:srgbClr val="1E3461"/>
                </a:solidFill>
                <a:latin typeface="Calibri" pitchFamily="34" charset="0"/>
                <a:ea typeface="Calibri" pitchFamily="34" charset="-122"/>
                <a:cs typeface="Calibri" pitchFamily="34" charset="-120"/>
              </a:rPr>
              <a:t>道路インフラの予防保全</a:t>
            </a:r>
            <a:endParaRPr lang="en-US" sz="1300" dirty="0"/>
          </a:p>
        </p:txBody>
      </p:sp>
      <p:sp>
        <p:nvSpPr>
          <p:cNvPr id="12" name="Shape 10"/>
          <p:cNvSpPr/>
          <p:nvPr/>
        </p:nvSpPr>
        <p:spPr>
          <a:xfrm>
            <a:off x="594360" y="2377440"/>
            <a:ext cx="2331720" cy="0"/>
          </a:xfrm>
          <a:prstGeom prst="line">
            <a:avLst/>
          </a:prstGeom>
          <a:noFill/>
          <a:ln w="6350">
            <a:solidFill>
              <a:srgbClr val="B0C4CE"/>
            </a:solidFill>
            <a:prstDash val="solid"/>
          </a:ln>
        </p:spPr>
      </p:sp>
      <p:sp>
        <p:nvSpPr>
          <p:cNvPr id="13" name="Shape 11"/>
          <p:cNvSpPr/>
          <p:nvPr/>
        </p:nvSpPr>
        <p:spPr>
          <a:xfrm>
            <a:off x="548640" y="2450592"/>
            <a:ext cx="2423160" cy="201168"/>
          </a:xfrm>
          <a:prstGeom prst="rect">
            <a:avLst/>
          </a:prstGeom>
          <a:solidFill>
            <a:srgbClr val="E8F0F7"/>
          </a:solidFill>
          <a:ln/>
        </p:spPr>
      </p:sp>
      <p:sp>
        <p:nvSpPr>
          <p:cNvPr id="14" name="Text 12"/>
          <p:cNvSpPr/>
          <p:nvPr/>
        </p:nvSpPr>
        <p:spPr>
          <a:xfrm>
            <a:off x="548640" y="2450592"/>
            <a:ext cx="2423160" cy="201168"/>
          </a:xfrm>
          <a:prstGeom prst="rect">
            <a:avLst/>
          </a:prstGeom>
          <a:noFill/>
          <a:ln/>
        </p:spPr>
        <p:txBody>
          <a:bodyPr wrap="square" rtlCol="0" anchor="ctr"/>
          <a:lstStyle/>
          <a:p>
            <a:pPr algn="ctr" indent="0" marL="0">
              <a:buNone/>
            </a:pPr>
            <a:r>
              <a:rPr lang="en-US" sz="850" b="1" spc="100" kern="0" dirty="0">
                <a:solidFill>
                  <a:srgbClr val="546E7A"/>
                </a:solidFill>
                <a:latin typeface="Calibri" pitchFamily="34" charset="0"/>
                <a:ea typeface="Calibri" pitchFamily="34" charset="-122"/>
                <a:cs typeface="Calibri" pitchFamily="34" charset="-120"/>
              </a:rPr>
              <a:t>現状</a:t>
            </a:r>
            <a:endParaRPr lang="en-US" sz="850" dirty="0"/>
          </a:p>
        </p:txBody>
      </p:sp>
      <p:sp>
        <p:nvSpPr>
          <p:cNvPr id="15" name="Text 13"/>
          <p:cNvSpPr/>
          <p:nvPr/>
        </p:nvSpPr>
        <p:spPr>
          <a:xfrm>
            <a:off x="594360" y="2688336"/>
            <a:ext cx="2331720" cy="566928"/>
          </a:xfrm>
          <a:prstGeom prst="rect">
            <a:avLst/>
          </a:prstGeom>
          <a:noFill/>
          <a:ln/>
        </p:spPr>
        <p:txBody>
          <a:bodyPr wrap="square" rtlCol="0" anchor="ctr"/>
          <a:lstStyle/>
          <a:p>
            <a:pPr algn="ctr" indent="0" marL="0">
              <a:lnSpc>
                <a:spcPct val="130000"/>
              </a:lnSpc>
              <a:buNone/>
            </a:pPr>
            <a:r>
              <a:rPr lang="en-US" sz="1200" dirty="0">
                <a:solidFill>
                  <a:srgbClr val="546E7A"/>
                </a:solidFill>
                <a:latin typeface="Calibri" pitchFamily="34" charset="0"/>
                <a:ea typeface="Calibri" pitchFamily="34" charset="-122"/>
                <a:cs typeface="Calibri" pitchFamily="34" charset="-120"/>
              </a:rPr>
              <a:t>市民通報が主な情報源</a:t>
            </a:r>
            <a:endParaRPr lang="en-US" sz="1200" dirty="0"/>
          </a:p>
        </p:txBody>
      </p:sp>
      <p:sp>
        <p:nvSpPr>
          <p:cNvPr id="16" name="Shape 14"/>
          <p:cNvSpPr/>
          <p:nvPr/>
        </p:nvSpPr>
        <p:spPr>
          <a:xfrm>
            <a:off x="1490472" y="3291840"/>
            <a:ext cx="0" cy="219456"/>
          </a:xfrm>
          <a:prstGeom prst="line">
            <a:avLst/>
          </a:prstGeom>
          <a:noFill/>
          <a:ln w="19050">
            <a:solidFill>
              <a:srgbClr val="1E3461"/>
            </a:solidFill>
            <a:prstDash val="solid"/>
          </a:ln>
        </p:spPr>
      </p:sp>
      <p:sp>
        <p:nvSpPr>
          <p:cNvPr id="17" name="Text 15"/>
          <p:cNvSpPr/>
          <p:nvPr/>
        </p:nvSpPr>
        <p:spPr>
          <a:xfrm>
            <a:off x="1399032" y="3456432"/>
            <a:ext cx="713232" cy="256032"/>
          </a:xfrm>
          <a:prstGeom prst="rect">
            <a:avLst/>
          </a:prstGeom>
          <a:noFill/>
          <a:ln/>
        </p:spPr>
        <p:txBody>
          <a:bodyPr wrap="square" rtlCol="0" anchor="ctr"/>
          <a:lstStyle/>
          <a:p>
            <a:pPr algn="ctr" indent="0" marL="0">
              <a:buNone/>
            </a:pPr>
            <a:r>
              <a:rPr lang="en-US" sz="1200" b="1" dirty="0">
                <a:solidFill>
                  <a:srgbClr val="1E3461"/>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548640" y="3749040"/>
            <a:ext cx="2423160" cy="201168"/>
          </a:xfrm>
          <a:prstGeom prst="rect">
            <a:avLst/>
          </a:prstGeom>
          <a:solidFill>
            <a:srgbClr val="1E3461"/>
          </a:solidFill>
          <a:ln/>
        </p:spPr>
      </p:sp>
      <p:sp>
        <p:nvSpPr>
          <p:cNvPr id="19" name="Text 17"/>
          <p:cNvSpPr/>
          <p:nvPr/>
        </p:nvSpPr>
        <p:spPr>
          <a:xfrm>
            <a:off x="548640" y="3749040"/>
            <a:ext cx="2423160" cy="201168"/>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想定効果</a:t>
            </a:r>
            <a:endParaRPr lang="en-US" sz="850" dirty="0"/>
          </a:p>
        </p:txBody>
      </p:sp>
      <p:sp>
        <p:nvSpPr>
          <p:cNvPr id="20" name="Text 18"/>
          <p:cNvSpPr/>
          <p:nvPr/>
        </p:nvSpPr>
        <p:spPr>
          <a:xfrm>
            <a:off x="594360" y="3986784"/>
            <a:ext cx="2331720" cy="566928"/>
          </a:xfrm>
          <a:prstGeom prst="rect">
            <a:avLst/>
          </a:prstGeom>
          <a:noFill/>
          <a:ln/>
        </p:spPr>
        <p:txBody>
          <a:bodyPr wrap="square" rtlCol="0" anchor="ctr"/>
          <a:lstStyle/>
          <a:p>
            <a:pPr algn="ctr" indent="0" marL="0">
              <a:lnSpc>
                <a:spcPct val="130000"/>
              </a:lnSpc>
              <a:buNone/>
            </a:pPr>
            <a:r>
              <a:rPr lang="en-US" sz="1200" b="1" dirty="0">
                <a:solidFill>
                  <a:srgbClr val="1E3461"/>
                </a:solidFill>
                <a:latin typeface="Calibri" pitchFamily="34" charset="0"/>
                <a:ea typeface="Calibri" pitchFamily="34" charset="-122"/>
                <a:cs typeface="Calibri" pitchFamily="34" charset="-120"/>
              </a:rPr>
              <a:t>異常の予兆を早期に自動検知</a:t>
            </a:r>
            <a:endParaRPr lang="en-US" sz="1200" dirty="0"/>
          </a:p>
        </p:txBody>
      </p:sp>
      <p:sp>
        <p:nvSpPr>
          <p:cNvPr id="21" name="Shape 19"/>
          <p:cNvSpPr/>
          <p:nvPr/>
        </p:nvSpPr>
        <p:spPr>
          <a:xfrm>
            <a:off x="3337560" y="1261872"/>
            <a:ext cx="2697480" cy="3493008"/>
          </a:xfrm>
          <a:prstGeom prst="rect">
            <a:avLst/>
          </a:prstGeom>
          <a:solidFill>
            <a:srgbClr val="F0F4F8"/>
          </a:solidFill>
          <a:ln w="9525">
            <a:solidFill>
              <a:srgbClr val="D8E4EE"/>
            </a:solidFill>
            <a:prstDash val="solid"/>
          </a:ln>
        </p:spPr>
      </p:sp>
      <p:sp>
        <p:nvSpPr>
          <p:cNvPr id="22" name="Shape 20"/>
          <p:cNvSpPr/>
          <p:nvPr/>
        </p:nvSpPr>
        <p:spPr>
          <a:xfrm>
            <a:off x="3337560" y="1261872"/>
            <a:ext cx="2697480" cy="54864"/>
          </a:xfrm>
          <a:prstGeom prst="rect">
            <a:avLst/>
          </a:prstGeom>
          <a:solidFill>
            <a:srgbClr val="00939D"/>
          </a:solidFill>
          <a:ln/>
        </p:spPr>
      </p:sp>
      <p:sp>
        <p:nvSpPr>
          <p:cNvPr id="23" name="Shape 21"/>
          <p:cNvSpPr/>
          <p:nvPr/>
        </p:nvSpPr>
        <p:spPr>
          <a:xfrm>
            <a:off x="4416552" y="1371600"/>
            <a:ext cx="475488" cy="475488"/>
          </a:xfrm>
          <a:prstGeom prst="ellipse">
            <a:avLst/>
          </a:prstGeom>
          <a:solidFill>
            <a:srgbClr val="00939D"/>
          </a:solidFill>
          <a:ln/>
        </p:spPr>
      </p:sp>
      <p:sp>
        <p:nvSpPr>
          <p:cNvPr id="24" name="Text 22"/>
          <p:cNvSpPr/>
          <p:nvPr/>
        </p:nvSpPr>
        <p:spPr>
          <a:xfrm>
            <a:off x="4416552" y="137160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5" name="Text 23"/>
          <p:cNvSpPr/>
          <p:nvPr/>
        </p:nvSpPr>
        <p:spPr>
          <a:xfrm>
            <a:off x="3474720" y="1920240"/>
            <a:ext cx="2423160" cy="420624"/>
          </a:xfrm>
          <a:prstGeom prst="rect">
            <a:avLst/>
          </a:prstGeom>
          <a:noFill/>
          <a:ln/>
        </p:spPr>
        <p:txBody>
          <a:bodyPr wrap="square" rtlCol="0" anchor="ctr"/>
          <a:lstStyle/>
          <a:p>
            <a:pPr algn="ctr" indent="0" marL="0">
              <a:buNone/>
            </a:pPr>
            <a:r>
              <a:rPr lang="en-US" sz="1300" b="1" dirty="0">
                <a:solidFill>
                  <a:srgbClr val="00939D"/>
                </a:solidFill>
                <a:latin typeface="Calibri" pitchFamily="34" charset="0"/>
                <a:ea typeface="Calibri" pitchFamily="34" charset="-122"/>
                <a:cs typeface="Calibri" pitchFamily="34" charset="-120"/>
              </a:rPr>
              <a:t>巡回・監視コストの削減</a:t>
            </a:r>
            <a:endParaRPr lang="en-US" sz="1300" dirty="0"/>
          </a:p>
        </p:txBody>
      </p:sp>
      <p:sp>
        <p:nvSpPr>
          <p:cNvPr id="26" name="Shape 24"/>
          <p:cNvSpPr/>
          <p:nvPr/>
        </p:nvSpPr>
        <p:spPr>
          <a:xfrm>
            <a:off x="3520440" y="2377440"/>
            <a:ext cx="2331720" cy="0"/>
          </a:xfrm>
          <a:prstGeom prst="line">
            <a:avLst/>
          </a:prstGeom>
          <a:noFill/>
          <a:ln w="6350">
            <a:solidFill>
              <a:srgbClr val="B0C4CE"/>
            </a:solidFill>
            <a:prstDash val="solid"/>
          </a:ln>
        </p:spPr>
      </p:sp>
      <p:sp>
        <p:nvSpPr>
          <p:cNvPr id="27" name="Shape 25"/>
          <p:cNvSpPr/>
          <p:nvPr/>
        </p:nvSpPr>
        <p:spPr>
          <a:xfrm>
            <a:off x="3474720" y="2450592"/>
            <a:ext cx="2423160" cy="201168"/>
          </a:xfrm>
          <a:prstGeom prst="rect">
            <a:avLst/>
          </a:prstGeom>
          <a:solidFill>
            <a:srgbClr val="E8F0F7"/>
          </a:solidFill>
          <a:ln/>
        </p:spPr>
      </p:sp>
      <p:sp>
        <p:nvSpPr>
          <p:cNvPr id="28" name="Text 26"/>
          <p:cNvSpPr/>
          <p:nvPr/>
        </p:nvSpPr>
        <p:spPr>
          <a:xfrm>
            <a:off x="3474720" y="2450592"/>
            <a:ext cx="2423160" cy="201168"/>
          </a:xfrm>
          <a:prstGeom prst="rect">
            <a:avLst/>
          </a:prstGeom>
          <a:noFill/>
          <a:ln/>
        </p:spPr>
        <p:txBody>
          <a:bodyPr wrap="square" rtlCol="0" anchor="ctr"/>
          <a:lstStyle/>
          <a:p>
            <a:pPr algn="ctr" indent="0" marL="0">
              <a:buNone/>
            </a:pPr>
            <a:r>
              <a:rPr lang="en-US" sz="850" b="1" spc="100" kern="0" dirty="0">
                <a:solidFill>
                  <a:srgbClr val="546E7A"/>
                </a:solidFill>
                <a:latin typeface="Calibri" pitchFamily="34" charset="0"/>
                <a:ea typeface="Calibri" pitchFamily="34" charset="-122"/>
                <a:cs typeface="Calibri" pitchFamily="34" charset="-120"/>
              </a:rPr>
              <a:t>現状</a:t>
            </a:r>
            <a:endParaRPr lang="en-US" sz="850" dirty="0"/>
          </a:p>
        </p:txBody>
      </p:sp>
      <p:sp>
        <p:nvSpPr>
          <p:cNvPr id="29" name="Text 27"/>
          <p:cNvSpPr/>
          <p:nvPr/>
        </p:nvSpPr>
        <p:spPr>
          <a:xfrm>
            <a:off x="3520440" y="2688336"/>
            <a:ext cx="2331720" cy="566928"/>
          </a:xfrm>
          <a:prstGeom prst="rect">
            <a:avLst/>
          </a:prstGeom>
          <a:noFill/>
          <a:ln/>
        </p:spPr>
        <p:txBody>
          <a:bodyPr wrap="square" rtlCol="0" anchor="ctr"/>
          <a:lstStyle/>
          <a:p>
            <a:pPr algn="ctr" indent="0" marL="0">
              <a:lnSpc>
                <a:spcPct val="130000"/>
              </a:lnSpc>
              <a:buNone/>
            </a:pPr>
            <a:r>
              <a:rPr lang="en-US" sz="1200" dirty="0">
                <a:solidFill>
                  <a:srgbClr val="546E7A"/>
                </a:solidFill>
                <a:latin typeface="Calibri" pitchFamily="34" charset="0"/>
                <a:ea typeface="Calibri" pitchFamily="34" charset="-122"/>
                <a:cs typeface="Calibri" pitchFamily="34" charset="-120"/>
              </a:rPr>
              <a:t>人的パトロール中心の運用</a:t>
            </a:r>
            <a:endParaRPr lang="en-US" sz="1200" dirty="0"/>
          </a:p>
        </p:txBody>
      </p:sp>
      <p:sp>
        <p:nvSpPr>
          <p:cNvPr id="30" name="Shape 28"/>
          <p:cNvSpPr/>
          <p:nvPr/>
        </p:nvSpPr>
        <p:spPr>
          <a:xfrm>
            <a:off x="4416552" y="3291840"/>
            <a:ext cx="0" cy="219456"/>
          </a:xfrm>
          <a:prstGeom prst="line">
            <a:avLst/>
          </a:prstGeom>
          <a:noFill/>
          <a:ln w="19050">
            <a:solidFill>
              <a:srgbClr val="00939D"/>
            </a:solidFill>
            <a:prstDash val="solid"/>
          </a:ln>
        </p:spPr>
      </p:sp>
      <p:sp>
        <p:nvSpPr>
          <p:cNvPr id="31" name="Text 29"/>
          <p:cNvSpPr/>
          <p:nvPr/>
        </p:nvSpPr>
        <p:spPr>
          <a:xfrm>
            <a:off x="4325112" y="3456432"/>
            <a:ext cx="713232" cy="256032"/>
          </a:xfrm>
          <a:prstGeom prst="rect">
            <a:avLst/>
          </a:prstGeom>
          <a:noFill/>
          <a:ln/>
        </p:spPr>
        <p:txBody>
          <a:bodyPr wrap="square" rtlCol="0" anchor="ctr"/>
          <a:lstStyle/>
          <a:p>
            <a:pPr algn="ctr" indent="0" marL="0">
              <a:buNone/>
            </a:pPr>
            <a:r>
              <a:rPr lang="en-US" sz="1200" b="1" dirty="0">
                <a:solidFill>
                  <a:srgbClr val="00939D"/>
                </a:solidFill>
                <a:latin typeface="Calibri" pitchFamily="34" charset="0"/>
                <a:ea typeface="Calibri" pitchFamily="34" charset="-122"/>
                <a:cs typeface="Calibri" pitchFamily="34" charset="-120"/>
              </a:rPr>
              <a:t>▼</a:t>
            </a:r>
            <a:endParaRPr lang="en-US" sz="1200" dirty="0"/>
          </a:p>
        </p:txBody>
      </p:sp>
      <p:sp>
        <p:nvSpPr>
          <p:cNvPr id="32" name="Shape 30"/>
          <p:cNvSpPr/>
          <p:nvPr/>
        </p:nvSpPr>
        <p:spPr>
          <a:xfrm>
            <a:off x="3474720" y="3749040"/>
            <a:ext cx="2423160" cy="201168"/>
          </a:xfrm>
          <a:prstGeom prst="rect">
            <a:avLst/>
          </a:prstGeom>
          <a:solidFill>
            <a:srgbClr val="00939D"/>
          </a:solidFill>
          <a:ln/>
        </p:spPr>
      </p:sp>
      <p:sp>
        <p:nvSpPr>
          <p:cNvPr id="33" name="Text 31"/>
          <p:cNvSpPr/>
          <p:nvPr/>
        </p:nvSpPr>
        <p:spPr>
          <a:xfrm>
            <a:off x="3474720" y="3749040"/>
            <a:ext cx="2423160" cy="201168"/>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想定効果</a:t>
            </a:r>
            <a:endParaRPr lang="en-US" sz="850" dirty="0"/>
          </a:p>
        </p:txBody>
      </p:sp>
      <p:sp>
        <p:nvSpPr>
          <p:cNvPr id="34" name="Text 32"/>
          <p:cNvSpPr/>
          <p:nvPr/>
        </p:nvSpPr>
        <p:spPr>
          <a:xfrm>
            <a:off x="3520440" y="3986784"/>
            <a:ext cx="2331720" cy="566928"/>
          </a:xfrm>
          <a:prstGeom prst="rect">
            <a:avLst/>
          </a:prstGeom>
          <a:noFill/>
          <a:ln/>
        </p:spPr>
        <p:txBody>
          <a:bodyPr wrap="square" rtlCol="0" anchor="ctr"/>
          <a:lstStyle/>
          <a:p>
            <a:pPr algn="ctr" indent="0" marL="0">
              <a:lnSpc>
                <a:spcPct val="130000"/>
              </a:lnSpc>
              <a:buNone/>
            </a:pPr>
            <a:r>
              <a:rPr lang="en-US" sz="1200" b="1" dirty="0">
                <a:solidFill>
                  <a:srgbClr val="00939D"/>
                </a:solidFill>
                <a:latin typeface="Calibri" pitchFamily="34" charset="0"/>
                <a:ea typeface="Calibri" pitchFamily="34" charset="-122"/>
                <a:cs typeface="Calibri" pitchFamily="34" charset="-120"/>
              </a:rPr>
              <a:t>自動収集が補完し</a:t>
            </a:r>
            <a:endParaRPr lang="en-US" sz="1200" dirty="0"/>
          </a:p>
          <a:p>
            <a:pPr algn="ctr" indent="0" marL="0">
              <a:lnSpc>
                <a:spcPct val="130000"/>
              </a:lnSpc>
              <a:buNone/>
            </a:pPr>
            <a:r>
              <a:rPr lang="en-US" sz="1200" b="1" dirty="0">
                <a:solidFill>
                  <a:srgbClr val="00939D"/>
                </a:solidFill>
                <a:latin typeface="Calibri" pitchFamily="34" charset="0"/>
                <a:ea typeface="Calibri" pitchFamily="34" charset="-122"/>
                <a:cs typeface="Calibri" pitchFamily="34" charset="-120"/>
              </a:rPr>
              <a:t>職員は対応業務に集中</a:t>
            </a:r>
            <a:endParaRPr lang="en-US" sz="1200" dirty="0"/>
          </a:p>
        </p:txBody>
      </p:sp>
      <p:sp>
        <p:nvSpPr>
          <p:cNvPr id="35" name="Shape 33"/>
          <p:cNvSpPr/>
          <p:nvPr/>
        </p:nvSpPr>
        <p:spPr>
          <a:xfrm>
            <a:off x="6263640" y="1261872"/>
            <a:ext cx="2697480" cy="3493008"/>
          </a:xfrm>
          <a:prstGeom prst="rect">
            <a:avLst/>
          </a:prstGeom>
          <a:solidFill>
            <a:srgbClr val="F0F4F8"/>
          </a:solidFill>
          <a:ln w="9525">
            <a:solidFill>
              <a:srgbClr val="D8E4EE"/>
            </a:solidFill>
            <a:prstDash val="solid"/>
          </a:ln>
        </p:spPr>
      </p:sp>
      <p:sp>
        <p:nvSpPr>
          <p:cNvPr id="36" name="Shape 34"/>
          <p:cNvSpPr/>
          <p:nvPr/>
        </p:nvSpPr>
        <p:spPr>
          <a:xfrm>
            <a:off x="6263640" y="1261872"/>
            <a:ext cx="2697480" cy="54864"/>
          </a:xfrm>
          <a:prstGeom prst="rect">
            <a:avLst/>
          </a:prstGeom>
          <a:solidFill>
            <a:srgbClr val="2E7D32"/>
          </a:solidFill>
          <a:ln/>
        </p:spPr>
      </p:sp>
      <p:sp>
        <p:nvSpPr>
          <p:cNvPr id="37" name="Shape 35"/>
          <p:cNvSpPr/>
          <p:nvPr/>
        </p:nvSpPr>
        <p:spPr>
          <a:xfrm>
            <a:off x="7342632" y="1371600"/>
            <a:ext cx="475488" cy="475488"/>
          </a:xfrm>
          <a:prstGeom prst="ellipse">
            <a:avLst/>
          </a:prstGeom>
          <a:solidFill>
            <a:srgbClr val="2E7D32"/>
          </a:solidFill>
          <a:ln/>
        </p:spPr>
      </p:sp>
      <p:sp>
        <p:nvSpPr>
          <p:cNvPr id="38" name="Text 36"/>
          <p:cNvSpPr/>
          <p:nvPr/>
        </p:nvSpPr>
        <p:spPr>
          <a:xfrm>
            <a:off x="7342632" y="137160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9" name="Text 37"/>
          <p:cNvSpPr/>
          <p:nvPr/>
        </p:nvSpPr>
        <p:spPr>
          <a:xfrm>
            <a:off x="6400800" y="1920240"/>
            <a:ext cx="2423160" cy="420624"/>
          </a:xfrm>
          <a:prstGeom prst="rect">
            <a:avLst/>
          </a:prstGeom>
          <a:noFill/>
          <a:ln/>
        </p:spPr>
        <p:txBody>
          <a:bodyPr wrap="square"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廃棄物・環境KPIの高度化</a:t>
            </a:r>
            <a:endParaRPr lang="en-US" sz="1300" dirty="0"/>
          </a:p>
        </p:txBody>
      </p:sp>
      <p:sp>
        <p:nvSpPr>
          <p:cNvPr id="40" name="Shape 38"/>
          <p:cNvSpPr/>
          <p:nvPr/>
        </p:nvSpPr>
        <p:spPr>
          <a:xfrm>
            <a:off x="6446520" y="2377440"/>
            <a:ext cx="2331720" cy="0"/>
          </a:xfrm>
          <a:prstGeom prst="line">
            <a:avLst/>
          </a:prstGeom>
          <a:noFill/>
          <a:ln w="6350">
            <a:solidFill>
              <a:srgbClr val="B0C4CE"/>
            </a:solidFill>
            <a:prstDash val="solid"/>
          </a:ln>
        </p:spPr>
      </p:sp>
      <p:sp>
        <p:nvSpPr>
          <p:cNvPr id="41" name="Shape 39"/>
          <p:cNvSpPr/>
          <p:nvPr/>
        </p:nvSpPr>
        <p:spPr>
          <a:xfrm>
            <a:off x="6400800" y="2450592"/>
            <a:ext cx="2423160" cy="201168"/>
          </a:xfrm>
          <a:prstGeom prst="rect">
            <a:avLst/>
          </a:prstGeom>
          <a:solidFill>
            <a:srgbClr val="E8F0F7"/>
          </a:solidFill>
          <a:ln/>
        </p:spPr>
      </p:sp>
      <p:sp>
        <p:nvSpPr>
          <p:cNvPr id="42" name="Text 40"/>
          <p:cNvSpPr/>
          <p:nvPr/>
        </p:nvSpPr>
        <p:spPr>
          <a:xfrm>
            <a:off x="6400800" y="2450592"/>
            <a:ext cx="2423160" cy="201168"/>
          </a:xfrm>
          <a:prstGeom prst="rect">
            <a:avLst/>
          </a:prstGeom>
          <a:noFill/>
          <a:ln/>
        </p:spPr>
        <p:txBody>
          <a:bodyPr wrap="square" rtlCol="0" anchor="ctr"/>
          <a:lstStyle/>
          <a:p>
            <a:pPr algn="ctr" indent="0" marL="0">
              <a:buNone/>
            </a:pPr>
            <a:r>
              <a:rPr lang="en-US" sz="850" b="1" spc="100" kern="0" dirty="0">
                <a:solidFill>
                  <a:srgbClr val="546E7A"/>
                </a:solidFill>
                <a:latin typeface="Calibri" pitchFamily="34" charset="0"/>
                <a:ea typeface="Calibri" pitchFamily="34" charset="-122"/>
                <a:cs typeface="Calibri" pitchFamily="34" charset="-120"/>
              </a:rPr>
              <a:t>現状</a:t>
            </a:r>
            <a:endParaRPr lang="en-US" sz="850" dirty="0"/>
          </a:p>
        </p:txBody>
      </p:sp>
      <p:sp>
        <p:nvSpPr>
          <p:cNvPr id="43" name="Text 41"/>
          <p:cNvSpPr/>
          <p:nvPr/>
        </p:nvSpPr>
        <p:spPr>
          <a:xfrm>
            <a:off x="6446520" y="2688336"/>
            <a:ext cx="2331720" cy="566928"/>
          </a:xfrm>
          <a:prstGeom prst="rect">
            <a:avLst/>
          </a:prstGeom>
          <a:noFill/>
          <a:ln/>
        </p:spPr>
        <p:txBody>
          <a:bodyPr wrap="square" rtlCol="0" anchor="ctr"/>
          <a:lstStyle/>
          <a:p>
            <a:pPr algn="ctr" indent="0" marL="0">
              <a:lnSpc>
                <a:spcPct val="130000"/>
              </a:lnSpc>
              <a:buNone/>
            </a:pPr>
            <a:r>
              <a:rPr lang="en-US" sz="1200" dirty="0">
                <a:solidFill>
                  <a:srgbClr val="546E7A"/>
                </a:solidFill>
                <a:latin typeface="Calibri" pitchFamily="34" charset="0"/>
                <a:ea typeface="Calibri" pitchFamily="34" charset="-122"/>
                <a:cs typeface="Calibri" pitchFamily="34" charset="-120"/>
              </a:rPr>
              <a:t>廃棄物量は把握しにくく</a:t>
            </a:r>
            <a:endParaRPr lang="en-US" sz="1200" dirty="0"/>
          </a:p>
          <a:p>
            <a:pPr algn="ctr" indent="0" marL="0">
              <a:lnSpc>
                <a:spcPct val="130000"/>
              </a:lnSpc>
              <a:buNone/>
            </a:pPr>
            <a:r>
              <a:rPr lang="en-US" sz="1200" dirty="0">
                <a:solidFill>
                  <a:srgbClr val="546E7A"/>
                </a:solidFill>
                <a:latin typeface="Calibri" pitchFamily="34" charset="0"/>
                <a:ea typeface="Calibri" pitchFamily="34" charset="-122"/>
                <a:cs typeface="Calibri" pitchFamily="34" charset="-120"/>
              </a:rPr>
              <a:t>施策効果を定量化困難</a:t>
            </a:r>
            <a:endParaRPr lang="en-US" sz="1200" dirty="0"/>
          </a:p>
        </p:txBody>
      </p:sp>
      <p:sp>
        <p:nvSpPr>
          <p:cNvPr id="44" name="Shape 42"/>
          <p:cNvSpPr/>
          <p:nvPr/>
        </p:nvSpPr>
        <p:spPr>
          <a:xfrm>
            <a:off x="7342632" y="3291840"/>
            <a:ext cx="0" cy="219456"/>
          </a:xfrm>
          <a:prstGeom prst="line">
            <a:avLst/>
          </a:prstGeom>
          <a:noFill/>
          <a:ln w="19050">
            <a:solidFill>
              <a:srgbClr val="2E7D32"/>
            </a:solidFill>
            <a:prstDash val="solid"/>
          </a:ln>
        </p:spPr>
      </p:sp>
      <p:sp>
        <p:nvSpPr>
          <p:cNvPr id="45" name="Text 43"/>
          <p:cNvSpPr/>
          <p:nvPr/>
        </p:nvSpPr>
        <p:spPr>
          <a:xfrm>
            <a:off x="7251192" y="3456432"/>
            <a:ext cx="713232" cy="256032"/>
          </a:xfrm>
          <a:prstGeom prst="rect">
            <a:avLst/>
          </a:prstGeom>
          <a:noFill/>
          <a:ln/>
        </p:spPr>
        <p:txBody>
          <a:bodyPr wrap="square"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a:t>
            </a:r>
            <a:endParaRPr lang="en-US" sz="1200" dirty="0"/>
          </a:p>
        </p:txBody>
      </p:sp>
      <p:sp>
        <p:nvSpPr>
          <p:cNvPr id="46" name="Shape 44"/>
          <p:cNvSpPr/>
          <p:nvPr/>
        </p:nvSpPr>
        <p:spPr>
          <a:xfrm>
            <a:off x="6400800" y="3749040"/>
            <a:ext cx="2423160" cy="201168"/>
          </a:xfrm>
          <a:prstGeom prst="rect">
            <a:avLst/>
          </a:prstGeom>
          <a:solidFill>
            <a:srgbClr val="2E7D32"/>
          </a:solidFill>
          <a:ln/>
        </p:spPr>
      </p:sp>
      <p:sp>
        <p:nvSpPr>
          <p:cNvPr id="47" name="Text 45"/>
          <p:cNvSpPr/>
          <p:nvPr/>
        </p:nvSpPr>
        <p:spPr>
          <a:xfrm>
            <a:off x="6400800" y="3749040"/>
            <a:ext cx="2423160" cy="201168"/>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想定効果</a:t>
            </a:r>
            <a:endParaRPr lang="en-US" sz="850" dirty="0"/>
          </a:p>
        </p:txBody>
      </p:sp>
      <p:sp>
        <p:nvSpPr>
          <p:cNvPr id="48" name="Text 46"/>
          <p:cNvSpPr/>
          <p:nvPr/>
        </p:nvSpPr>
        <p:spPr>
          <a:xfrm>
            <a:off x="6446520" y="3986784"/>
            <a:ext cx="2331720" cy="566928"/>
          </a:xfrm>
          <a:prstGeom prst="rect">
            <a:avLst/>
          </a:prstGeom>
          <a:noFill/>
          <a:ln/>
        </p:spPr>
        <p:txBody>
          <a:bodyPr wrap="square" rtlCol="0" anchor="ctr"/>
          <a:lstStyle/>
          <a:p>
            <a:pPr algn="ctr" indent="0" marL="0">
              <a:lnSpc>
                <a:spcPct val="130000"/>
              </a:lnSpc>
              <a:buNone/>
            </a:pPr>
            <a:r>
              <a:rPr lang="en-US" sz="1200" b="1" dirty="0">
                <a:solidFill>
                  <a:srgbClr val="2E7D32"/>
                </a:solidFill>
                <a:latin typeface="Calibri" pitchFamily="34" charset="0"/>
                <a:ea typeface="Calibri" pitchFamily="34" charset="-122"/>
                <a:cs typeface="Calibri" pitchFamily="34" charset="-120"/>
              </a:rPr>
              <a:t>施設別データで</a:t>
            </a:r>
            <a:endParaRPr lang="en-US" sz="1200" dirty="0"/>
          </a:p>
          <a:p>
            <a:pPr algn="ctr" indent="0" marL="0">
              <a:lnSpc>
                <a:spcPct val="130000"/>
              </a:lnSpc>
              <a:buNone/>
            </a:pPr>
            <a:r>
              <a:rPr lang="en-US" sz="1200" b="1" dirty="0">
                <a:solidFill>
                  <a:srgbClr val="2E7D32"/>
                </a:solidFill>
                <a:latin typeface="Calibri" pitchFamily="34" charset="0"/>
                <a:ea typeface="Calibri" pitchFamily="34" charset="-122"/>
                <a:cs typeface="Calibri" pitchFamily="34" charset="-120"/>
              </a:rPr>
              <a:t>環境KPIを定量的に検証</a:t>
            </a:r>
            <a:endParaRPr lang="en-US" sz="1200" dirty="0"/>
          </a:p>
        </p:txBody>
      </p:sp>
      <p:sp>
        <p:nvSpPr>
          <p:cNvPr id="49" name="Shape 47"/>
          <p:cNvSpPr/>
          <p:nvPr/>
        </p:nvSpPr>
        <p:spPr>
          <a:xfrm>
            <a:off x="457200" y="4828032"/>
            <a:ext cx="8412480" cy="0"/>
          </a:xfrm>
          <a:prstGeom prst="line">
            <a:avLst/>
          </a:prstGeom>
          <a:noFill/>
          <a:ln w="6350">
            <a:solidFill>
              <a:srgbClr val="B0C4CE"/>
            </a:solidFill>
            <a:prstDash val="solid"/>
          </a:ln>
        </p:spPr>
      </p:sp>
      <p:sp>
        <p:nvSpPr>
          <p:cNvPr id="50" name="Text 48"/>
          <p:cNvSpPr/>
          <p:nvPr/>
        </p:nvSpPr>
        <p:spPr>
          <a:xfrm>
            <a:off x="457200" y="4864608"/>
            <a:ext cx="841248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 上記は想定効果であり、実際の効果はPoC実施後の検証データをもとに確認します。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8"/>
          </a:solidFill>
          <a:ln/>
        </p:spPr>
      </p:sp>
      <p:sp>
        <p:nvSpPr>
          <p:cNvPr id="3" name="Shape 1"/>
          <p:cNvSpPr/>
          <p:nvPr/>
        </p:nvSpPr>
        <p:spPr>
          <a:xfrm>
            <a:off x="0" y="4480560"/>
            <a:ext cx="9144000" cy="662940"/>
          </a:xfrm>
          <a:prstGeom prst="rect">
            <a:avLst/>
          </a:prstGeom>
          <a:solidFill>
            <a:srgbClr val="00939D"/>
          </a:solidFill>
          <a:ln/>
        </p:spPr>
      </p:sp>
      <p:sp>
        <p:nvSpPr>
          <p:cNvPr id="4" name="Shape 2"/>
          <p:cNvSpPr/>
          <p:nvPr/>
        </p:nvSpPr>
        <p:spPr>
          <a:xfrm>
            <a:off x="457200" y="201168"/>
            <a:ext cx="1234440" cy="237744"/>
          </a:xfrm>
          <a:prstGeom prst="rect">
            <a:avLst/>
          </a:prstGeom>
          <a:solidFill>
            <a:srgbClr val="00939D"/>
          </a:solidFill>
          <a:ln/>
        </p:spPr>
      </p:sp>
      <p:sp>
        <p:nvSpPr>
          <p:cNvPr id="5" name="Text 3"/>
          <p:cNvSpPr/>
          <p:nvPr/>
        </p:nvSpPr>
        <p:spPr>
          <a:xfrm>
            <a:off x="566928" y="210312"/>
            <a:ext cx="1033272" cy="219456"/>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今後の進め方</a:t>
            </a:r>
            <a:endParaRPr lang="en-US" sz="900" dirty="0"/>
          </a:p>
        </p:txBody>
      </p:sp>
      <p:sp>
        <p:nvSpPr>
          <p:cNvPr id="6" name="Text 4"/>
          <p:cNvSpPr/>
          <p:nvPr/>
        </p:nvSpPr>
        <p:spPr>
          <a:xfrm>
            <a:off x="457200" y="457200"/>
            <a:ext cx="8412480" cy="731520"/>
          </a:xfrm>
          <a:prstGeom prst="rect">
            <a:avLst/>
          </a:prstGeom>
          <a:noFill/>
          <a:ln/>
        </p:spPr>
        <p:txBody>
          <a:bodyPr wrap="square" rtlCol="0" anchor="ctr"/>
          <a:lstStyle/>
          <a:p>
            <a:pPr indent="0" marL="0">
              <a:buNone/>
            </a:pPr>
            <a:r>
              <a:rPr lang="en-US" sz="2400" b="1" dirty="0">
                <a:solidFill>
                  <a:srgbClr val="1E3461"/>
                </a:solidFill>
                <a:latin typeface="Calibri" pitchFamily="34" charset="0"/>
                <a:ea typeface="Calibri" pitchFamily="34" charset="-122"/>
                <a:cs typeface="Calibri" pitchFamily="34" charset="-120"/>
              </a:rPr>
              <a:t>まずは、ご担当者様とお話しさせてください。</a:t>
            </a:r>
            <a:endParaRPr lang="en-US" sz="2400" dirty="0"/>
          </a:p>
        </p:txBody>
      </p:sp>
      <p:sp>
        <p:nvSpPr>
          <p:cNvPr id="7" name="Shape 5"/>
          <p:cNvSpPr/>
          <p:nvPr/>
        </p:nvSpPr>
        <p:spPr>
          <a:xfrm>
            <a:off x="457200" y="1115568"/>
            <a:ext cx="8412480" cy="0"/>
          </a:xfrm>
          <a:prstGeom prst="line">
            <a:avLst/>
          </a:prstGeom>
          <a:noFill/>
          <a:ln w="6350">
            <a:solidFill>
              <a:srgbClr val="B0C4CE"/>
            </a:solidFill>
            <a:prstDash val="solid"/>
          </a:ln>
        </p:spPr>
      </p:sp>
      <p:sp>
        <p:nvSpPr>
          <p:cNvPr id="8" name="Shape 6"/>
          <p:cNvSpPr/>
          <p:nvPr/>
        </p:nvSpPr>
        <p:spPr>
          <a:xfrm>
            <a:off x="457200" y="1261872"/>
            <a:ext cx="2651760" cy="3063240"/>
          </a:xfrm>
          <a:prstGeom prst="rect">
            <a:avLst/>
          </a:prstGeom>
          <a:solidFill>
            <a:srgbClr val="FFFFFF"/>
          </a:solidFill>
          <a:ln w="9525">
            <a:solidFill>
              <a:srgbClr val="D8E4EE"/>
            </a:solidFill>
            <a:prstDash val="solid"/>
          </a:ln>
        </p:spPr>
      </p:sp>
      <p:sp>
        <p:nvSpPr>
          <p:cNvPr id="9" name="Shape 7"/>
          <p:cNvSpPr/>
          <p:nvPr/>
        </p:nvSpPr>
        <p:spPr>
          <a:xfrm>
            <a:off x="457200" y="1261872"/>
            <a:ext cx="2651760" cy="347472"/>
          </a:xfrm>
          <a:prstGeom prst="rect">
            <a:avLst/>
          </a:prstGeom>
          <a:solidFill>
            <a:srgbClr val="00939D"/>
          </a:solidFill>
          <a:ln/>
        </p:spPr>
      </p:sp>
      <p:sp>
        <p:nvSpPr>
          <p:cNvPr id="10" name="Text 8"/>
          <p:cNvSpPr/>
          <p:nvPr/>
        </p:nvSpPr>
        <p:spPr>
          <a:xfrm>
            <a:off x="457200" y="1261872"/>
            <a:ext cx="265176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第1段階</a:t>
            </a:r>
            <a:endParaRPr lang="en-US" sz="1200" dirty="0"/>
          </a:p>
        </p:txBody>
      </p:sp>
      <p:sp>
        <p:nvSpPr>
          <p:cNvPr id="11" name="Shape 9"/>
          <p:cNvSpPr/>
          <p:nvPr/>
        </p:nvSpPr>
        <p:spPr>
          <a:xfrm>
            <a:off x="621792" y="1719072"/>
            <a:ext cx="475488" cy="475488"/>
          </a:xfrm>
          <a:prstGeom prst="ellipse">
            <a:avLst/>
          </a:prstGeom>
          <a:solidFill>
            <a:srgbClr val="00939D"/>
          </a:solidFill>
          <a:ln/>
        </p:spPr>
      </p:sp>
      <p:sp>
        <p:nvSpPr>
          <p:cNvPr id="12" name="Text 10"/>
          <p:cNvSpPr/>
          <p:nvPr/>
        </p:nvSpPr>
        <p:spPr>
          <a:xfrm>
            <a:off x="621792" y="171907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1"/>
          <p:cNvSpPr/>
          <p:nvPr/>
        </p:nvSpPr>
        <p:spPr>
          <a:xfrm>
            <a:off x="1207008" y="1755648"/>
            <a:ext cx="1783080" cy="420624"/>
          </a:xfrm>
          <a:prstGeom prst="rect">
            <a:avLst/>
          </a:prstGeom>
          <a:noFill/>
          <a:ln/>
        </p:spPr>
        <p:txBody>
          <a:bodyPr wrap="square" rtlCol="0" anchor="ctr"/>
          <a:lstStyle/>
          <a:p>
            <a:pPr indent="0" marL="0">
              <a:buNone/>
            </a:pPr>
            <a:r>
              <a:rPr lang="en-US" sz="1300" b="1" dirty="0">
                <a:solidFill>
                  <a:srgbClr val="1E3461"/>
                </a:solidFill>
                <a:latin typeface="Calibri" pitchFamily="34" charset="0"/>
                <a:ea typeface="Calibri" pitchFamily="34" charset="-122"/>
                <a:cs typeface="Calibri" pitchFamily="34" charset="-120"/>
              </a:rPr>
              <a:t>課題ヒアリング</a:t>
            </a:r>
            <a:endParaRPr lang="en-US" sz="1300" dirty="0"/>
          </a:p>
        </p:txBody>
      </p:sp>
      <p:sp>
        <p:nvSpPr>
          <p:cNvPr id="14" name="Text 12"/>
          <p:cNvSpPr/>
          <p:nvPr/>
        </p:nvSpPr>
        <p:spPr>
          <a:xfrm>
            <a:off x="594360" y="2304288"/>
            <a:ext cx="2395728" cy="1572768"/>
          </a:xfrm>
          <a:prstGeom prst="rect">
            <a:avLst/>
          </a:prstGeom>
          <a:noFill/>
          <a:ln/>
        </p:spPr>
        <p:txBody>
          <a:bodyPr wrap="square" rtlCol="0" anchor="ctr"/>
          <a:lstStyle/>
          <a:p>
            <a:pPr indent="0" marL="0">
              <a:lnSpc>
                <a:spcPct val="140000"/>
              </a:lnSpc>
              <a:buNone/>
            </a:pPr>
            <a:r>
              <a:rPr lang="en-US" sz="1150" dirty="0">
                <a:solidFill>
                  <a:srgbClr val="546E7A"/>
                </a:solidFill>
                <a:latin typeface="Calibri" pitchFamily="34" charset="0"/>
                <a:ea typeface="Calibri" pitchFamily="34" charset="-122"/>
                <a:cs typeface="Calibri" pitchFamily="34" charset="-120"/>
              </a:rPr>
              <a:t>廃棄物管理・道路インフラそれぞれの具体的な課題・優先エリア・予算感・庁内調整の要件をお聞かせください。実証設計に反映します。</a:t>
            </a:r>
            <a:endParaRPr lang="en-US" sz="1150" dirty="0"/>
          </a:p>
        </p:txBody>
      </p:sp>
      <p:sp>
        <p:nvSpPr>
          <p:cNvPr id="15" name="Text 13"/>
          <p:cNvSpPr/>
          <p:nvPr/>
        </p:nvSpPr>
        <p:spPr>
          <a:xfrm>
            <a:off x="3108960" y="2542032"/>
            <a:ext cx="228600" cy="365760"/>
          </a:xfrm>
          <a:prstGeom prst="rect">
            <a:avLst/>
          </a:prstGeom>
          <a:noFill/>
          <a:ln/>
        </p:spPr>
        <p:txBody>
          <a:bodyPr wrap="square" rtlCol="0" anchor="ctr"/>
          <a:lstStyle/>
          <a:p>
            <a:pPr algn="ctr" indent="0" marL="0">
              <a:buNone/>
            </a:pPr>
            <a:r>
              <a:rPr lang="en-US" sz="1600" b="1" dirty="0">
                <a:solidFill>
                  <a:srgbClr val="00939D"/>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3337560" y="1261872"/>
            <a:ext cx="2651760" cy="3063240"/>
          </a:xfrm>
          <a:prstGeom prst="rect">
            <a:avLst/>
          </a:prstGeom>
          <a:solidFill>
            <a:srgbClr val="FFFFFF"/>
          </a:solidFill>
          <a:ln w="9525">
            <a:solidFill>
              <a:srgbClr val="D8E4EE"/>
            </a:solidFill>
            <a:prstDash val="solid"/>
          </a:ln>
        </p:spPr>
      </p:sp>
      <p:sp>
        <p:nvSpPr>
          <p:cNvPr id="17" name="Shape 15"/>
          <p:cNvSpPr/>
          <p:nvPr/>
        </p:nvSpPr>
        <p:spPr>
          <a:xfrm>
            <a:off x="3337560" y="1261872"/>
            <a:ext cx="2651760" cy="347472"/>
          </a:xfrm>
          <a:prstGeom prst="rect">
            <a:avLst/>
          </a:prstGeom>
          <a:solidFill>
            <a:srgbClr val="00939D"/>
          </a:solidFill>
          <a:ln/>
        </p:spPr>
      </p:sp>
      <p:sp>
        <p:nvSpPr>
          <p:cNvPr id="18" name="Text 16"/>
          <p:cNvSpPr/>
          <p:nvPr/>
        </p:nvSpPr>
        <p:spPr>
          <a:xfrm>
            <a:off x="3337560" y="1261872"/>
            <a:ext cx="265176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第2段階</a:t>
            </a:r>
            <a:endParaRPr lang="en-US" sz="1200" dirty="0"/>
          </a:p>
        </p:txBody>
      </p:sp>
      <p:sp>
        <p:nvSpPr>
          <p:cNvPr id="19" name="Shape 17"/>
          <p:cNvSpPr/>
          <p:nvPr/>
        </p:nvSpPr>
        <p:spPr>
          <a:xfrm>
            <a:off x="3502152" y="1719072"/>
            <a:ext cx="475488" cy="475488"/>
          </a:xfrm>
          <a:prstGeom prst="ellipse">
            <a:avLst/>
          </a:prstGeom>
          <a:solidFill>
            <a:srgbClr val="00939D"/>
          </a:solidFill>
          <a:ln/>
        </p:spPr>
      </p:sp>
      <p:sp>
        <p:nvSpPr>
          <p:cNvPr id="20" name="Text 18"/>
          <p:cNvSpPr/>
          <p:nvPr/>
        </p:nvSpPr>
        <p:spPr>
          <a:xfrm>
            <a:off x="3502152" y="171907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9"/>
          <p:cNvSpPr/>
          <p:nvPr/>
        </p:nvSpPr>
        <p:spPr>
          <a:xfrm>
            <a:off x="4087368" y="1755648"/>
            <a:ext cx="1783080" cy="420624"/>
          </a:xfrm>
          <a:prstGeom prst="rect">
            <a:avLst/>
          </a:prstGeom>
          <a:noFill/>
          <a:ln/>
        </p:spPr>
        <p:txBody>
          <a:bodyPr wrap="square" rtlCol="0" anchor="ctr"/>
          <a:lstStyle/>
          <a:p>
            <a:pPr indent="0" marL="0">
              <a:buNone/>
            </a:pPr>
            <a:r>
              <a:rPr lang="en-US" sz="1300" b="1" dirty="0">
                <a:solidFill>
                  <a:srgbClr val="1E3461"/>
                </a:solidFill>
                <a:latin typeface="Calibri" pitchFamily="34" charset="0"/>
                <a:ea typeface="Calibri" pitchFamily="34" charset="-122"/>
                <a:cs typeface="Calibri" pitchFamily="34" charset="-120"/>
              </a:rPr>
              <a:t>PoC設計・合意形成</a:t>
            </a:r>
            <a:endParaRPr lang="en-US" sz="1300" dirty="0"/>
          </a:p>
        </p:txBody>
      </p:sp>
      <p:sp>
        <p:nvSpPr>
          <p:cNvPr id="22" name="Text 20"/>
          <p:cNvSpPr/>
          <p:nvPr/>
        </p:nvSpPr>
        <p:spPr>
          <a:xfrm>
            <a:off x="3474720" y="2304288"/>
            <a:ext cx="2395728" cy="1572768"/>
          </a:xfrm>
          <a:prstGeom prst="rect">
            <a:avLst/>
          </a:prstGeom>
          <a:noFill/>
          <a:ln/>
        </p:spPr>
        <p:txBody>
          <a:bodyPr wrap="square" rtlCol="0" anchor="ctr"/>
          <a:lstStyle/>
          <a:p>
            <a:pPr indent="0" marL="0">
              <a:lnSpc>
                <a:spcPct val="140000"/>
              </a:lnSpc>
              <a:buNone/>
            </a:pPr>
            <a:r>
              <a:rPr lang="en-US" sz="1150" dirty="0">
                <a:solidFill>
                  <a:srgbClr val="546E7A"/>
                </a:solidFill>
                <a:latin typeface="Calibri" pitchFamily="34" charset="0"/>
                <a:ea typeface="Calibri" pitchFamily="34" charset="-122"/>
                <a:cs typeface="Calibri" pitchFamily="34" charset="-120"/>
              </a:rPr>
              <a:t>対象エリア・実施期間・評価KPI・費用分担の枠組みを共同で設定。法令対応・情報管理の方針も確認します。</a:t>
            </a:r>
            <a:endParaRPr lang="en-US" sz="1150" dirty="0"/>
          </a:p>
        </p:txBody>
      </p:sp>
      <p:sp>
        <p:nvSpPr>
          <p:cNvPr id="23" name="Text 21"/>
          <p:cNvSpPr/>
          <p:nvPr/>
        </p:nvSpPr>
        <p:spPr>
          <a:xfrm>
            <a:off x="5989320" y="2542032"/>
            <a:ext cx="228600" cy="365760"/>
          </a:xfrm>
          <a:prstGeom prst="rect">
            <a:avLst/>
          </a:prstGeom>
          <a:noFill/>
          <a:ln/>
        </p:spPr>
        <p:txBody>
          <a:bodyPr wrap="square" rtlCol="0" anchor="ctr"/>
          <a:lstStyle/>
          <a:p>
            <a:pPr algn="ctr" indent="0" marL="0">
              <a:buNone/>
            </a:pPr>
            <a:r>
              <a:rPr lang="en-US" sz="1600" b="1" dirty="0">
                <a:solidFill>
                  <a:srgbClr val="00939D"/>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217920" y="1261872"/>
            <a:ext cx="2651760" cy="3063240"/>
          </a:xfrm>
          <a:prstGeom prst="rect">
            <a:avLst/>
          </a:prstGeom>
          <a:solidFill>
            <a:srgbClr val="FFFFFF"/>
          </a:solidFill>
          <a:ln w="9525">
            <a:solidFill>
              <a:srgbClr val="D8E4EE"/>
            </a:solidFill>
            <a:prstDash val="solid"/>
          </a:ln>
        </p:spPr>
      </p:sp>
      <p:sp>
        <p:nvSpPr>
          <p:cNvPr id="25" name="Shape 23"/>
          <p:cNvSpPr/>
          <p:nvPr/>
        </p:nvSpPr>
        <p:spPr>
          <a:xfrm>
            <a:off x="6217920" y="1261872"/>
            <a:ext cx="2651760" cy="347472"/>
          </a:xfrm>
          <a:prstGeom prst="rect">
            <a:avLst/>
          </a:prstGeom>
          <a:solidFill>
            <a:srgbClr val="00939D"/>
          </a:solidFill>
          <a:ln/>
        </p:spPr>
      </p:sp>
      <p:sp>
        <p:nvSpPr>
          <p:cNvPr id="26" name="Text 24"/>
          <p:cNvSpPr/>
          <p:nvPr/>
        </p:nvSpPr>
        <p:spPr>
          <a:xfrm>
            <a:off x="6217920" y="1261872"/>
            <a:ext cx="265176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第3段階</a:t>
            </a:r>
            <a:endParaRPr lang="en-US" sz="1200" dirty="0"/>
          </a:p>
        </p:txBody>
      </p:sp>
      <p:sp>
        <p:nvSpPr>
          <p:cNvPr id="27" name="Shape 25"/>
          <p:cNvSpPr/>
          <p:nvPr/>
        </p:nvSpPr>
        <p:spPr>
          <a:xfrm>
            <a:off x="6382512" y="1719072"/>
            <a:ext cx="475488" cy="475488"/>
          </a:xfrm>
          <a:prstGeom prst="ellipse">
            <a:avLst/>
          </a:prstGeom>
          <a:solidFill>
            <a:srgbClr val="00939D"/>
          </a:solidFill>
          <a:ln/>
        </p:spPr>
      </p:sp>
      <p:sp>
        <p:nvSpPr>
          <p:cNvPr id="28" name="Text 26"/>
          <p:cNvSpPr/>
          <p:nvPr/>
        </p:nvSpPr>
        <p:spPr>
          <a:xfrm>
            <a:off x="6382512" y="171907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9" name="Text 27"/>
          <p:cNvSpPr/>
          <p:nvPr/>
        </p:nvSpPr>
        <p:spPr>
          <a:xfrm>
            <a:off x="6967728" y="1755648"/>
            <a:ext cx="1783080" cy="420624"/>
          </a:xfrm>
          <a:prstGeom prst="rect">
            <a:avLst/>
          </a:prstGeom>
          <a:noFill/>
          <a:ln/>
        </p:spPr>
        <p:txBody>
          <a:bodyPr wrap="square" rtlCol="0" anchor="ctr"/>
          <a:lstStyle/>
          <a:p>
            <a:pPr indent="0" marL="0">
              <a:buNone/>
            </a:pPr>
            <a:r>
              <a:rPr lang="en-US" sz="1300" b="1" dirty="0">
                <a:solidFill>
                  <a:srgbClr val="1E3461"/>
                </a:solidFill>
                <a:latin typeface="Calibri" pitchFamily="34" charset="0"/>
                <a:ea typeface="Calibri" pitchFamily="34" charset="-122"/>
                <a:cs typeface="Calibri" pitchFamily="34" charset="-120"/>
              </a:rPr>
              <a:t>PoC実施・効果検証</a:t>
            </a:r>
            <a:endParaRPr lang="en-US" sz="1300" dirty="0"/>
          </a:p>
        </p:txBody>
      </p:sp>
      <p:sp>
        <p:nvSpPr>
          <p:cNvPr id="30" name="Text 28"/>
          <p:cNvSpPr/>
          <p:nvPr/>
        </p:nvSpPr>
        <p:spPr>
          <a:xfrm>
            <a:off x="6355080" y="2304288"/>
            <a:ext cx="2395728" cy="1572768"/>
          </a:xfrm>
          <a:prstGeom prst="rect">
            <a:avLst/>
          </a:prstGeom>
          <a:noFill/>
          <a:ln/>
        </p:spPr>
        <p:txBody>
          <a:bodyPr wrap="square" rtlCol="0" anchor="ctr"/>
          <a:lstStyle/>
          <a:p>
            <a:pPr indent="0" marL="0">
              <a:lnSpc>
                <a:spcPct val="140000"/>
              </a:lnSpc>
              <a:buNone/>
            </a:pPr>
            <a:r>
              <a:rPr lang="en-US" sz="1150" dirty="0">
                <a:solidFill>
                  <a:srgbClr val="546E7A"/>
                </a:solidFill>
                <a:latin typeface="Calibri" pitchFamily="34" charset="0"/>
                <a:ea typeface="Calibri" pitchFamily="34" charset="-122"/>
                <a:cs typeface="Calibri" pitchFamily="34" charset="-120"/>
              </a:rPr>
              <a:t>実証実験を開始し、定期報告を実施します。検証データをもとに本格展開の可否を判断いただきます。</a:t>
            </a:r>
            <a:endParaRPr lang="en-US" sz="1150" dirty="0"/>
          </a:p>
        </p:txBody>
      </p:sp>
      <p:sp>
        <p:nvSpPr>
          <p:cNvPr id="31" name="Text 29"/>
          <p:cNvSpPr/>
          <p:nvPr/>
        </p:nvSpPr>
        <p:spPr>
          <a:xfrm>
            <a:off x="457200" y="4498848"/>
            <a:ext cx="8412480" cy="41148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株式会社サキュレ　　担当：村田　捷樹</a:t>
            </a:r>
            <a:endParaRPr lang="en-US" sz="1350" dirty="0"/>
          </a:p>
        </p:txBody>
      </p:sp>
      <p:sp>
        <p:nvSpPr>
          <p:cNvPr id="32" name="Text 30"/>
          <p:cNvSpPr/>
          <p:nvPr/>
        </p:nvSpPr>
        <p:spPr>
          <a:xfrm>
            <a:off x="457200" y="4498848"/>
            <a:ext cx="8412480" cy="411480"/>
          </a:xfrm>
          <a:prstGeom prst="rect">
            <a:avLst/>
          </a:prstGeom>
          <a:noFill/>
          <a:ln/>
        </p:spPr>
        <p:txBody>
          <a:bodyPr wrap="square"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ご連絡をお待ちしております</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2026-07-22T07:07:31Z</dcterms:created>
  <dcterms:modified xsi:type="dcterms:W3CDTF">2026-07-22T07:07:31Z</dcterms:modified>
</cp:coreProperties>
</file>