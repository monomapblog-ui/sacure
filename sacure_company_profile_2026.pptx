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71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1645920"/>
            <a:ext cx="64008" cy="320040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1737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Noto Sans JP"/>
              </a:rPr>
              <a:t>株式会社サキュレ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834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EB872"/>
                </a:solidFill>
                <a:latin typeface="Noto Sans JP"/>
              </a:rPr>
              <a:t>循環とわくわくを増やし続ける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3520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C4FF"/>
                </a:solidFill>
                <a:latin typeface="Noto Sans JP"/>
              </a:rPr>
              <a:t>COMPANY PROFILE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Noto Sans JP"/>
              </a:rPr>
              <a:t>取引先・パートナー様向け　会社説明資料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4160520"/>
            <a:ext cx="8686800" cy="13716"/>
          </a:xfrm>
          <a:prstGeom prst="rect">
            <a:avLst/>
          </a:prstGeom>
          <a:solidFill>
            <a:srgbClr val="3A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54864" cy="685800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45720" cy="2926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B5E"/>
                </a:solidFill>
                <a:latin typeface="Noto Sans JP"/>
              </a:rPr>
              <a:t>背景・社会課題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廃棄物・物流業界が
直面する課題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91840"/>
            <a:ext cx="54864" cy="41148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73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B872"/>
                </a:solidFill>
                <a:latin typeface="Noto Sans JP"/>
              </a:rPr>
              <a:t>ドライバー不足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478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EE"/>
                </a:solidFill>
                <a:latin typeface="Noto Sans JP"/>
              </a:rPr>
              <a:t>2024年問題で深刻な人手不足が業界全体に打撃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133088"/>
            <a:ext cx="54864" cy="41148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B872"/>
                </a:solidFill>
                <a:latin typeface="Noto Sans JP"/>
              </a:rPr>
              <a:t>法規制の複雑化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EE"/>
                </a:solidFill>
                <a:latin typeface="Noto Sans JP"/>
              </a:rPr>
              <a:t>電子マニフェスト義務化など手続き負担が増大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74336"/>
            <a:ext cx="54864" cy="41148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9560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B872"/>
                </a:solidFill>
                <a:latin typeface="Noto Sans JP"/>
              </a:rPr>
              <a:t>脱炭素・資源循環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303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EE"/>
                </a:solidFill>
                <a:latin typeface="Noto Sans JP"/>
              </a:rPr>
              <a:t>企業のSDGs対応・廃棄物適正処理ニーズが急増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097280"/>
            <a:ext cx="6766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2B5E"/>
                </a:solidFill>
                <a:latin typeface="Noto Sans JP"/>
              </a:rPr>
              <a:t>サキュレが提供する
ソリューション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542032"/>
            <a:ext cx="27432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2505456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5FC8"/>
                </a:solidFill>
                <a:latin typeface="Noto Sans JP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46888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東京23区・首都圏全域をカバーする200台体制で安定供給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3200400"/>
            <a:ext cx="27432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316382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5FC8"/>
                </a:solidFill>
                <a:latin typeface="Noto Sans JP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12724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電子マニフェスト対応・法令手続きのワンストップ代行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3858768"/>
            <a:ext cx="27432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382219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5FC8"/>
                </a:solidFill>
                <a:latin typeface="Noto Sans JP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78561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中間処理から収集運搬まで資源循環を一気通貫でサポート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4517136"/>
            <a:ext cx="27432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6048" y="448056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5FC8"/>
                </a:solidFill>
                <a:latin typeface="Noto Sans JP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443984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1980年創業・45年の実績と行政との強固なネットワーク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45720" cy="2926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B5E"/>
                </a:solidFill>
                <a:latin typeface="Noto Sans JP"/>
              </a:rPr>
              <a:t>Vision &amp;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868680"/>
            <a:ext cx="9418320" cy="54864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05156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D2B5E"/>
                </a:solidFill>
                <a:latin typeface="Noto Sans JP"/>
              </a:rPr>
              <a:t>社会を回す仕事を、誇れる仕事に変える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657A"/>
                </a:solidFill>
                <a:latin typeface="Noto Sans JP"/>
              </a:rPr>
              <a:t>運送・廃棄物処理という「社会インフラ」を支える仕事に誇りを持ち、
すべてのステークホルダーに循環と価値をもたらし続けます。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926080"/>
            <a:ext cx="3108960" cy="32004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2926080"/>
            <a:ext cx="3108960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3063240"/>
            <a:ext cx="685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30906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5FC8"/>
                </a:solidFill>
                <a:latin typeface="Noto Sans JP"/>
              </a:rPr>
              <a:t>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136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B5E"/>
                </a:solidFill>
                <a:latin typeface="Noto Sans JP"/>
              </a:rPr>
              <a:t>地位の向上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407408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D4E"/>
                </a:solidFill>
                <a:latin typeface="Noto Sans JP"/>
              </a:rPr>
              <a:t>運送・廃棄物業界で
働く人々の社会的地位と
処遇を高める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44568" y="2926080"/>
            <a:ext cx="3108960" cy="32004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4568" y="2926080"/>
            <a:ext cx="3108960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33288" y="3063240"/>
            <a:ext cx="685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33288" y="30906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5FC8"/>
                </a:solidFill>
                <a:latin typeface="Noto Sans JP"/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9136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B5E"/>
                </a:solidFill>
                <a:latin typeface="Noto Sans JP"/>
              </a:rPr>
              <a:t>価値の創造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407408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D4E"/>
                </a:solidFill>
                <a:latin typeface="Noto Sans JP"/>
              </a:rPr>
              <a:t>資源循環の取り組みを通じ
持続可能な社会・経済的
価値を生み出す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0416" y="2926080"/>
            <a:ext cx="3108960" cy="32004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2926080"/>
            <a:ext cx="3108960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89136" y="3063240"/>
            <a:ext cx="685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30906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5FC8"/>
                </a:solidFill>
                <a:latin typeface="Noto Sans JP"/>
              </a:rPr>
              <a:t>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0416" y="39136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B5E"/>
                </a:solidFill>
                <a:latin typeface="Noto Sans JP"/>
              </a:rPr>
              <a:t>わくわく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6" y="4407408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D4E"/>
                </a:solidFill>
                <a:latin typeface="Noto Sans JP"/>
              </a:rPr>
              <a:t>常に挑戦し続け、
職場に「わくわく」と
誇りを生み出す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45720" cy="2926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B5E"/>
                </a:solidFill>
                <a:latin typeface="Noto Sans JP"/>
              </a:rPr>
              <a:t>会社概要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36576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16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C8"/>
                </a:solidFill>
                <a:latin typeface="Noto Sans JP"/>
              </a:rPr>
              <a:t>社　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16152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株式会社サキュレ（Circule Co., Ltd.）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36776"/>
            <a:ext cx="10698480" cy="9144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50492"/>
            <a:ext cx="10698480" cy="50292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50492"/>
            <a:ext cx="36576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2364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C8"/>
                </a:solidFill>
                <a:latin typeface="Noto Sans JP"/>
              </a:rPr>
              <a:t>設　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23644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1980年5月15日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144268"/>
            <a:ext cx="10698480" cy="9144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57984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157984"/>
            <a:ext cx="36576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2311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C8"/>
                </a:solidFill>
                <a:latin typeface="Noto Sans JP"/>
              </a:rPr>
              <a:t>代表者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231136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代表取締役　宇都宮 基行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51760"/>
            <a:ext cx="10698480" cy="9144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665476"/>
            <a:ext cx="10698480" cy="50292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2665476"/>
            <a:ext cx="36576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7386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C8"/>
                </a:solidFill>
                <a:latin typeface="Noto Sans JP"/>
              </a:rPr>
              <a:t>資本金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738628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5,000万円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159252"/>
            <a:ext cx="10698480" cy="9144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172968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172968"/>
            <a:ext cx="36576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C8"/>
                </a:solidFill>
                <a:latin typeface="Noto Sans JP"/>
              </a:rPr>
              <a:t>従業員数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2461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250名（子会社連結）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666744"/>
            <a:ext cx="10698480" cy="9144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680460"/>
            <a:ext cx="10698480" cy="50292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3680460"/>
            <a:ext cx="36576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7536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C8"/>
                </a:solidFill>
                <a:latin typeface="Noto Sans JP"/>
              </a:rPr>
              <a:t>所在地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753612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〒146-0081　東京都大田区仲池上1-24-7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174236"/>
            <a:ext cx="10698480" cy="9144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187952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187952"/>
            <a:ext cx="36576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2611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C8"/>
                </a:solidFill>
                <a:latin typeface="Noto Sans JP"/>
              </a:rPr>
              <a:t>事業内容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261104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運送・廃棄物収集運搬／中間処理／電子マニフェスト代行／コンサルティング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681728"/>
            <a:ext cx="10698480" cy="9144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4695444"/>
            <a:ext cx="10698480" cy="50292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4695444"/>
            <a:ext cx="36576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7685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C8"/>
                </a:solidFill>
                <a:latin typeface="Noto Sans JP"/>
              </a:rPr>
              <a:t>グループ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768596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株式会社スリジエ、KCサキュレ株式会社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189220"/>
            <a:ext cx="10698480" cy="9144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45720" cy="2926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B5E"/>
                </a:solidFill>
                <a:latin typeface="Noto Sans JP"/>
              </a:rPr>
              <a:t>会社沿革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10698480" cy="36576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3493008"/>
            <a:ext cx="329184" cy="329184"/>
          </a:xfrm>
          <a:prstGeom prst="ellipse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2B5E"/>
                </a:solidFill>
                <a:latin typeface="Noto Sans JP"/>
              </a:rPr>
              <a:t>1980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77640"/>
            <a:ext cx="1828800" cy="237744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36576" cy="237744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4069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E"/>
                </a:solidFill>
                <a:latin typeface="Noto Sans JP"/>
              </a:rPr>
              <a:t>協立運輸株式会社として創業。東京都内の一般貨物運送からスタート。</a:t>
            </a:r>
          </a:p>
        </p:txBody>
      </p:sp>
      <p:sp>
        <p:nvSpPr>
          <p:cNvPr id="11" name="Oval 10"/>
          <p:cNvSpPr/>
          <p:nvPr/>
        </p:nvSpPr>
        <p:spPr>
          <a:xfrm>
            <a:off x="3127248" y="3493008"/>
            <a:ext cx="329184" cy="329184"/>
          </a:xfrm>
          <a:prstGeom prst="ellipse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3017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2B5E"/>
                </a:solidFill>
                <a:latin typeface="Noto Sans JP"/>
              </a:rPr>
              <a:t>2000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3977640"/>
            <a:ext cx="18288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3977640"/>
            <a:ext cx="36576" cy="237744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4069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E"/>
                </a:solidFill>
                <a:latin typeface="Noto Sans JP"/>
              </a:rPr>
              <a:t>一廃・産廃の収集運搬許可を網羅。廃棄物処理事業へ本格参入。</a:t>
            </a:r>
          </a:p>
        </p:txBody>
      </p:sp>
      <p:sp>
        <p:nvSpPr>
          <p:cNvPr id="16" name="Oval 15"/>
          <p:cNvSpPr/>
          <p:nvPr/>
        </p:nvSpPr>
        <p:spPr>
          <a:xfrm>
            <a:off x="5367528" y="3493008"/>
            <a:ext cx="329184" cy="329184"/>
          </a:xfrm>
          <a:prstGeom prst="ellipse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017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2B5E"/>
                </a:solidFill>
                <a:latin typeface="Noto Sans JP"/>
              </a:rPr>
              <a:t>2009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3977640"/>
            <a:ext cx="1828800" cy="237744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3977640"/>
            <a:ext cx="36576" cy="237744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8072" y="4069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E"/>
                </a:solidFill>
                <a:latin typeface="Noto Sans JP"/>
              </a:rPr>
              <a:t>中間処理施設設備へ参入。資源循環の基盤インフラを構築。</a:t>
            </a:r>
          </a:p>
        </p:txBody>
      </p:sp>
      <p:sp>
        <p:nvSpPr>
          <p:cNvPr id="21" name="Oval 20"/>
          <p:cNvSpPr/>
          <p:nvPr/>
        </p:nvSpPr>
        <p:spPr>
          <a:xfrm>
            <a:off x="7607808" y="3493008"/>
            <a:ext cx="329184" cy="329184"/>
          </a:xfrm>
          <a:prstGeom prst="ellipse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3017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2B5E"/>
                </a:solidFill>
                <a:latin typeface="Noto Sans JP"/>
              </a:rPr>
              <a:t>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3977640"/>
            <a:ext cx="18288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3977640"/>
            <a:ext cx="36576" cy="237744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4069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E"/>
                </a:solidFill>
                <a:latin typeface="Noto Sans JP"/>
              </a:rPr>
              <a:t>株式会社サキュレへ社名変更。宇都宮基行が代表取締役に就任。</a:t>
            </a:r>
          </a:p>
        </p:txBody>
      </p:sp>
      <p:sp>
        <p:nvSpPr>
          <p:cNvPr id="26" name="Oval 25"/>
          <p:cNvSpPr/>
          <p:nvPr/>
        </p:nvSpPr>
        <p:spPr>
          <a:xfrm>
            <a:off x="9848088" y="3493008"/>
            <a:ext cx="329184" cy="329184"/>
          </a:xfrm>
          <a:prstGeom prst="ellipse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3017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2B5E"/>
                </a:solidFill>
                <a:latin typeface="Noto Sans JP"/>
              </a:rPr>
              <a:t>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3977640"/>
            <a:ext cx="1828800" cy="237744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09760" y="3977640"/>
            <a:ext cx="36576" cy="237744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8632" y="4069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E"/>
                </a:solidFill>
                <a:latin typeface="Noto Sans JP"/>
              </a:rPr>
              <a:t>循環型社会の実現に向けた新規事業（DX・コンサル）を加速。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45720" cy="2926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B5E"/>
                </a:solidFill>
                <a:latin typeface="Noto Sans JP"/>
              </a:rPr>
              <a:t>グループ体制と事業内容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54864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株式会社サキュレ グループ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520440" cy="43891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3520440" cy="73152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2B5E"/>
                </a:solidFill>
                <a:latin typeface="Noto Sans JP"/>
              </a:rPr>
              <a:t>株式会社サキュレ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423160"/>
            <a:ext cx="2423160" cy="2926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グループ中核会社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971800"/>
            <a:ext cx="73152" cy="73152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880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一般貨物・特定信書便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364992"/>
            <a:ext cx="73152" cy="73152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2735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一廃・産廃収集運搬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758184"/>
            <a:ext cx="73152" cy="73152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6667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中古車販売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151376"/>
            <a:ext cx="73152" cy="73152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0599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新規事業開発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3128" y="1737360"/>
            <a:ext cx="3520440" cy="43891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53128" y="1737360"/>
            <a:ext cx="3520440" cy="73152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19202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2B5E"/>
                </a:solidFill>
                <a:latin typeface="Noto Sans JP"/>
              </a:rPr>
              <a:t>株式会社スリジエ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1768" y="2423160"/>
            <a:ext cx="2423160" cy="2926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1768" y="24231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DX・コンサルティング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8" y="2971800"/>
            <a:ext cx="73152" cy="73152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37176" y="2880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電子マニフェスト申請代行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1728" y="3364992"/>
            <a:ext cx="73152" cy="73152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32735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廃棄物管理コンサルティング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1728" y="3758184"/>
            <a:ext cx="73152" cy="73152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37176" y="36667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業務DX・システム開発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81728" y="4151376"/>
            <a:ext cx="73152" cy="73152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37176" y="40599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新規事業企画・推進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74736" y="1737360"/>
            <a:ext cx="3520440" cy="43891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74736" y="1737360"/>
            <a:ext cx="3520440" cy="73152"/>
          </a:xfrm>
          <a:prstGeom prst="rect">
            <a:avLst/>
          </a:prstGeom>
          <a:solidFill>
            <a:srgbClr val="E8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19202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2B5E"/>
                </a:solidFill>
                <a:latin typeface="Noto Sans JP"/>
              </a:rPr>
              <a:t>KCサキュレ株式会社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23376" y="2423160"/>
            <a:ext cx="2423160" cy="292608"/>
          </a:xfrm>
          <a:prstGeom prst="rect">
            <a:avLst/>
          </a:prstGeom>
          <a:solidFill>
            <a:srgbClr val="E8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3376" y="24231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中間処理・行政連携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03336" y="2971800"/>
            <a:ext cx="73152" cy="73152"/>
          </a:xfrm>
          <a:prstGeom prst="rect">
            <a:avLst/>
          </a:prstGeom>
          <a:solidFill>
            <a:srgbClr val="E8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58784" y="2880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中間処理施設の運営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3336" y="3364992"/>
            <a:ext cx="73152" cy="73152"/>
          </a:xfrm>
          <a:prstGeom prst="rect">
            <a:avLst/>
          </a:prstGeom>
          <a:solidFill>
            <a:srgbClr val="E8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58784" y="32735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収集運搬全般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3336" y="3758184"/>
            <a:ext cx="73152" cy="73152"/>
          </a:xfrm>
          <a:prstGeom prst="rect">
            <a:avLst/>
          </a:prstGeom>
          <a:solidFill>
            <a:srgbClr val="E8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58784" y="36667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川崎市を中心に行政役務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03336" y="4151376"/>
            <a:ext cx="73152" cy="73152"/>
          </a:xfrm>
          <a:prstGeom prst="rect">
            <a:avLst/>
          </a:prstGeom>
          <a:solidFill>
            <a:srgbClr val="E8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58784" y="40599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資源リサイクル事業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サキュレの圧倒的な強み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3566160" cy="4937760"/>
          </a:xfrm>
          <a:prstGeom prst="rect">
            <a:avLst/>
          </a:prstGeom>
          <a:solidFill>
            <a:srgbClr val="0F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3566160" cy="54864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  <a:latin typeface="Noto Sans JP"/>
              </a:rPr>
              <a:t>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468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EB872"/>
                </a:solidFill>
                <a:latin typeface="Noto Sans JP"/>
              </a:rPr>
              <a:t>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46120"/>
            <a:ext cx="3017520" cy="27432"/>
          </a:xfrm>
          <a:prstGeom prst="rect">
            <a:avLst/>
          </a:prstGeom>
          <a:solidFill>
            <a:srgbClr val="2A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B872"/>
                </a:solidFill>
                <a:latin typeface="Noto Sans JP"/>
              </a:rPr>
              <a:t>保有車両台数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5"/>
                </a:solidFill>
                <a:latin typeface="Noto Sans JP"/>
              </a:rPr>
              <a:t>都内・埼玉・神奈川を網羅する
首都圏最大級の車両運用体制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3566160" cy="4937760"/>
          </a:xfrm>
          <a:prstGeom prst="rect">
            <a:avLst/>
          </a:prstGeom>
          <a:solidFill>
            <a:srgbClr val="0F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234440"/>
            <a:ext cx="3566160" cy="54864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54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  <a:latin typeface="Noto Sans JP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468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EB872"/>
                </a:solidFill>
                <a:latin typeface="Noto Sans JP"/>
              </a:rPr>
              <a:t>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3246120"/>
            <a:ext cx="3017520" cy="27432"/>
          </a:xfrm>
          <a:prstGeom prst="rect">
            <a:avLst/>
          </a:prstGeom>
          <a:solidFill>
            <a:srgbClr val="2A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429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B872"/>
                </a:solidFill>
                <a:latin typeface="Noto Sans JP"/>
              </a:rPr>
              <a:t>東京全区域対応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97763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5"/>
                </a:solidFill>
                <a:latin typeface="Noto Sans JP"/>
              </a:rPr>
              <a:t>希少な一般廃棄物収集運搬許可
23区でわずか約40社のみが保有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34440"/>
            <a:ext cx="3566160" cy="4937760"/>
          </a:xfrm>
          <a:prstGeom prst="rect">
            <a:avLst/>
          </a:prstGeom>
          <a:solidFill>
            <a:srgbClr val="0F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566160" cy="54864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54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  <a:latin typeface="Noto Sans JP"/>
              </a:rPr>
              <a:t>250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468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EB872"/>
                </a:solidFill>
                <a:latin typeface="Noto Sans JP"/>
              </a:rPr>
              <a:t>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3246120"/>
            <a:ext cx="3017520" cy="27432"/>
          </a:xfrm>
          <a:prstGeom prst="rect">
            <a:avLst/>
          </a:prstGeom>
          <a:solidFill>
            <a:srgbClr val="2A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429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B872"/>
                </a:solidFill>
                <a:latin typeface="Noto Sans JP"/>
              </a:rPr>
              <a:t>現場を知るスタッフ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97763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5"/>
                </a:solidFill>
                <a:latin typeface="Noto Sans JP"/>
              </a:rPr>
              <a:t>日々吸い上げるリアルな現場知見
で最適なソリューションを提案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solidFill>
            <a:srgbClr val="071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190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C4FF"/>
                </a:solidFill>
                <a:latin typeface="Noto Sans JP"/>
              </a:rPr>
              <a:t>23区でわずか約40社のみが持つ広域許可と、200台の機動力で街を支えます。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45720" cy="2926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B5E"/>
                </a:solidFill>
                <a:latin typeface="Noto Sans JP"/>
              </a:rPr>
              <a:t>サービス・提供価値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5657A"/>
                </a:solidFill>
                <a:latin typeface="Noto Sans JP"/>
              </a:rPr>
              <a:t>廃棄物収集から資源化まで、ワンストップでお客様の課題を解決します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" y="1828800"/>
            <a:ext cx="1920240" cy="4114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56" y="1828800"/>
            <a:ext cx="1920240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" y="1965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B872"/>
                </a:solidFill>
                <a:latin typeface="Noto Sans JP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B5E"/>
                </a:solidFill>
                <a:latin typeface="Noto Sans JP"/>
              </a:rPr>
              <a:t>相談・
ヒアリング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" y="3337560"/>
            <a:ext cx="1737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D4E"/>
                </a:solidFill>
                <a:latin typeface="Noto Sans JP"/>
              </a:rPr>
              <a:t>廃棄物の種類・
量・頻度を
ヒアリング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8316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5FC8"/>
                </a:solidFill>
                <a:latin typeface="Noto Sans JP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8356" y="1828800"/>
            <a:ext cx="1920240" cy="4114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48356" y="1828800"/>
            <a:ext cx="1920240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8356" y="1965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B872"/>
                </a:solidFill>
                <a:latin typeface="Noto Sans JP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8356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B5E"/>
                </a:solidFill>
                <a:latin typeface="Noto Sans JP"/>
              </a:rPr>
              <a:t>プラン
提案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9796" y="3337560"/>
            <a:ext cx="1737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D4E"/>
                </a:solidFill>
                <a:latin typeface="Noto Sans JP"/>
              </a:rPr>
              <a:t>最適な収集・
処理プランと
コストを提示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4316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5FC8"/>
                </a:solidFill>
                <a:latin typeface="Noto Sans JP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34356" y="1828800"/>
            <a:ext cx="1920240" cy="41148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4356" y="1828800"/>
            <a:ext cx="1920240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4356" y="1965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0FFC0"/>
                </a:solidFill>
                <a:latin typeface="Noto Sans JP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4356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収集
運搬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5796" y="3337560"/>
            <a:ext cx="1737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JP"/>
              </a:rPr>
              <a:t>200台体制で
定期・スポット
対応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0316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5FC8"/>
                </a:solidFill>
                <a:latin typeface="Noto Sans JP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0356" y="1828800"/>
            <a:ext cx="1920240" cy="4114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20356" y="1828800"/>
            <a:ext cx="1920240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0356" y="1965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B872"/>
                </a:solidFill>
                <a:latin typeface="Noto Sans JP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0356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B5E"/>
                </a:solidFill>
                <a:latin typeface="Noto Sans JP"/>
              </a:rPr>
              <a:t>中間
処理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1796" y="3337560"/>
            <a:ext cx="1737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D4E"/>
                </a:solidFill>
                <a:latin typeface="Noto Sans JP"/>
              </a:rPr>
              <a:t>グループ施設で
適正処理・
資源化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6316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5FC8"/>
                </a:solidFill>
                <a:latin typeface="Noto Sans JP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06356" y="1828800"/>
            <a:ext cx="1920240" cy="4114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06356" y="1828800"/>
            <a:ext cx="1920240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06356" y="1965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B872"/>
                </a:solidFill>
                <a:latin typeface="Noto Sans JP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6356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B5E"/>
                </a:solidFill>
                <a:latin typeface="Noto Sans JP"/>
              </a:rPr>
              <a:t>書類
対応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7796" y="3337560"/>
            <a:ext cx="1737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D4E"/>
                </a:solidFill>
                <a:latin typeface="Noto Sans JP"/>
              </a:rPr>
              <a:t>電子マニフェスト
等の法令手続き
を代行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45720" cy="2926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B5E"/>
                </a:solidFill>
                <a:latin typeface="Noto Sans JP"/>
              </a:rPr>
              <a:t>多様な業界との取引実績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657A"/>
                </a:solidFill>
                <a:latin typeface="Noto Sans JP"/>
              </a:rPr>
              <a:t>行政機関から大手民間企業まで、強固なネットワークと250社超の顧客基盤を構築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1732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5FC8"/>
                </a:solidFill>
                <a:latin typeface="Noto Sans JP"/>
              </a:rPr>
              <a:t>250社超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A"/>
                </a:solidFill>
                <a:latin typeface="Noto Sans JP"/>
              </a:rPr>
              <a:t>の取引実績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2743200" cy="3657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514600"/>
            <a:ext cx="2743200" cy="54864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B5E"/>
                </a:solidFill>
                <a:latin typeface="Noto Sans JP"/>
              </a:rPr>
              <a:t>行政・教育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1012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東京都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7588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大田区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4164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川崎市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0740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明治大学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7316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河合塾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2514600"/>
            <a:ext cx="2743200" cy="3657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2514600"/>
            <a:ext cx="2743200" cy="54864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651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B5E"/>
                </a:solidFill>
                <a:latin typeface="Noto Sans JP"/>
              </a:rPr>
              <a:t>飲食・小売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31012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吉野家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67588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ファミリーマート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04164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ローソン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40740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6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永谷園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514600"/>
            <a:ext cx="2743200" cy="3657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2514600"/>
            <a:ext cx="2743200" cy="54864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651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B5E"/>
                </a:solidFill>
                <a:latin typeface="Noto Sans JP"/>
              </a:rPr>
              <a:t>物流・サービス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31012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東急グループ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67588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白洋舎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404164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カヤック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40740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レバテック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60" y="2514600"/>
            <a:ext cx="2743200" cy="3657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81160" y="2514600"/>
            <a:ext cx="2743200" cy="54864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2651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B5E"/>
                </a:solidFill>
                <a:latin typeface="Noto Sans JP"/>
              </a:rPr>
              <a:t>建設・製造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331012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大手ゼネコン各社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3675888"/>
            <a:ext cx="64008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2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D4E"/>
                </a:solidFill>
                <a:latin typeface="Noto Sans JP"/>
              </a:rPr>
              <a:t>製造業各社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45720" cy="2926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B5E"/>
                </a:solidFill>
                <a:latin typeface="Noto Sans JP"/>
              </a:rPr>
              <a:t>代表取締役紹介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3657600" cy="50292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3657600" cy="6400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2B5E"/>
                </a:solidFill>
                <a:latin typeface="Noto Sans JP"/>
              </a:rPr>
              <a:t>代表取締役
宇都宮 基行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A"/>
                </a:solidFill>
                <a:latin typeface="Noto Sans JP"/>
              </a:rPr>
              <a:t>Motoyuki Utsunomiya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051560"/>
            <a:ext cx="6766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2B5E"/>
                </a:solidFill>
                <a:latin typeface="Noto Sans JP"/>
              </a:rPr>
              <a:t>宇都宮 基行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5FC8"/>
                </a:solidFill>
                <a:latin typeface="Noto Sans JP"/>
              </a:rPr>
              <a:t>中小企業診断士 ／ 法政大学大学院 特任講師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148840"/>
            <a:ext cx="6766560" cy="18288"/>
          </a:xfrm>
          <a:prstGeom prst="rect">
            <a:avLst/>
          </a:prstGeom>
          <a:solidFill>
            <a:srgbClr val="DD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2377440"/>
            <a:ext cx="36576" cy="38404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3591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FC8"/>
                </a:solidFill>
                <a:latin typeface="Noto Sans JP"/>
              </a:rPr>
              <a:t>学歴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59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上智大学法学部卒業 ／ 法政大学大学院 MBA修了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3035808"/>
            <a:ext cx="36576" cy="38404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FC8"/>
                </a:solidFill>
                <a:latin typeface="Noto Sans JP"/>
              </a:rPr>
              <a:t>職歴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0175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鈴与・リクルート・スタートアップを経て現職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694176"/>
            <a:ext cx="36576" cy="38404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3675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FC8"/>
                </a:solidFill>
                <a:latin typeface="Noto Sans JP"/>
              </a:rPr>
              <a:t>専門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6758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中小企業診断士として経営戦略・DX推進を指導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4352544"/>
            <a:ext cx="36576" cy="38404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43342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FC8"/>
                </a:solidFill>
                <a:latin typeface="Noto Sans JP"/>
              </a:rPr>
              <a:t>信念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33425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D4E"/>
                </a:solidFill>
                <a:latin typeface="Noto Sans JP"/>
              </a:rPr>
              <a:t>「現場のナレッジ × 経営学の視点」で業界の革新をリード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5212080"/>
            <a:ext cx="6766560" cy="11887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0" y="5212080"/>
            <a:ext cx="64008" cy="118872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5321808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JP"/>
              </a:rPr>
              <a:t>「社会を回す仕事を、誇れる仕事に変える。
 現場から変革し、業界の未来を共につくりたい。」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JP"/>
              </a:rPr>
              <a:t>お気軽にご連絡ください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EB872"/>
                </a:solidFill>
                <a:latin typeface="Noto Sans JP"/>
              </a:rPr>
              <a:t>循環とわくわくを、共に増やしましょう。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51760"/>
            <a:ext cx="5760720" cy="3200400"/>
          </a:xfrm>
          <a:prstGeom prst="rect">
            <a:avLst/>
          </a:prstGeom>
          <a:solidFill>
            <a:srgbClr val="0F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2651760"/>
            <a:ext cx="5760720" cy="64008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971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B872"/>
                </a:solidFill>
                <a:latin typeface="Noto Sans JP"/>
              </a:rPr>
              <a:t>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971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Noto Sans JP"/>
              </a:rPr>
              <a:t>03-3777-4122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374136"/>
            <a:ext cx="5212080" cy="9144"/>
          </a:xfrm>
          <a:prstGeom prst="rect">
            <a:avLst/>
          </a:prstGeom>
          <a:solidFill>
            <a:srgbClr val="2A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B872"/>
                </a:solidFill>
                <a:latin typeface="Noto Sans JP"/>
              </a:rPr>
              <a:t>所在地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Noto Sans JP"/>
              </a:rPr>
              <a:t>〒146-0081　東京都大田区仲池上1-24-7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4059936"/>
            <a:ext cx="5212080" cy="9144"/>
          </a:xfrm>
          <a:prstGeom prst="rect">
            <a:avLst/>
          </a:prstGeom>
          <a:solidFill>
            <a:srgbClr val="2A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343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B872"/>
                </a:solidFill>
                <a:latin typeface="Noto Sans JP"/>
              </a:rPr>
              <a:t>担当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43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Noto Sans JP"/>
              </a:rPr>
              <a:t>株式会社サキュレ 事務局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4745736"/>
            <a:ext cx="5212080" cy="9144"/>
          </a:xfrm>
          <a:prstGeom prst="rect">
            <a:avLst/>
          </a:prstGeom>
          <a:solidFill>
            <a:srgbClr val="2A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