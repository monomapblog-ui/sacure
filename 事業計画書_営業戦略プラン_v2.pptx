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追加営業仮戦略候補6件。リスト化紙DM・SNS広告・大学イベントビラ・留学生サイト掲載・不動産仲介提携・国際交流協会経由。優先度と実現性を検討しながら順次実施。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よくある懸念と回答。①生協契約できる？→競合未提携校が多い・複数チャンネルあり・PoC先行。②留学生は借りる？→月2083円で参入障壁低い・生活必需品・市場実証済み。③誰が動く？→既存人員で初年度対応可能な規模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ニッチ特化営業戦略候補6件。競合未進出地方大学・留学エージェント提携・多言語SNS広告・国際課直営業・専門学校日本語学校・留学生OB口コミ。田舎小規模大学の留学生に先手で入り独占ポジション獲得を狙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学生特化型 家電レンタル事業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" y="8686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事業計画書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92608" y="1481328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営業戦略プラン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92608" y="2121408"/>
            <a:ext cx="32004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2677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株式会社サキュレ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　作成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2468880" cy="91440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960120"/>
            <a:ext cx="54864" cy="91440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784" y="1033272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1,000万円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72784" y="1508760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KGI：1年以内独立採算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039112"/>
            <a:ext cx="2468880" cy="91440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039112"/>
            <a:ext cx="54864" cy="91440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84" y="2112264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400件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72784" y="258775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稼働目標（3点セット）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118104"/>
            <a:ext cx="2468880" cy="91440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118104"/>
            <a:ext cx="54864" cy="91440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21" name="Text 19"/>
          <p:cNvSpPr/>
          <p:nvPr/>
        </p:nvSpPr>
        <p:spPr>
          <a:xfrm>
            <a:off x="6272784" y="3191256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13〜15校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72784" y="3666744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大学生協提携目標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" y="4434840"/>
            <a:ext cx="9070848" cy="7086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" y="4434840"/>
            <a:ext cx="9070848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KGI  ×  KPI  ×  行動量を一本化した実行計画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4251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22960"/>
            <a:ext cx="54864" cy="65836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7" name="Shape 5"/>
          <p:cNvSpPr/>
          <p:nvPr/>
        </p:nvSpPr>
        <p:spPr>
          <a:xfrm>
            <a:off x="521208" y="932688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932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950976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KGI / KPI 全体像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627632"/>
            <a:ext cx="4251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627632"/>
            <a:ext cx="54864" cy="65836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12" name="Shape 10"/>
          <p:cNvSpPr/>
          <p:nvPr/>
        </p:nvSpPr>
        <p:spPr>
          <a:xfrm>
            <a:off x="521208" y="1737360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737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9848" y="1755648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外部環境分析（機会・脅威）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432304"/>
            <a:ext cx="4251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432304"/>
            <a:ext cx="54864" cy="65836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17" name="Shape 15"/>
          <p:cNvSpPr/>
          <p:nvPr/>
        </p:nvSpPr>
        <p:spPr>
          <a:xfrm>
            <a:off x="521208" y="2542032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25420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" y="256032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内部環境分析（強み・弱み）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236976"/>
            <a:ext cx="4251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236976"/>
            <a:ext cx="54864" cy="65836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22" name="Shape 20"/>
          <p:cNvSpPr/>
          <p:nvPr/>
        </p:nvSpPr>
        <p:spPr>
          <a:xfrm>
            <a:off x="521208" y="3346704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" y="33467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69848" y="3364992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クロスSWOT → 戦略結論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041648"/>
            <a:ext cx="4251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041648"/>
            <a:ext cx="54864" cy="65836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27" name="Shape 25"/>
          <p:cNvSpPr/>
          <p:nvPr/>
        </p:nvSpPr>
        <p:spPr>
          <a:xfrm>
            <a:off x="521208" y="4151376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" y="41513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69848" y="4169664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ユニットエコノミクス（リユース vs 新品）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822960"/>
            <a:ext cx="4251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822960"/>
            <a:ext cx="54864" cy="65836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5001768" y="932688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33" name="Text 31"/>
          <p:cNvSpPr/>
          <p:nvPr/>
        </p:nvSpPr>
        <p:spPr>
          <a:xfrm>
            <a:off x="5001768" y="932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50408" y="950976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営業戦略：チャンネル設計と生協アプローチ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1627632"/>
            <a:ext cx="4251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1627632"/>
            <a:ext cx="54864" cy="65836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37" name="Shape 35"/>
          <p:cNvSpPr/>
          <p:nvPr/>
        </p:nvSpPr>
        <p:spPr>
          <a:xfrm>
            <a:off x="5001768" y="1737360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38" name="Text 36"/>
          <p:cNvSpPr/>
          <p:nvPr/>
        </p:nvSpPr>
        <p:spPr>
          <a:xfrm>
            <a:off x="5001768" y="1737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550408" y="1755648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KPI連鎖・週次行動量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2432304"/>
            <a:ext cx="4251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2432304"/>
            <a:ext cx="54864" cy="65836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2" name="Shape 40"/>
          <p:cNvSpPr/>
          <p:nvPr/>
        </p:nvSpPr>
        <p:spPr>
          <a:xfrm>
            <a:off x="5001768" y="2542032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43" name="Text 41"/>
          <p:cNvSpPr/>
          <p:nvPr/>
        </p:nvSpPr>
        <p:spPr>
          <a:xfrm>
            <a:off x="5001768" y="25420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550408" y="256032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商品収集戦略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92040" y="3236976"/>
            <a:ext cx="4251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92040" y="3236976"/>
            <a:ext cx="54864" cy="65836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7" name="Shape 45"/>
          <p:cNvSpPr/>
          <p:nvPr/>
        </p:nvSpPr>
        <p:spPr>
          <a:xfrm>
            <a:off x="5001768" y="3346704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48" name="Text 46"/>
          <p:cNvSpPr/>
          <p:nvPr/>
        </p:nvSpPr>
        <p:spPr>
          <a:xfrm>
            <a:off x="5001768" y="33467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550408" y="3364992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財務シミュレーション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92040" y="4041648"/>
            <a:ext cx="4251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92040" y="4041648"/>
            <a:ext cx="54864" cy="65836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52" name="Shape 50"/>
          <p:cNvSpPr/>
          <p:nvPr/>
        </p:nvSpPr>
        <p:spPr>
          <a:xfrm>
            <a:off x="5001768" y="4151376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53" name="Text 51"/>
          <p:cNvSpPr/>
          <p:nvPr/>
        </p:nvSpPr>
        <p:spPr>
          <a:xfrm>
            <a:off x="5001768" y="41513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550408" y="4169664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7月アクションプラン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1005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" y="100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KGI / KPI 全体像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68096"/>
            <a:ext cx="2706624" cy="713232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80467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1年目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96696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稼働400件 / 売上1,000万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307592"/>
            <a:ext cx="2706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事業基盤確立・ユニット黒字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72968" y="768096"/>
            <a:ext cx="2706624" cy="713232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12" name="Text 10"/>
          <p:cNvSpPr/>
          <p:nvPr/>
        </p:nvSpPr>
        <p:spPr>
          <a:xfrm>
            <a:off x="3282696" y="80467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3年目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72968" y="996696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単年度黒字　達成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72968" y="1307592"/>
            <a:ext cx="2706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稼働1,000件・固定費完全回収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0176" y="768096"/>
            <a:ext cx="2706624" cy="713232"/>
          </a:xfrm>
          <a:prstGeom prst="rect">
            <a:avLst/>
          </a:prstGeom>
          <a:solidFill>
            <a:srgbClr val="115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089904" y="80467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5年目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0176" y="996696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累損一掃　安定成長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80176" y="1307592"/>
            <a:ext cx="2706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稼働1,500件・継続投資フェーズへ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1591056"/>
            <a:ext cx="7315200" cy="566928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月次稼働台数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18653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171907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3点セット × 月2,083円 × 12ヶ月 ≒ 1,000万円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71600" y="2249424"/>
            <a:ext cx="6400800" cy="566928"/>
          </a:xfrm>
          <a:prstGeom prst="rect">
            <a:avLst/>
          </a:prstGeom>
          <a:solidFill>
            <a:srgbClr val="115000"/>
          </a:solidFill>
          <a:ln/>
        </p:spPr>
      </p:sp>
      <p:sp>
        <p:nvSpPr>
          <p:cNvPr id="24" name="Text 22"/>
          <p:cNvSpPr/>
          <p:nvPr/>
        </p:nvSpPr>
        <p:spPr>
          <a:xfrm>
            <a:off x="1508760" y="2286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大学生協 提携数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25237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13〜15校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23774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1校あたり平均30件獲得（新入生300人×自宅外率30%×獲得率10%）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0" y="2907792"/>
            <a:ext cx="5486400" cy="56692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1965960" y="29443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65960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40〜50回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89120" y="30358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提携締結率30〜40% → 13校到達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0" y="3566160"/>
            <a:ext cx="4572000" cy="566928"/>
          </a:xfrm>
          <a:prstGeom prst="rect">
            <a:avLst/>
          </a:prstGeom>
          <a:solidFill>
            <a:srgbClr val="9E4500"/>
          </a:solidFill>
          <a:ln/>
        </p:spPr>
      </p:sp>
      <p:sp>
        <p:nvSpPr>
          <p:cNvPr id="32" name="Text 30"/>
          <p:cNvSpPr/>
          <p:nvPr/>
        </p:nvSpPr>
        <p:spPr>
          <a:xfrm>
            <a:off x="2423160" y="36027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アポ獲得数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23160" y="3840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80〜100件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46320" y="36941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商談化率50%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51760" y="4224528"/>
            <a:ext cx="3840480" cy="56692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36" name="Text 34"/>
          <p:cNvSpPr/>
          <p:nvPr/>
        </p:nvSpPr>
        <p:spPr>
          <a:xfrm>
            <a:off x="2788920" y="42611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初回アプローチ数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88920" y="44988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1,500〜2,000件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12080" y="435254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アポ化率5%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1005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" y="100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外部環境分析（OT）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68096"/>
            <a:ext cx="4041648" cy="292608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68096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機会（Opportunities）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33856"/>
            <a:ext cx="4041648" cy="621792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89888"/>
            <a:ext cx="118872" cy="118872"/>
          </a:xfrm>
          <a:prstGeom prst="ellipse">
            <a:avLst/>
          </a:prstGeom>
          <a:solidFill>
            <a:srgbClr val="156818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1207008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①毎年15万台の廃棄家電が発生。回収事業とのシナジーで調達コストがほぼゼロ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4041648" cy="621792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103120"/>
            <a:ext cx="118872" cy="118872"/>
          </a:xfrm>
          <a:prstGeom prst="ellipse">
            <a:avLst/>
          </a:prstGeom>
          <a:solidFill>
            <a:srgbClr val="156818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1920240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②3〜4月の新入生需要が集中。在庫・物流を計画的に動かしやすい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4041648" cy="621792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816352"/>
            <a:ext cx="118872" cy="118872"/>
          </a:xfrm>
          <a:prstGeom prst="ellipse">
            <a:avLst/>
          </a:prstGeom>
          <a:solidFill>
            <a:srgbClr val="156818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2633472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③競合未提携の都内中堅大学生協が多数。早期開拓で独占的チャンネルを確保できる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4041648" cy="621792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529584"/>
            <a:ext cx="118872" cy="118872"/>
          </a:xfrm>
          <a:prstGeom prst="ellipse">
            <a:avLst/>
          </a:prstGeom>
          <a:solidFill>
            <a:srgbClr val="156818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" y="3346704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④物価高・奨学金負担により初期費用削減ニーズが増加（保護者負担11万円/家電）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86784"/>
            <a:ext cx="4041648" cy="621792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242816"/>
            <a:ext cx="118872" cy="118872"/>
          </a:xfrm>
          <a:prstGeom prst="ellipse">
            <a:avLst/>
          </a:prstGeom>
          <a:solidFill>
            <a:srgbClr val="156818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4059936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⑤Z世代のリユース・SDGs意識が高く、リユース家電への抵抗感が低下中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36592" y="768096"/>
            <a:ext cx="4041648" cy="292608"/>
          </a:xfrm>
          <a:prstGeom prst="rect">
            <a:avLst/>
          </a:prstGeom>
          <a:solidFill>
            <a:srgbClr val="DD001B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768096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脅威（Threats）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1133856"/>
            <a:ext cx="4041648" cy="621792"/>
          </a:xfrm>
          <a:prstGeom prst="rect">
            <a:avLst/>
          </a:prstGeom>
          <a:solidFill>
            <a:srgbClr val="F4CCCC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73752" y="1389888"/>
            <a:ext cx="118872" cy="118872"/>
          </a:xfrm>
          <a:prstGeom prst="ellipse">
            <a:avLst/>
          </a:prstGeom>
          <a:solidFill>
            <a:srgbClr val="DD001B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1207008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①かして！どっとこむ・てぶらでどっとこむが生協提携で先行。後発の参入障壁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36592" y="1847088"/>
            <a:ext cx="4041648" cy="621792"/>
          </a:xfrm>
          <a:prstGeom prst="rect">
            <a:avLst/>
          </a:prstGeom>
          <a:solidFill>
            <a:srgbClr val="F4CCCC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3752" y="2103120"/>
            <a:ext cx="118872" cy="118872"/>
          </a:xfrm>
          <a:prstGeom prst="ellipse">
            <a:avLst/>
          </a:prstGeom>
          <a:solidFill>
            <a:srgbClr val="DD001B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1920240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②3〜4月の物流集中。引越し繁忙期と重なり配送・設置の人員不足リスク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36592" y="2560320"/>
            <a:ext cx="4041648" cy="621792"/>
          </a:xfrm>
          <a:prstGeom prst="rect">
            <a:avLst/>
          </a:prstGeom>
          <a:solidFill>
            <a:srgbClr val="F4CCCC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73752" y="2816352"/>
            <a:ext cx="118872" cy="118872"/>
          </a:xfrm>
          <a:prstGeom prst="ellipse">
            <a:avLst/>
          </a:prstGeom>
          <a:solidFill>
            <a:srgbClr val="DD001B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2633472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③「他人が使った家電」への心理的抵抗。品質保証・見た目の担保が必須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36592" y="3273552"/>
            <a:ext cx="4041648" cy="621792"/>
          </a:xfrm>
          <a:prstGeom prst="rect">
            <a:avLst/>
          </a:prstGeom>
          <a:solidFill>
            <a:srgbClr val="F4CCCC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73752" y="3529584"/>
            <a:ext cx="118872" cy="118872"/>
          </a:xfrm>
          <a:prstGeom prst="ellipse">
            <a:avLst/>
          </a:prstGeom>
          <a:solidFill>
            <a:srgbClr val="DD001B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3346704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④古物商許可・PSE・電安法など複数法令の遵守体制整備コストが重い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1005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" y="100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内部環境分析（SW）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68096"/>
            <a:ext cx="4041648" cy="292608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68096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強み（Strengths）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33856"/>
            <a:ext cx="4041648" cy="804672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33856"/>
            <a:ext cx="54864" cy="804672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18872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仕入れコスト＝ほぼゼロ（リユース品）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499616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廃棄物回収網からリユース家電を調達（コストほぼゼロ）。ただし初期は台数にばらつきがあり、新品（調達コスト発生）で補う可能性がある。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029968"/>
            <a:ext cx="4041648" cy="804672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29968"/>
            <a:ext cx="54864" cy="804672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084832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与野倉庫（既存インフラ）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都心60分圏の倉庫確保済み。整備・保管・配送をワンストップ化。倉庫賃料の追加負担なし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041648" cy="804672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26080"/>
            <a:ext cx="54864" cy="804672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980944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自社車両・ドライバーで配送回収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291840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廃棄物回収の既存車両を活用。外注なしで設置・回収が完結できる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4041648" cy="804672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822192"/>
            <a:ext cx="54864" cy="804672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877056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行政認定業者としての信頼性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187952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廃棄物処理許認可・実績あり。大学生協に「信頼できる法人」として提案できる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36592" y="768096"/>
            <a:ext cx="4041648" cy="292608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768096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弱み（Weaknesses）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36592" y="1133856"/>
            <a:ext cx="4041648" cy="8046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1133856"/>
            <a:ext cx="54864" cy="804672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29" name="Text 27"/>
          <p:cNvSpPr/>
          <p:nvPr/>
        </p:nvSpPr>
        <p:spPr>
          <a:xfrm>
            <a:off x="4873752" y="118872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認知ゼロ・ブランドなし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73752" y="1499616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学生・保護者に知られていない。生協提案で「聞いたことがない」と言われるリスク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36592" y="2029968"/>
            <a:ext cx="4041648" cy="8046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36592" y="2029968"/>
            <a:ext cx="54864" cy="804672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33" name="Text 31"/>
          <p:cNvSpPr/>
          <p:nvPr/>
        </p:nvSpPr>
        <p:spPr>
          <a:xfrm>
            <a:off x="4873752" y="2084832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学生向け営業・マーケ未経験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73752" y="2395728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廃棄物回収はBtoB営業。大学生協交渉・SNS集客は新規領域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36592" y="2926080"/>
            <a:ext cx="4041648" cy="8046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6592" y="2926080"/>
            <a:ext cx="54864" cy="804672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37" name="Text 35"/>
          <p:cNvSpPr/>
          <p:nvPr/>
        </p:nvSpPr>
        <p:spPr>
          <a:xfrm>
            <a:off x="4873752" y="2980944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品質ばらつきと整備基準未整備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73752" y="3291840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回収品はコンディションに差がある。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チェックシートで品質基準を統一する必要がある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36592" y="3822192"/>
            <a:ext cx="4041648" cy="8046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36592" y="3822192"/>
            <a:ext cx="54864" cy="804672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41" name="Text 39"/>
          <p:cNvSpPr/>
          <p:nvPr/>
        </p:nvSpPr>
        <p:spPr>
          <a:xfrm>
            <a:off x="4873752" y="3877056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繁忙期の物流キャパ制約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73752" y="4187952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3〜4月に400件を納品すると廃棄物回収業務と競合する可能性がある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1005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" y="100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クロスSWOT → 戦略結論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50976"/>
            <a:ext cx="3931920" cy="1664208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50976"/>
            <a:ext cx="3931920" cy="256032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509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SO戦略（強み × 機会）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280160"/>
            <a:ext cx="365760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仕入れ0円＋既存物流で業界最安値を実現。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競合未提携の生協を先取りし学生を囲い込む。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低価格学生囲い込み戦略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0" y="950976"/>
            <a:ext cx="3931920" cy="1664208"/>
          </a:xfrm>
          <a:prstGeom prst="rect">
            <a:avLst/>
          </a:prstGeom>
          <a:solidFill>
            <a:srgbClr val="FFF3E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950976"/>
            <a:ext cx="3931920" cy="2560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9509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WO戦略（弱み × 機会）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1280160"/>
            <a:ext cx="365760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ブランドなし → 生協の看板を借りる提案で信頼を補完。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SNSは2年目以降。初年度は生協BtoBに集中。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3931920" cy="1719072"/>
          </a:xfrm>
          <a:prstGeom prst="rect">
            <a:avLst/>
          </a:prstGeom>
          <a:solidFill>
            <a:srgbClr val="C9DAF8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79776"/>
            <a:ext cx="3931920" cy="256032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7797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ST戦略（強み × 脅威）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108960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品質認知リスク → 整備済み証明・チェックシートで可視化。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繁忙期集中リスク → 台数上限を設定し先着予約制で分散。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2779776"/>
            <a:ext cx="3931920" cy="1719072"/>
          </a:xfrm>
          <a:prstGeom prst="rect">
            <a:avLst/>
          </a:prstGeom>
          <a:solidFill>
            <a:srgbClr val="F4CCCC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779776"/>
            <a:ext cx="3931920" cy="256032"/>
          </a:xfrm>
          <a:prstGeom prst="rect">
            <a:avLst/>
          </a:prstGeom>
          <a:solidFill>
            <a:srgbClr val="DD001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7797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WT戦略（弱み × 脅威）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3108960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法令対応（古物商・PSE）は提携法律事務所・行政書士と早期整備。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競合後発を品質管理の明文化でブランド化する。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286000" y="4535424"/>
            <a:ext cx="4572000" cy="45720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45354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「低価格学生囲い込み戦略」　業界最安値 × 生協BtoBで初年度400件を獲得する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1005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" y="100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ユニットエコノミクス（3点セット・2年サイクルあたりの収支）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68096"/>
            <a:ext cx="201168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680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768096"/>
            <a:ext cx="2084832" cy="475488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768096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リユース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（回収品）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768096"/>
            <a:ext cx="2084832" cy="47548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768096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新品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（回収品）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20840" y="768096"/>
            <a:ext cx="2057400" cy="475488"/>
          </a:xfrm>
          <a:prstGeom prst="rect">
            <a:avLst/>
          </a:prstGeom>
          <a:solidFill>
            <a:srgbClr val="DD001B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76809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新品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（市場購入）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316736"/>
            <a:ext cx="2011680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131673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調達コスト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1316736"/>
            <a:ext cx="2084832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Text 16"/>
          <p:cNvSpPr/>
          <p:nvPr/>
        </p:nvSpPr>
        <p:spPr>
          <a:xfrm>
            <a:off x="2423160" y="1316736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1316736"/>
            <a:ext cx="2084832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316736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1316736"/>
            <a:ext cx="2084832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1316736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▲50,000円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1773936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810512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181051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整備・クリーニング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23160" y="1810512"/>
            <a:ext cx="208483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423160" y="181051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▲5,000円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1810512"/>
            <a:ext cx="208483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181051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▲1,000円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20840" y="1810512"/>
            <a:ext cx="208483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181051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0円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2267712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304288"/>
            <a:ext cx="2011680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" y="23042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配達・設置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23160" y="2304288"/>
            <a:ext cx="2084832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6" name="Text 34"/>
          <p:cNvSpPr/>
          <p:nvPr/>
        </p:nvSpPr>
        <p:spPr>
          <a:xfrm>
            <a:off x="2423160" y="230428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▲10,000円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0" y="2304288"/>
            <a:ext cx="2084832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0" y="230428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▲10,000円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720840" y="2304288"/>
            <a:ext cx="2084832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230428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▲10,000円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2761488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2798064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" y="2798064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回収（2年後）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423160" y="2798064"/>
            <a:ext cx="208483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2423160" y="2798064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▲10,000円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0" y="2798064"/>
            <a:ext cx="208483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0" y="2798064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▲10,000円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720840" y="2798064"/>
            <a:ext cx="208483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720840" y="2798064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▲10,000円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3255264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3291840"/>
            <a:ext cx="2011680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" y="32918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レンタル収入（2年間）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423160" y="3291840"/>
            <a:ext cx="2084832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4" name="Text 52"/>
          <p:cNvSpPr/>
          <p:nvPr/>
        </p:nvSpPr>
        <p:spPr>
          <a:xfrm>
            <a:off x="2423160" y="32918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+50,000円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0" y="3291840"/>
            <a:ext cx="2084832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0" y="32918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+50,000円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720840" y="3291840"/>
            <a:ext cx="2084832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8" name="Text 56"/>
          <p:cNvSpPr/>
          <p:nvPr/>
        </p:nvSpPr>
        <p:spPr>
          <a:xfrm>
            <a:off x="6720840" y="32918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+50,000円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65760" y="3749040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3785616"/>
            <a:ext cx="2011680" cy="65836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61" name="Text 59"/>
          <p:cNvSpPr/>
          <p:nvPr/>
        </p:nvSpPr>
        <p:spPr>
          <a:xfrm>
            <a:off x="475488" y="3785616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初回サイクル利益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423160" y="3785616"/>
            <a:ext cx="2084832" cy="658368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23160" y="382219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+25,000円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2423160" y="4169664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（50%）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572000" y="3785616"/>
            <a:ext cx="2084832" cy="658368"/>
          </a:xfrm>
          <a:prstGeom prst="rect">
            <a:avLst/>
          </a:prstGeom>
          <a:solidFill>
            <a:srgbClr val="C9DAF8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0" y="382219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+29,000円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4572000" y="4169664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（58%）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720840" y="3785616"/>
            <a:ext cx="2084832" cy="658368"/>
          </a:xfrm>
          <a:prstGeom prst="rect">
            <a:avLst/>
          </a:prstGeom>
          <a:solidFill>
            <a:srgbClr val="F4CCCC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20840" y="382219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▲20,000円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720840" y="4169664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（−40%）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365760" y="44988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新品（市場購入）は2回転目以降（3〜4年目）から利益化。3回転で累計+30,000円。  ※ 配達・設置・回収の人件費・車両費は10,000円/回で試算。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1005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" y="100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営業戦略：チャンネル設計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86384"/>
            <a:ext cx="8412480" cy="1261872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786384"/>
            <a:ext cx="54864" cy="1261872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179576"/>
            <a:ext cx="438912" cy="438912"/>
          </a:xfrm>
          <a:prstGeom prst="ellipse">
            <a:avLst/>
          </a:prstGeom>
          <a:solidFill>
            <a:srgbClr val="156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1795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42416" y="859536"/>
            <a:ext cx="713232" cy="256032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12" name="Text 10"/>
          <p:cNvSpPr/>
          <p:nvPr/>
        </p:nvSpPr>
        <p:spPr>
          <a:xfrm>
            <a:off x="1042416" y="85953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47088" y="8412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小規模生協への直接訪問と資料郵送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47088" y="11887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競合未提携の小規模校が多く、留学生ニーズが高い。まず訪問または紙資料で接触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47088" y="1554480"/>
            <a:ext cx="118872" cy="118872"/>
          </a:xfrm>
          <a:prstGeom prst="ellipse">
            <a:avLst/>
          </a:prstGeom>
          <a:solidFill>
            <a:srgbClr val="156818"/>
          </a:solidFill>
          <a:ln/>
        </p:spPr>
      </p:sp>
      <p:sp>
        <p:nvSpPr>
          <p:cNvPr id="16" name="Text 14"/>
          <p:cNvSpPr/>
          <p:nvPr/>
        </p:nvSpPr>
        <p:spPr>
          <a:xfrm>
            <a:off x="2029968" y="1508760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留学生比率大・小規模生協をリストアップ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47088" y="1792224"/>
            <a:ext cx="118872" cy="118872"/>
          </a:xfrm>
          <a:prstGeom prst="ellipse">
            <a:avLst/>
          </a:prstGeom>
          <a:solidFill>
            <a:srgbClr val="156818"/>
          </a:solidFill>
          <a:ln/>
        </p:spPr>
      </p:sp>
      <p:sp>
        <p:nvSpPr>
          <p:cNvPr id="18" name="Text 16"/>
          <p:cNvSpPr/>
          <p:nvPr/>
        </p:nvSpPr>
        <p:spPr>
          <a:xfrm>
            <a:off x="2029968" y="1746504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直接訪問または紙ベース資料を郵送して提案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47088" y="2029968"/>
            <a:ext cx="118872" cy="118872"/>
          </a:xfrm>
          <a:prstGeom prst="ellipse">
            <a:avLst/>
          </a:prstGeom>
          <a:solidFill>
            <a:srgbClr val="156818"/>
          </a:solidFill>
          <a:ln/>
        </p:spPr>
      </p:sp>
      <p:sp>
        <p:nvSpPr>
          <p:cNvPr id="20" name="Text 18"/>
          <p:cNvSpPr/>
          <p:nvPr/>
        </p:nvSpPr>
        <p:spPr>
          <a:xfrm>
            <a:off x="2029968" y="1984248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在日留学生コミュニティへの口コミも活用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50992" y="969264"/>
            <a:ext cx="2944368" cy="347472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22" name="Text 20"/>
          <p:cNvSpPr/>
          <p:nvPr/>
        </p:nvSpPr>
        <p:spPr>
          <a:xfrm>
            <a:off x="5650992" y="969264"/>
            <a:ext cx="2944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10〜12月仕込み、3〜4月獲得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194560"/>
            <a:ext cx="8412480" cy="1261872"/>
          </a:xfrm>
          <a:prstGeom prst="rect">
            <a:avLst/>
          </a:prstGeom>
          <a:solidFill>
            <a:srgbClr val="FFF3E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194560"/>
            <a:ext cx="54864" cy="12618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2587752"/>
            <a:ext cx="438912" cy="438912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587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42416" y="2267712"/>
            <a:ext cx="713232" cy="2560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1042416" y="226771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補完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47088" y="224942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チラシ設置 + KB 2,000円/件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847088" y="25968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入居タイミングで接触。KB設計で紹介元の動機を確保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847088" y="2962656"/>
            <a:ext cx="118872" cy="118872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2" name="Text 30"/>
          <p:cNvSpPr/>
          <p:nvPr/>
        </p:nvSpPr>
        <p:spPr>
          <a:xfrm>
            <a:off x="2029968" y="2916936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仲介・入寮施設にチラシ設置（KB 2,000円/件）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47088" y="3200400"/>
            <a:ext cx="118872" cy="118872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4" name="Text 32"/>
          <p:cNvSpPr/>
          <p:nvPr/>
        </p:nvSpPr>
        <p:spPr>
          <a:xfrm>
            <a:off x="2029968" y="3154680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外国人支援窓口・留学生ハウスにも配布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47088" y="3438144"/>
            <a:ext cx="118872" cy="118872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6" name="Text 34"/>
          <p:cNvSpPr/>
          <p:nvPr/>
        </p:nvSpPr>
        <p:spPr>
          <a:xfrm>
            <a:off x="2029968" y="3392424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管理会社にQRコード付きカードを設置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50992" y="2377440"/>
            <a:ext cx="2944368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8" name="Text 36"/>
          <p:cNvSpPr/>
          <p:nvPr/>
        </p:nvSpPr>
        <p:spPr>
          <a:xfrm>
            <a:off x="5650992" y="2377440"/>
            <a:ext cx="2944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通年（1〜3月を重点化）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602736"/>
            <a:ext cx="54864" cy="1261872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41" name="Shape 39"/>
          <p:cNvSpPr/>
          <p:nvPr/>
        </p:nvSpPr>
        <p:spPr>
          <a:xfrm>
            <a:off x="502920" y="3995928"/>
            <a:ext cx="438912" cy="438912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42416" y="3675888"/>
            <a:ext cx="713232" cy="256032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44" name="Text 42"/>
          <p:cNvSpPr/>
          <p:nvPr/>
        </p:nvSpPr>
        <p:spPr>
          <a:xfrm>
            <a:off x="1042416" y="367588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低優先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47088" y="36576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既存顧客経由（廃棄物回収先250社）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847088" y="40050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既存250社との信頼関係を活用。受注コストほぼゼロだが優先度は3番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847088" y="4370832"/>
            <a:ext cx="118872" cy="118872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48" name="Text 46"/>
          <p:cNvSpPr/>
          <p:nvPr/>
        </p:nvSpPr>
        <p:spPr>
          <a:xfrm>
            <a:off x="2029968" y="4325112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既存法人担当者へDM・TELで紹介依頼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847088" y="4608576"/>
            <a:ext cx="118872" cy="118872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50" name="Text 48"/>
          <p:cNvSpPr/>
          <p:nvPr/>
        </p:nvSpPr>
        <p:spPr>
          <a:xfrm>
            <a:off x="2029968" y="4562856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担当者のお子様・知人の新入生にアプローチ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47088" y="4846320"/>
            <a:ext cx="118872" cy="118872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52" name="Text 50"/>
          <p:cNvSpPr/>
          <p:nvPr/>
        </p:nvSpPr>
        <p:spPr>
          <a:xfrm>
            <a:off x="2029968" y="4800600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成約時に紹介者へ謝礼（商品券・割引等）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650992" y="3785616"/>
            <a:ext cx="2944368" cy="347472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54" name="Text 52"/>
          <p:cNvSpPr/>
          <p:nvPr/>
        </p:nvSpPr>
        <p:spPr>
          <a:xfrm>
            <a:off x="5650992" y="3785616"/>
            <a:ext cx="2944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随時（優先度3番）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営業仮戦略候補（追加検討）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94944"/>
            <a:ext cx="8412480" cy="329184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94944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以下は現在検討中の追加チャンネル案です。優先度・実現性を確認しながら順次着手する想定です。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279392" cy="118872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54864" cy="118872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481328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1170432"/>
            <a:ext cx="658368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117043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仮戦略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37360" y="1170432"/>
            <a:ext cx="914400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11704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1〜3月重点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24128" y="1426464"/>
            <a:ext cx="3511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リスト化＋紙DM郵送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24128" y="1792224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新入生・在学留学生のリストを整備し、案内状を郵送。大学から入手可能な情報を活用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64608" y="1115568"/>
            <a:ext cx="4279392" cy="118872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64608" y="1115568"/>
            <a:ext cx="54864" cy="118872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19" name="Shape 17"/>
          <p:cNvSpPr/>
          <p:nvPr/>
        </p:nvSpPr>
        <p:spPr>
          <a:xfrm>
            <a:off x="4974336" y="1481328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20" name="Text 18"/>
          <p:cNvSpPr/>
          <p:nvPr/>
        </p:nvSpPr>
        <p:spPr>
          <a:xfrm>
            <a:off x="4974336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22976" y="1170432"/>
            <a:ext cx="658368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2" name="Text 20"/>
          <p:cNvSpPr/>
          <p:nvPr/>
        </p:nvSpPr>
        <p:spPr>
          <a:xfrm>
            <a:off x="5522976" y="117043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仮戦略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36208" y="1170432"/>
            <a:ext cx="914400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4" name="Text 22"/>
          <p:cNvSpPr/>
          <p:nvPr/>
        </p:nvSpPr>
        <p:spPr>
          <a:xfrm>
            <a:off x="6236208" y="11704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2〜4月重点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22976" y="1426464"/>
            <a:ext cx="3511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SNS広告（Instagram・LINE）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22976" y="1792224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学生層へターゲティング広告。入学シーズンに集中出稿してリーチを確保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432304"/>
            <a:ext cx="4279392" cy="118872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432304"/>
            <a:ext cx="54864" cy="118872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" y="2798064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2798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24128" y="2487168"/>
            <a:ext cx="658368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2" name="Text 30"/>
          <p:cNvSpPr/>
          <p:nvPr/>
        </p:nvSpPr>
        <p:spPr>
          <a:xfrm>
            <a:off x="1024128" y="248716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仮戦略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37360" y="2487168"/>
            <a:ext cx="914400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4" name="Text 32"/>
          <p:cNvSpPr/>
          <p:nvPr/>
        </p:nvSpPr>
        <p:spPr>
          <a:xfrm>
            <a:off x="1737360" y="24871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3〜4月・9月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24128" y="2743200"/>
            <a:ext cx="3511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大学イベントでのビラ配り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24128" y="310896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入学式・新歓・オープンキャンパスで直接配布。QRコードで申込につなげる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64608" y="2432304"/>
            <a:ext cx="4279392" cy="118872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64608" y="2432304"/>
            <a:ext cx="54864" cy="118872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39" name="Shape 37"/>
          <p:cNvSpPr/>
          <p:nvPr/>
        </p:nvSpPr>
        <p:spPr>
          <a:xfrm>
            <a:off x="4974336" y="2798064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40" name="Text 38"/>
          <p:cNvSpPr/>
          <p:nvPr/>
        </p:nvSpPr>
        <p:spPr>
          <a:xfrm>
            <a:off x="4974336" y="2798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522976" y="2487168"/>
            <a:ext cx="658368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2" name="Text 40"/>
          <p:cNvSpPr/>
          <p:nvPr/>
        </p:nvSpPr>
        <p:spPr>
          <a:xfrm>
            <a:off x="5522976" y="248716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仮戦略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36208" y="2487168"/>
            <a:ext cx="914400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Text 42"/>
          <p:cNvSpPr/>
          <p:nvPr/>
        </p:nvSpPr>
        <p:spPr>
          <a:xfrm>
            <a:off x="6236208" y="24871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随時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522976" y="2743200"/>
            <a:ext cx="3511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留学生情報サイト掲載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522976" y="310896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JASSO・留学生センター等の情報サイトへの掲載。在日留学生への認知獲得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3749040"/>
            <a:ext cx="4279392" cy="118872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3749040"/>
            <a:ext cx="54864" cy="118872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9" name="Shape 47"/>
          <p:cNvSpPr/>
          <p:nvPr/>
        </p:nvSpPr>
        <p:spPr>
          <a:xfrm>
            <a:off x="475488" y="4114800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" y="4114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1024128" y="3803904"/>
            <a:ext cx="658368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2" name="Text 50"/>
          <p:cNvSpPr/>
          <p:nvPr/>
        </p:nvSpPr>
        <p:spPr>
          <a:xfrm>
            <a:off x="1024128" y="380390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仮戦略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737360" y="3803904"/>
            <a:ext cx="914400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4" name="Text 52"/>
          <p:cNvSpPr/>
          <p:nvPr/>
        </p:nvSpPr>
        <p:spPr>
          <a:xfrm>
            <a:off x="1737360" y="380390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1〜3月重点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024128" y="4059936"/>
            <a:ext cx="3511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不動産仲介・管理会社提携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1024128" y="4425696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新入生の入居時に紹介。KB 2,000円/件で動機づけ。既存訪問先250社と重複可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64608" y="3749040"/>
            <a:ext cx="4279392" cy="118872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64608" y="3749040"/>
            <a:ext cx="54864" cy="118872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59" name="Shape 57"/>
          <p:cNvSpPr/>
          <p:nvPr/>
        </p:nvSpPr>
        <p:spPr>
          <a:xfrm>
            <a:off x="4974336" y="4114800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60" name="Text 58"/>
          <p:cNvSpPr/>
          <p:nvPr/>
        </p:nvSpPr>
        <p:spPr>
          <a:xfrm>
            <a:off x="4974336" y="4114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522976" y="3803904"/>
            <a:ext cx="658368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2" name="Text 60"/>
          <p:cNvSpPr/>
          <p:nvPr/>
        </p:nvSpPr>
        <p:spPr>
          <a:xfrm>
            <a:off x="5522976" y="380390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仮戦略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36208" y="3803904"/>
            <a:ext cx="914400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4" name="Text 62"/>
          <p:cNvSpPr/>
          <p:nvPr/>
        </p:nvSpPr>
        <p:spPr>
          <a:xfrm>
            <a:off x="6236208" y="380390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随時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522976" y="4059936"/>
            <a:ext cx="3511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国際交流協会・市区役所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5522976" y="4425696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外国人支援窓口・国際交流協会経由で留学生に案内。公的信頼性も付加できる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よくある懸念と回答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1316736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64008" cy="1316736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7" name="Shape 5"/>
          <p:cNvSpPr/>
          <p:nvPr/>
        </p:nvSpPr>
        <p:spPr>
          <a:xfrm>
            <a:off x="521208" y="822960"/>
            <a:ext cx="292608" cy="27432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82296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804672"/>
            <a:ext cx="7699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本当に生協と契約できるの？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21208" y="1170432"/>
            <a:ext cx="7735824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298448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225296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競合大手（アリスシステム等）は大規模校中心。留学生比率が高い中小規模の生協は未提携校が多数残っており、先手で入れば独占できる。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1554480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481328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生協が断っても専門学校・日本語学校・KB経由など複数チャンネルあり。1チャンネル頼みではない構造。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1810512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737360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まず1〜2校とPoC提携 → 実績をつくって横展開する。最初から50校狙わない。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194560"/>
            <a:ext cx="8412480" cy="1316736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194560"/>
            <a:ext cx="64008" cy="1316736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19" name="Shape 17"/>
          <p:cNvSpPr/>
          <p:nvPr/>
        </p:nvSpPr>
        <p:spPr>
          <a:xfrm>
            <a:off x="521208" y="2267712"/>
            <a:ext cx="292608" cy="27432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" y="226771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249424"/>
            <a:ext cx="7699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留学生は本当に借りるの？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21208" y="2615184"/>
            <a:ext cx="7735824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2743200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2670048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来日初日に現金5万円を一括で払える留学生は多くない。月2,083円に分割すれば収入が不安定な学生でも契約しやすい。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" y="2999232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2926080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冷蔵庫・洗濯機・電子レンジは生活必需品。「借りない・買わない」という選択肢が事実上ない。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" y="3255264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182112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類似サービス（かして！どっとこむ等）がすでに市場で成立しており、需要の実在は証明済み。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639312"/>
            <a:ext cx="8412480" cy="1316736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639312"/>
            <a:ext cx="64008" cy="1316736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31" name="Shape 29"/>
          <p:cNvSpPr/>
          <p:nvPr/>
        </p:nvSpPr>
        <p:spPr>
          <a:xfrm>
            <a:off x="521208" y="3712464"/>
            <a:ext cx="292608" cy="27432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" y="371246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3694176"/>
            <a:ext cx="7699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誰が動く？人手は足りる？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21208" y="4059936"/>
            <a:ext cx="7735824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" y="4187952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114800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初年度400件ペース（週8件）なら既存ルートセールスが生協訪問を兼務できる規模感。専任1名体制から始める想定。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" y="4443984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4370832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配送・設置は既存トラック・ドライバーが対応（廃棄物収集ルートと訪問先が重複）。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" y="4700016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4626864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整備（リファービッシュ）は埼玉倉庫スタッフが担当。追加採用は稼働300件超えてから検討で十分。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営業仮戦略候補②（ニッチ特化）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94944"/>
            <a:ext cx="8412480" cy="329184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94944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競合が少ない「田舎の小規模大学留学生」を狙うニッチ特化戦略。先手で入れば独占的ポジションを築ける。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279392" cy="118872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54864" cy="1188720"/>
          </a:xfrm>
          <a:prstGeom prst="rect">
            <a:avLst/>
          </a:prstGeom>
          <a:solidFill>
            <a:srgbClr val="0D7480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481328"/>
            <a:ext cx="438912" cy="438912"/>
          </a:xfrm>
          <a:prstGeom prst="ellipse">
            <a:avLst/>
          </a:prstGeom>
          <a:solidFill>
            <a:srgbClr val="0D748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1170432"/>
            <a:ext cx="804672" cy="219456"/>
          </a:xfrm>
          <a:prstGeom prst="rect">
            <a:avLst/>
          </a:prstGeom>
          <a:solidFill>
            <a:srgbClr val="0D74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1170432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ニッチ戦略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83664" y="1170432"/>
            <a:ext cx="1024128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" name="Text 12"/>
          <p:cNvSpPr/>
          <p:nvPr/>
        </p:nvSpPr>
        <p:spPr>
          <a:xfrm>
            <a:off x="1883664" y="1170432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10〜12月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24128" y="1426464"/>
            <a:ext cx="3511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競合未進出の地方小規模大学へ先手営業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24128" y="1792224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大手生協チェーンが提携していない郊外・地方の小規模大学に絞ってアプローチ。競合不在で独占ポジションを獲得しやすい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64608" y="1115568"/>
            <a:ext cx="4279392" cy="118872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64608" y="1115568"/>
            <a:ext cx="54864" cy="1188720"/>
          </a:xfrm>
          <a:prstGeom prst="rect">
            <a:avLst/>
          </a:prstGeom>
          <a:solidFill>
            <a:srgbClr val="0D7480"/>
          </a:solidFill>
          <a:ln/>
        </p:spPr>
      </p:sp>
      <p:sp>
        <p:nvSpPr>
          <p:cNvPr id="19" name="Shape 17"/>
          <p:cNvSpPr/>
          <p:nvPr/>
        </p:nvSpPr>
        <p:spPr>
          <a:xfrm>
            <a:off x="4974336" y="1481328"/>
            <a:ext cx="438912" cy="438912"/>
          </a:xfrm>
          <a:prstGeom prst="ellipse">
            <a:avLst/>
          </a:prstGeom>
          <a:solidFill>
            <a:srgbClr val="0D7480"/>
          </a:solidFill>
          <a:ln/>
        </p:spPr>
      </p:sp>
      <p:sp>
        <p:nvSpPr>
          <p:cNvPr id="20" name="Text 18"/>
          <p:cNvSpPr/>
          <p:nvPr/>
        </p:nvSpPr>
        <p:spPr>
          <a:xfrm>
            <a:off x="4974336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22976" y="1170432"/>
            <a:ext cx="804672" cy="219456"/>
          </a:xfrm>
          <a:prstGeom prst="rect">
            <a:avLst/>
          </a:prstGeom>
          <a:solidFill>
            <a:srgbClr val="0D7480"/>
          </a:solidFill>
          <a:ln/>
        </p:spPr>
      </p:sp>
      <p:sp>
        <p:nvSpPr>
          <p:cNvPr id="22" name="Text 20"/>
          <p:cNvSpPr/>
          <p:nvPr/>
        </p:nvSpPr>
        <p:spPr>
          <a:xfrm>
            <a:off x="5522976" y="1170432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ニッチ戦略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82512" y="1170432"/>
            <a:ext cx="1024128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1170432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22976" y="1426464"/>
            <a:ext cx="3511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留学エージェント（海外送り出し機関）提携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22976" y="1792224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来日前の段階で家電セットを提案。渡航パッケージに組み込んでもらうことで入国前から顧客確保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432304"/>
            <a:ext cx="4279392" cy="118872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432304"/>
            <a:ext cx="54864" cy="1188720"/>
          </a:xfrm>
          <a:prstGeom prst="rect">
            <a:avLst/>
          </a:prstGeom>
          <a:solidFill>
            <a:srgbClr val="0D7480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" y="2798064"/>
            <a:ext cx="438912" cy="438912"/>
          </a:xfrm>
          <a:prstGeom prst="ellipse">
            <a:avLst/>
          </a:prstGeom>
          <a:solidFill>
            <a:srgbClr val="0D748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2798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24128" y="2487168"/>
            <a:ext cx="804672" cy="219456"/>
          </a:xfrm>
          <a:prstGeom prst="rect">
            <a:avLst/>
          </a:prstGeom>
          <a:solidFill>
            <a:srgbClr val="0D7480"/>
          </a:solidFill>
          <a:ln/>
        </p:spPr>
      </p:sp>
      <p:sp>
        <p:nvSpPr>
          <p:cNvPr id="32" name="Text 30"/>
          <p:cNvSpPr/>
          <p:nvPr/>
        </p:nvSpPr>
        <p:spPr>
          <a:xfrm>
            <a:off x="1024128" y="2487168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ニッチ戦略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83664" y="2487168"/>
            <a:ext cx="1024128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4" name="Text 32"/>
          <p:cNvSpPr/>
          <p:nvPr/>
        </p:nvSpPr>
        <p:spPr>
          <a:xfrm>
            <a:off x="1883664" y="2487168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2〜4月・9月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24128" y="2743200"/>
            <a:ext cx="3511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多言語SNS広告（WeChat・TikTok）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24128" y="310896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中国語・ベトナム語・英語で配信。中国系はWeChat、東南アジア系はFacebook/TikTokで出身国別に訴求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64608" y="2432304"/>
            <a:ext cx="4279392" cy="118872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64608" y="2432304"/>
            <a:ext cx="54864" cy="1188720"/>
          </a:xfrm>
          <a:prstGeom prst="rect">
            <a:avLst/>
          </a:prstGeom>
          <a:solidFill>
            <a:srgbClr val="0D7480"/>
          </a:solidFill>
          <a:ln/>
        </p:spPr>
      </p:sp>
      <p:sp>
        <p:nvSpPr>
          <p:cNvPr id="39" name="Shape 37"/>
          <p:cNvSpPr/>
          <p:nvPr/>
        </p:nvSpPr>
        <p:spPr>
          <a:xfrm>
            <a:off x="4974336" y="2798064"/>
            <a:ext cx="438912" cy="438912"/>
          </a:xfrm>
          <a:prstGeom prst="ellipse">
            <a:avLst/>
          </a:prstGeom>
          <a:solidFill>
            <a:srgbClr val="0D7480"/>
          </a:solidFill>
          <a:ln/>
        </p:spPr>
      </p:sp>
      <p:sp>
        <p:nvSpPr>
          <p:cNvPr id="40" name="Text 38"/>
          <p:cNvSpPr/>
          <p:nvPr/>
        </p:nvSpPr>
        <p:spPr>
          <a:xfrm>
            <a:off x="4974336" y="2798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522976" y="2487168"/>
            <a:ext cx="804672" cy="219456"/>
          </a:xfrm>
          <a:prstGeom prst="rect">
            <a:avLst/>
          </a:prstGeom>
          <a:solidFill>
            <a:srgbClr val="0D7480"/>
          </a:solidFill>
          <a:ln/>
        </p:spPr>
      </p:sp>
      <p:sp>
        <p:nvSpPr>
          <p:cNvPr id="42" name="Text 40"/>
          <p:cNvSpPr/>
          <p:nvPr/>
        </p:nvSpPr>
        <p:spPr>
          <a:xfrm>
            <a:off x="5522976" y="2487168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ニッチ戦略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82512" y="2487168"/>
            <a:ext cx="1024128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Text 42"/>
          <p:cNvSpPr/>
          <p:nvPr/>
        </p:nvSpPr>
        <p:spPr>
          <a:xfrm>
            <a:off x="6382512" y="2487168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10〜12月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522976" y="2743200"/>
            <a:ext cx="3511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 国際課・留学生担当教員へ直接営業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522976" y="310896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国際課の担当者1人を押さえれば全留学生に案内できる。教職員紹介なら信頼性も高く成約率が上がる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3749040"/>
            <a:ext cx="4279392" cy="118872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3749040"/>
            <a:ext cx="54864" cy="1188720"/>
          </a:xfrm>
          <a:prstGeom prst="rect">
            <a:avLst/>
          </a:prstGeom>
          <a:solidFill>
            <a:srgbClr val="0D7480"/>
          </a:solidFill>
          <a:ln/>
        </p:spPr>
      </p:sp>
      <p:sp>
        <p:nvSpPr>
          <p:cNvPr id="49" name="Shape 47"/>
          <p:cNvSpPr/>
          <p:nvPr/>
        </p:nvSpPr>
        <p:spPr>
          <a:xfrm>
            <a:off x="475488" y="4114800"/>
            <a:ext cx="438912" cy="438912"/>
          </a:xfrm>
          <a:prstGeom prst="ellipse">
            <a:avLst/>
          </a:prstGeom>
          <a:solidFill>
            <a:srgbClr val="0D7480"/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" y="4114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1024128" y="3803904"/>
            <a:ext cx="804672" cy="219456"/>
          </a:xfrm>
          <a:prstGeom prst="rect">
            <a:avLst/>
          </a:prstGeom>
          <a:solidFill>
            <a:srgbClr val="0D7480"/>
          </a:solidFill>
          <a:ln/>
        </p:spPr>
      </p:sp>
      <p:sp>
        <p:nvSpPr>
          <p:cNvPr id="52" name="Text 50"/>
          <p:cNvSpPr/>
          <p:nvPr/>
        </p:nvSpPr>
        <p:spPr>
          <a:xfrm>
            <a:off x="1024128" y="3803904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ニッチ戦略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83664" y="3803904"/>
            <a:ext cx="1024128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4" name="Text 52"/>
          <p:cNvSpPr/>
          <p:nvPr/>
        </p:nvSpPr>
        <p:spPr>
          <a:xfrm>
            <a:off x="1883664" y="3803904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随時（複数期）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024128" y="4059936"/>
            <a:ext cx="3511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専門学校・日本語学校ターゲット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1024128" y="4425696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生協がなく競合が少ない。留学生比率が高く、入学タイミングが複数回あるため年間通じて需要がある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64608" y="3749040"/>
            <a:ext cx="4279392" cy="118872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64608" y="3749040"/>
            <a:ext cx="54864" cy="1188720"/>
          </a:xfrm>
          <a:prstGeom prst="rect">
            <a:avLst/>
          </a:prstGeom>
          <a:solidFill>
            <a:srgbClr val="0D7480"/>
          </a:solidFill>
          <a:ln/>
        </p:spPr>
      </p:sp>
      <p:sp>
        <p:nvSpPr>
          <p:cNvPr id="59" name="Shape 57"/>
          <p:cNvSpPr/>
          <p:nvPr/>
        </p:nvSpPr>
        <p:spPr>
          <a:xfrm>
            <a:off x="4974336" y="4114800"/>
            <a:ext cx="438912" cy="438912"/>
          </a:xfrm>
          <a:prstGeom prst="ellipse">
            <a:avLst/>
          </a:prstGeom>
          <a:solidFill>
            <a:srgbClr val="0D7480"/>
          </a:solidFill>
          <a:ln/>
        </p:spPr>
      </p:sp>
      <p:sp>
        <p:nvSpPr>
          <p:cNvPr id="60" name="Text 58"/>
          <p:cNvSpPr/>
          <p:nvPr/>
        </p:nvSpPr>
        <p:spPr>
          <a:xfrm>
            <a:off x="4974336" y="4114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522976" y="3803904"/>
            <a:ext cx="804672" cy="219456"/>
          </a:xfrm>
          <a:prstGeom prst="rect">
            <a:avLst/>
          </a:prstGeom>
          <a:solidFill>
            <a:srgbClr val="0D7480"/>
          </a:solidFill>
          <a:ln/>
        </p:spPr>
      </p:sp>
      <p:sp>
        <p:nvSpPr>
          <p:cNvPr id="62" name="Text 60"/>
          <p:cNvSpPr/>
          <p:nvPr/>
        </p:nvSpPr>
        <p:spPr>
          <a:xfrm>
            <a:off x="5522976" y="3803904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ニッチ戦略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382512" y="3803904"/>
            <a:ext cx="1024128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4" name="Text 62"/>
          <p:cNvSpPr/>
          <p:nvPr/>
        </p:nvSpPr>
        <p:spPr>
          <a:xfrm>
            <a:off x="6382512" y="3803904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随時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522976" y="4059936"/>
            <a:ext cx="3511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留学生OBの口コミネットワーク活用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5522976" y="4425696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卒業・帰国した留学生が後輩に紹介。SNS（LINE・WeChat）の先輩→後輩ルートは信頼度が最も高い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生協営業フロー（4フェーズ）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86384"/>
            <a:ext cx="199339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86384"/>
            <a:ext cx="1993392" cy="54864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877824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877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426464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10〜11月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71907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アポ獲得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2157984"/>
            <a:ext cx="1719072" cy="0"/>
          </a:xfrm>
          <a:prstGeom prst="line">
            <a:avLst/>
          </a:prstGeom>
          <a:noFill/>
          <a:ln w="6350">
            <a:solidFill>
              <a:srgbClr val="DD7E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13432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26771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生協・大学事務へのTEL・メール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15768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6700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ターゲットリスト50〜80校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18104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072384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アポ目標：5〜8件/月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4242816"/>
            <a:ext cx="1773936" cy="438912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4242816"/>
            <a:ext cx="1773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アポ80〜100件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67712" y="261518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50592" y="786384"/>
            <a:ext cx="199339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50592" y="786384"/>
            <a:ext cx="1993392" cy="54864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877824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877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50592" y="1426464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11〜12月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50592" y="171907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提案・交渉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587752" y="2157984"/>
            <a:ext cx="1719072" cy="0"/>
          </a:xfrm>
          <a:prstGeom prst="line">
            <a:avLst/>
          </a:prstGeom>
          <a:noFill/>
          <a:ln w="6350">
            <a:solidFill>
              <a:srgbClr val="DD7E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33472" y="2313432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29" name="Text 27"/>
          <p:cNvSpPr/>
          <p:nvPr/>
        </p:nvSpPr>
        <p:spPr>
          <a:xfrm>
            <a:off x="2798064" y="226771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料金比較表・整備証明を提示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33472" y="2715768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31" name="Text 29"/>
          <p:cNvSpPr/>
          <p:nvPr/>
        </p:nvSpPr>
        <p:spPr>
          <a:xfrm>
            <a:off x="2798064" y="26700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レベニューシェア設計を提案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33472" y="3118104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33" name="Text 31"/>
          <p:cNvSpPr/>
          <p:nvPr/>
        </p:nvSpPr>
        <p:spPr>
          <a:xfrm>
            <a:off x="2798064" y="3072384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目標提携締結率：30〜40%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0" y="4242816"/>
            <a:ext cx="1773936" cy="438912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35" name="Text 33"/>
          <p:cNvSpPr/>
          <p:nvPr/>
        </p:nvSpPr>
        <p:spPr>
          <a:xfrm>
            <a:off x="2560320" y="4242816"/>
            <a:ext cx="1773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提携13〜15校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43984" y="261518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626864" y="786384"/>
            <a:ext cx="199339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786384"/>
            <a:ext cx="1993392" cy="54864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877824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40" name="Text 38"/>
          <p:cNvSpPr/>
          <p:nvPr/>
        </p:nvSpPr>
        <p:spPr>
          <a:xfrm>
            <a:off x="5376672" y="877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626864" y="1426464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1〜2月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26864" y="171907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告知・予約受付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764024" y="2157984"/>
            <a:ext cx="1719072" cy="0"/>
          </a:xfrm>
          <a:prstGeom prst="line">
            <a:avLst/>
          </a:prstGeom>
          <a:noFill/>
          <a:ln w="6350">
            <a:solidFill>
              <a:srgbClr val="DD7E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9744" y="2313432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45" name="Text 43"/>
          <p:cNvSpPr/>
          <p:nvPr/>
        </p:nvSpPr>
        <p:spPr>
          <a:xfrm>
            <a:off x="4974336" y="226771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生協HPと掲示板に掲載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09744" y="2715768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47" name="Text 45"/>
          <p:cNvSpPr/>
          <p:nvPr/>
        </p:nvSpPr>
        <p:spPr>
          <a:xfrm>
            <a:off x="4974336" y="26700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合格発表日（2月）に集中告知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09744" y="3118104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49" name="Text 47"/>
          <p:cNvSpPr/>
          <p:nvPr/>
        </p:nvSpPr>
        <p:spPr>
          <a:xfrm>
            <a:off x="4974336" y="3072384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先着制・台数上限で締め切り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36592" y="4242816"/>
            <a:ext cx="1773936" cy="438912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51" name="Text 49"/>
          <p:cNvSpPr/>
          <p:nvPr/>
        </p:nvSpPr>
        <p:spPr>
          <a:xfrm>
            <a:off x="4736592" y="4242816"/>
            <a:ext cx="1773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予約200件以上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620256" y="261518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803136" y="786384"/>
            <a:ext cx="199339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03136" y="786384"/>
            <a:ext cx="1993392" cy="54864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55" name="Shape 53"/>
          <p:cNvSpPr/>
          <p:nvPr/>
        </p:nvSpPr>
        <p:spPr>
          <a:xfrm>
            <a:off x="7552944" y="877824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56" name="Text 54"/>
          <p:cNvSpPr/>
          <p:nvPr/>
        </p:nvSpPr>
        <p:spPr>
          <a:xfrm>
            <a:off x="7552944" y="877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803136" y="1426464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3〜4月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803136" y="171907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配送・設置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940296" y="2157984"/>
            <a:ext cx="1719072" cy="0"/>
          </a:xfrm>
          <a:prstGeom prst="line">
            <a:avLst/>
          </a:prstGeom>
          <a:noFill/>
          <a:ln w="6350">
            <a:solidFill>
              <a:srgbClr val="DD7E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86016" y="2313432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61" name="Text 59"/>
          <p:cNvSpPr/>
          <p:nvPr/>
        </p:nvSpPr>
        <p:spPr>
          <a:xfrm>
            <a:off x="7150608" y="226771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2週間に集中して完了させる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986016" y="2715768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63" name="Text 61"/>
          <p:cNvSpPr/>
          <p:nvPr/>
        </p:nvSpPr>
        <p:spPr>
          <a:xfrm>
            <a:off x="7150608" y="26700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スケジュールを事前確定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986016" y="3118104"/>
            <a:ext cx="118872" cy="11887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65" name="Text 63"/>
          <p:cNvSpPr/>
          <p:nvPr/>
        </p:nvSpPr>
        <p:spPr>
          <a:xfrm>
            <a:off x="7150608" y="3072384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丁寧な設置で口コミ獲得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912864" y="4242816"/>
            <a:ext cx="1773936" cy="438912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67" name="Text 65"/>
          <p:cNvSpPr/>
          <p:nvPr/>
        </p:nvSpPr>
        <p:spPr>
          <a:xfrm>
            <a:off x="6912864" y="4242816"/>
            <a:ext cx="1773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稼働400件達成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1005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" y="100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KPI連鎖・週次行動量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786384"/>
            <a:ext cx="4114800" cy="56692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060704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売上1,000万円/年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3749040" cy="566928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4996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1737360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400件（月次）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139696"/>
            <a:ext cx="3291840" cy="566928"/>
          </a:xfrm>
          <a:prstGeom prst="rect">
            <a:avLst/>
          </a:prstGeom>
          <a:solidFill>
            <a:srgbClr val="115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提携校数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" y="2414016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13〜15校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2816352"/>
            <a:ext cx="2834640" cy="56692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28529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309067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40〜50回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43000" y="3493008"/>
            <a:ext cx="2377440" cy="566928"/>
          </a:xfrm>
          <a:prstGeom prst="rect">
            <a:avLst/>
          </a:prstGeom>
          <a:solidFill>
            <a:srgbClr val="9E4500"/>
          </a:solidFill>
          <a:ln/>
        </p:spPr>
      </p:sp>
      <p:sp>
        <p:nvSpPr>
          <p:cNvPr id="20" name="Text 18"/>
          <p:cNvSpPr/>
          <p:nvPr/>
        </p:nvSpPr>
        <p:spPr>
          <a:xfrm>
            <a:off x="1252728" y="35295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アポ数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52728" y="3767328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80〜100件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4169664"/>
            <a:ext cx="1920240" cy="56692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1481328" y="42062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接触数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81328" y="4443984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1,500〜2,000件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786384"/>
            <a:ext cx="4206240" cy="29260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78638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週次管理指標（行動量の担保）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1152144"/>
            <a:ext cx="4206240" cy="54864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1243584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アプローチ数（TEL・メール）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16368" y="1243584"/>
            <a:ext cx="1170432" cy="36576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30" name="Text 28"/>
          <p:cNvSpPr/>
          <p:nvPr/>
        </p:nvSpPr>
        <p:spPr>
          <a:xfrm>
            <a:off x="7516368" y="1243584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30〜40件/週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1773936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1865376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提案面談数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516368" y="1865376"/>
            <a:ext cx="1170432" cy="36576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34" name="Text 32"/>
          <p:cNvSpPr/>
          <p:nvPr/>
        </p:nvSpPr>
        <p:spPr>
          <a:xfrm>
            <a:off x="7516368" y="1865376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2〜3件/週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2395728"/>
            <a:ext cx="4206240" cy="54864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487168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提携締結累計（12月末）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516368" y="2487168"/>
            <a:ext cx="1170432" cy="36576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38" name="Text 36"/>
          <p:cNvSpPr/>
          <p:nvPr/>
        </p:nvSpPr>
        <p:spPr>
          <a:xfrm>
            <a:off x="7516368" y="248716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5〜7校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3017520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310896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予約件数（2月末）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516368" y="3108960"/>
            <a:ext cx="1170432" cy="36576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2" name="Text 40"/>
          <p:cNvSpPr/>
          <p:nvPr/>
        </p:nvSpPr>
        <p:spPr>
          <a:xfrm>
            <a:off x="7516368" y="3108960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200件以上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0" y="3639312"/>
            <a:ext cx="4206240" cy="548640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3730752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稼働開始件数（4月末）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516368" y="3730752"/>
            <a:ext cx="1170432" cy="36576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6" name="Text 44"/>
          <p:cNvSpPr/>
          <p:nvPr/>
        </p:nvSpPr>
        <p:spPr>
          <a:xfrm>
            <a:off x="7516368" y="3730752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400件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0" y="42793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週次でアプローチ数・商談数・締結数をレビューし、行動量の下振れを早期検知する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1005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" y="100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商品収集戦略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68096"/>
            <a:ext cx="8412480" cy="47548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6809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初年度目標：400セット確保（冷蔵庫・洗濯機・電子レンジ 各400台）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53312"/>
            <a:ext cx="4160520" cy="1426464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353312"/>
            <a:ext cx="54864" cy="1426464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1828800"/>
            <a:ext cx="438912" cy="438912"/>
          </a:xfrm>
          <a:prstGeom prst="ellipse">
            <a:avLst/>
          </a:prstGeom>
          <a:solidFill>
            <a:srgbClr val="156818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1828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14447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サキュレ廃棄回収品の選別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24128" y="1828800"/>
            <a:ext cx="877824" cy="256032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182880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200〜300台/年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56816" y="1828800"/>
            <a:ext cx="1097280" cy="2560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1956816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ほぼ0円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2157984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既存の廃棄物回収ルートから家電を選別。調達コストが発生しない最優先ルート。選別率50〜60%を目標。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4160520" cy="1426464"/>
          </a:xfrm>
          <a:prstGeom prst="rect">
            <a:avLst/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26080"/>
            <a:ext cx="54864" cy="1426464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" y="3401568"/>
            <a:ext cx="438912" cy="438912"/>
          </a:xfrm>
          <a:prstGeom prst="ellipse">
            <a:avLst/>
          </a:prstGeom>
          <a:solidFill>
            <a:srgbClr val="DD7E6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401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4128" y="30175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不動産・管理会社の退去残置物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4128" y="3401568"/>
            <a:ext cx="877824" cy="256032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" y="340156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50〜100台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56816" y="3401568"/>
            <a:ext cx="1097280" cy="2560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1956816" y="34015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引取料のみ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4128" y="373075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賃貸退去・原状回復時に発生する残置家電を引き取り。管理会社へ営業することで安定供給を確保。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353312"/>
            <a:ext cx="4160520" cy="1426464"/>
          </a:xfrm>
          <a:prstGeom prst="rect">
            <a:avLst/>
          </a:prstGeom>
          <a:solidFill>
            <a:srgbClr val="FFF3E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353312"/>
            <a:ext cx="54864" cy="14264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818888" y="1828800"/>
            <a:ext cx="438912" cy="438912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1828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67528" y="14447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ジモティー・業者オークション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67528" y="1828800"/>
            <a:ext cx="877824" cy="2560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5" name="Text 33"/>
          <p:cNvSpPr/>
          <p:nvPr/>
        </p:nvSpPr>
        <p:spPr>
          <a:xfrm>
            <a:off x="5367528" y="182880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100台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00216" y="1828800"/>
            <a:ext cx="1097280" cy="2560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Text 35"/>
          <p:cNvSpPr/>
          <p:nvPr/>
        </p:nvSpPr>
        <p:spPr>
          <a:xfrm>
            <a:off x="6300216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3〜5千円/台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67528" y="2157984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サキュレルートで不足する台数を補完。Aucnet等の業者オークションで状態の良いものを選んで仕入れ。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2926080"/>
            <a:ext cx="4160520" cy="142646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2926080"/>
            <a:ext cx="54864" cy="1426464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41" name="Shape 39"/>
          <p:cNvSpPr/>
          <p:nvPr/>
        </p:nvSpPr>
        <p:spPr>
          <a:xfrm>
            <a:off x="4818888" y="3401568"/>
            <a:ext cx="438912" cy="438912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42" name="Text 40"/>
          <p:cNvSpPr/>
          <p:nvPr/>
        </p:nvSpPr>
        <p:spPr>
          <a:xfrm>
            <a:off x="4818888" y="3401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67528" y="30175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大学・学生寮の入れ替え品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367528" y="3401568"/>
            <a:ext cx="877824" cy="256032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45" name="Text 43"/>
          <p:cNvSpPr/>
          <p:nvPr/>
        </p:nvSpPr>
        <p:spPr>
          <a:xfrm>
            <a:off x="5367528" y="340156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30〜50台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0216" y="3401568"/>
            <a:ext cx="1097280" cy="2560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7" name="Text 45"/>
          <p:cNvSpPr/>
          <p:nvPr/>
        </p:nvSpPr>
        <p:spPr>
          <a:xfrm>
            <a:off x="6300216" y="34015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引取料のみ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67528" y="373075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大学の設備更新や学生寮の退去シーズン（3〜4月）に発生する廃棄予定品を先取りする。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整備基準：動作確認全項目・クリーニング・製造から10年以内・整備済みシール貼付・チェックシート保管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1005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" y="100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財務シミュレーション（5カ年）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5カ年 損益シミュレーション（リユース主力・KB込み）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60704"/>
            <a:ext cx="2176272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60704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1060704"/>
            <a:ext cx="1225296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2487168" y="1060704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1年目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67328" y="1060704"/>
            <a:ext cx="1225296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3767328" y="1060704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2年目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47488" y="1060704"/>
            <a:ext cx="1225296" cy="457200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16" name="Text 14"/>
          <p:cNvSpPr/>
          <p:nvPr/>
        </p:nvSpPr>
        <p:spPr>
          <a:xfrm>
            <a:off x="5047488" y="1078992"/>
            <a:ext cx="12252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3年目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47488" y="1280160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★黒字化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27648" y="1060704"/>
            <a:ext cx="1225296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6327648" y="1060704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4年目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07808" y="1060704"/>
            <a:ext cx="1225296" cy="457200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21" name="Text 19"/>
          <p:cNvSpPr/>
          <p:nvPr/>
        </p:nvSpPr>
        <p:spPr>
          <a:xfrm>
            <a:off x="7607808" y="1078992"/>
            <a:ext cx="12252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5年目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07808" y="1280160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★累損一掃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1554480"/>
            <a:ext cx="2176272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15544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稼働件数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87168" y="15544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6" name="Text 24"/>
          <p:cNvSpPr/>
          <p:nvPr/>
        </p:nvSpPr>
        <p:spPr>
          <a:xfrm>
            <a:off x="2487168" y="15544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67328" y="15544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8" name="Text 26"/>
          <p:cNvSpPr/>
          <p:nvPr/>
        </p:nvSpPr>
        <p:spPr>
          <a:xfrm>
            <a:off x="3767328" y="15544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47488" y="15544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0" name="Text 28"/>
          <p:cNvSpPr/>
          <p:nvPr/>
        </p:nvSpPr>
        <p:spPr>
          <a:xfrm>
            <a:off x="5047488" y="15544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27648" y="15544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2" name="Text 30"/>
          <p:cNvSpPr/>
          <p:nvPr/>
        </p:nvSpPr>
        <p:spPr>
          <a:xfrm>
            <a:off x="6327648" y="15544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07808" y="15544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4" name="Text 32"/>
          <p:cNvSpPr/>
          <p:nvPr/>
        </p:nvSpPr>
        <p:spPr>
          <a:xfrm>
            <a:off x="7607808" y="15544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2011680"/>
            <a:ext cx="834847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2011680"/>
            <a:ext cx="21762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20116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年間売上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487168" y="2011680"/>
            <a:ext cx="12252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487168" y="20116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1,000万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767328" y="2011680"/>
            <a:ext cx="12252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767328" y="20116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1,500万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47488" y="2011680"/>
            <a:ext cx="12252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047488" y="20116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2,500万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27648" y="2011680"/>
            <a:ext cx="12252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327648" y="20116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3,000万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607808" y="2011680"/>
            <a:ext cx="12252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7607808" y="20116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3,750万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2468880"/>
            <a:ext cx="834847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2468880"/>
            <a:ext cx="2176272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0" name="Text 48"/>
          <p:cNvSpPr/>
          <p:nvPr/>
        </p:nvSpPr>
        <p:spPr>
          <a:xfrm>
            <a:off x="384048" y="24688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粗利（40%）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487168" y="24688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2" name="Text 50"/>
          <p:cNvSpPr/>
          <p:nvPr/>
        </p:nvSpPr>
        <p:spPr>
          <a:xfrm>
            <a:off x="2487168" y="24688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400万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767328" y="24688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4" name="Text 52"/>
          <p:cNvSpPr/>
          <p:nvPr/>
        </p:nvSpPr>
        <p:spPr>
          <a:xfrm>
            <a:off x="3767328" y="24688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600万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047488" y="24688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6" name="Text 54"/>
          <p:cNvSpPr/>
          <p:nvPr/>
        </p:nvSpPr>
        <p:spPr>
          <a:xfrm>
            <a:off x="5047488" y="24688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1,000万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327648" y="24688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8" name="Text 56"/>
          <p:cNvSpPr/>
          <p:nvPr/>
        </p:nvSpPr>
        <p:spPr>
          <a:xfrm>
            <a:off x="6327648" y="24688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1,200万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607808" y="24688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0" name="Text 58"/>
          <p:cNvSpPr/>
          <p:nvPr/>
        </p:nvSpPr>
        <p:spPr>
          <a:xfrm>
            <a:off x="7607808" y="24688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1,500万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74320" y="2926080"/>
            <a:ext cx="834847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" y="2926080"/>
            <a:ext cx="21762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384048" y="29260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固定費※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487168" y="2926080"/>
            <a:ext cx="12252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2487168" y="29260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▲750万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767328" y="2926080"/>
            <a:ext cx="12252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3767328" y="29260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▲560万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047488" y="2926080"/>
            <a:ext cx="12252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5047488" y="29260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▲680万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327648" y="2926080"/>
            <a:ext cx="12252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6327648" y="29260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▲720万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607808" y="2926080"/>
            <a:ext cx="12252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7607808" y="29260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▲780万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74320" y="3383280"/>
            <a:ext cx="834847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3383280"/>
            <a:ext cx="2176272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76" name="Text 74"/>
          <p:cNvSpPr/>
          <p:nvPr/>
        </p:nvSpPr>
        <p:spPr>
          <a:xfrm>
            <a:off x="384048" y="33832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KB（2千円/件）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487168" y="33832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78" name="Text 76"/>
          <p:cNvSpPr/>
          <p:nvPr/>
        </p:nvSpPr>
        <p:spPr>
          <a:xfrm>
            <a:off x="2487168" y="33832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▲80万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3767328" y="33832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0" name="Text 78"/>
          <p:cNvSpPr/>
          <p:nvPr/>
        </p:nvSpPr>
        <p:spPr>
          <a:xfrm>
            <a:off x="3767328" y="33832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▲120万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047488" y="33832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2" name="Text 80"/>
          <p:cNvSpPr/>
          <p:nvPr/>
        </p:nvSpPr>
        <p:spPr>
          <a:xfrm>
            <a:off x="5047488" y="33832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▲200万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327648" y="33832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4" name="Text 82"/>
          <p:cNvSpPr/>
          <p:nvPr/>
        </p:nvSpPr>
        <p:spPr>
          <a:xfrm>
            <a:off x="6327648" y="33832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▲240万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7607808" y="3383280"/>
            <a:ext cx="1225296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6" name="Text 84"/>
          <p:cNvSpPr/>
          <p:nvPr/>
        </p:nvSpPr>
        <p:spPr>
          <a:xfrm>
            <a:off x="7607808" y="33832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▲300万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274320" y="3840480"/>
            <a:ext cx="834847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74320" y="3840480"/>
            <a:ext cx="2176272" cy="457200"/>
          </a:xfrm>
          <a:prstGeom prst="rect">
            <a:avLst/>
          </a:prstGeom>
          <a:solidFill>
            <a:srgbClr val="D9EAD3"/>
          </a:solidFill>
          <a:ln/>
        </p:spPr>
      </p:sp>
      <p:sp>
        <p:nvSpPr>
          <p:cNvPr id="89" name="Shape 87"/>
          <p:cNvSpPr/>
          <p:nvPr/>
        </p:nvSpPr>
        <p:spPr>
          <a:xfrm>
            <a:off x="274320" y="3840480"/>
            <a:ext cx="54864" cy="457200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90" name="Text 88"/>
          <p:cNvSpPr/>
          <p:nvPr/>
        </p:nvSpPr>
        <p:spPr>
          <a:xfrm>
            <a:off x="384048" y="38404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営業利益（単年）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2487168" y="3840480"/>
            <a:ext cx="1225296" cy="457200"/>
          </a:xfrm>
          <a:prstGeom prst="rect">
            <a:avLst/>
          </a:prstGeom>
          <a:solidFill>
            <a:srgbClr val="F4CCCC"/>
          </a:solidFill>
          <a:ln/>
        </p:spPr>
      </p:sp>
      <p:sp>
        <p:nvSpPr>
          <p:cNvPr id="92" name="Text 90"/>
          <p:cNvSpPr/>
          <p:nvPr/>
        </p:nvSpPr>
        <p:spPr>
          <a:xfrm>
            <a:off x="2487168" y="38404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▲430万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3767328" y="3840480"/>
            <a:ext cx="1225296" cy="457200"/>
          </a:xfrm>
          <a:prstGeom prst="rect">
            <a:avLst/>
          </a:prstGeom>
          <a:solidFill>
            <a:srgbClr val="F4CCCC"/>
          </a:solidFill>
          <a:ln/>
        </p:spPr>
      </p:sp>
      <p:sp>
        <p:nvSpPr>
          <p:cNvPr id="94" name="Text 92"/>
          <p:cNvSpPr/>
          <p:nvPr/>
        </p:nvSpPr>
        <p:spPr>
          <a:xfrm>
            <a:off x="3767328" y="38404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▲80万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5047488" y="3840480"/>
            <a:ext cx="1225296" cy="457200"/>
          </a:xfrm>
          <a:prstGeom prst="rect">
            <a:avLst/>
          </a:prstGeom>
          <a:solidFill>
            <a:srgbClr val="D9EAD3"/>
          </a:solidFill>
          <a:ln/>
        </p:spPr>
      </p:sp>
      <p:sp>
        <p:nvSpPr>
          <p:cNvPr id="96" name="Text 94"/>
          <p:cNvSpPr/>
          <p:nvPr/>
        </p:nvSpPr>
        <p:spPr>
          <a:xfrm>
            <a:off x="5047488" y="38404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+120万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6327648" y="3840480"/>
            <a:ext cx="1225296" cy="457200"/>
          </a:xfrm>
          <a:prstGeom prst="rect">
            <a:avLst/>
          </a:prstGeom>
          <a:solidFill>
            <a:srgbClr val="D9EAD3"/>
          </a:solidFill>
          <a:ln/>
        </p:spPr>
      </p:sp>
      <p:sp>
        <p:nvSpPr>
          <p:cNvPr id="98" name="Text 96"/>
          <p:cNvSpPr/>
          <p:nvPr/>
        </p:nvSpPr>
        <p:spPr>
          <a:xfrm>
            <a:off x="6327648" y="38404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+240万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7607808" y="3840480"/>
            <a:ext cx="1225296" cy="457200"/>
          </a:xfrm>
          <a:prstGeom prst="rect">
            <a:avLst/>
          </a:prstGeom>
          <a:solidFill>
            <a:srgbClr val="D9EAD3"/>
          </a:solidFill>
          <a:ln/>
        </p:spPr>
      </p:sp>
      <p:sp>
        <p:nvSpPr>
          <p:cNvPr id="100" name="Text 98"/>
          <p:cNvSpPr/>
          <p:nvPr/>
        </p:nvSpPr>
        <p:spPr>
          <a:xfrm>
            <a:off x="7607808" y="38404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+420万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274320" y="4297680"/>
            <a:ext cx="834847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" y="4297680"/>
            <a:ext cx="2176272" cy="45720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74320" y="4297680"/>
            <a:ext cx="54864" cy="457200"/>
          </a:xfrm>
          <a:prstGeom prst="rect">
            <a:avLst/>
          </a:prstGeom>
          <a:solidFill>
            <a:srgbClr val="115000"/>
          </a:solidFill>
          <a:ln/>
        </p:spPr>
      </p:sp>
      <p:sp>
        <p:nvSpPr>
          <p:cNvPr id="104" name="Text 102"/>
          <p:cNvSpPr/>
          <p:nvPr/>
        </p:nvSpPr>
        <p:spPr>
          <a:xfrm>
            <a:off x="384048" y="42976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累積損益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2487168" y="4297680"/>
            <a:ext cx="1225296" cy="457200"/>
          </a:xfrm>
          <a:prstGeom prst="rect">
            <a:avLst/>
          </a:prstGeom>
          <a:solidFill>
            <a:srgbClr val="F4CCCC"/>
          </a:solidFill>
          <a:ln/>
        </p:spPr>
      </p:sp>
      <p:sp>
        <p:nvSpPr>
          <p:cNvPr id="106" name="Text 104"/>
          <p:cNvSpPr/>
          <p:nvPr/>
        </p:nvSpPr>
        <p:spPr>
          <a:xfrm>
            <a:off x="2487168" y="42976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▲430万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3767328" y="4297680"/>
            <a:ext cx="1225296" cy="457200"/>
          </a:xfrm>
          <a:prstGeom prst="rect">
            <a:avLst/>
          </a:prstGeom>
          <a:solidFill>
            <a:srgbClr val="F4CCCC"/>
          </a:solidFill>
          <a:ln/>
        </p:spPr>
      </p:sp>
      <p:sp>
        <p:nvSpPr>
          <p:cNvPr id="108" name="Text 106"/>
          <p:cNvSpPr/>
          <p:nvPr/>
        </p:nvSpPr>
        <p:spPr>
          <a:xfrm>
            <a:off x="3767328" y="42976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▲510万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5047488" y="4297680"/>
            <a:ext cx="1225296" cy="457200"/>
          </a:xfrm>
          <a:prstGeom prst="rect">
            <a:avLst/>
          </a:prstGeom>
          <a:solidFill>
            <a:srgbClr val="F4CCCC"/>
          </a:solidFill>
          <a:ln/>
        </p:spPr>
      </p:sp>
      <p:sp>
        <p:nvSpPr>
          <p:cNvPr id="110" name="Text 108"/>
          <p:cNvSpPr/>
          <p:nvPr/>
        </p:nvSpPr>
        <p:spPr>
          <a:xfrm>
            <a:off x="5047488" y="42976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▲390万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6327648" y="4297680"/>
            <a:ext cx="1225296" cy="457200"/>
          </a:xfrm>
          <a:prstGeom prst="rect">
            <a:avLst/>
          </a:prstGeom>
          <a:solidFill>
            <a:srgbClr val="F4CCCC"/>
          </a:solidFill>
          <a:ln/>
        </p:spPr>
      </p:sp>
      <p:sp>
        <p:nvSpPr>
          <p:cNvPr id="112" name="Text 110"/>
          <p:cNvSpPr/>
          <p:nvPr/>
        </p:nvSpPr>
        <p:spPr>
          <a:xfrm>
            <a:off x="6327648" y="42976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▲150万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7607808" y="4297680"/>
            <a:ext cx="1225296" cy="457200"/>
          </a:xfrm>
          <a:prstGeom prst="rect">
            <a:avLst/>
          </a:prstGeom>
          <a:solidFill>
            <a:srgbClr val="D9EAD3"/>
          </a:solidFill>
          <a:ln/>
        </p:spPr>
      </p:sp>
      <p:sp>
        <p:nvSpPr>
          <p:cNvPr id="114" name="Text 112"/>
          <p:cNvSpPr/>
          <p:nvPr/>
        </p:nvSpPr>
        <p:spPr>
          <a:xfrm>
            <a:off x="7607808" y="42976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+270万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274320" y="4754880"/>
            <a:ext cx="834847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74320" y="48097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※1年目固定費は初期費用（設備・HP・営業ツール等）300万円を含む　KB=キックバック（2,000円/成約件）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1005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" y="100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7月アクションプラン（今すぐやること）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4160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731520"/>
            <a:ext cx="4160520" cy="256032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731520"/>
            <a:ext cx="4160520" cy="256032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7315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営業準備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042416"/>
            <a:ext cx="237744" cy="237744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0424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024128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対象36大学の洗い出しと訪問日程の仮決め（7月末までに完了）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1389888"/>
            <a:ext cx="237744" cy="237744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3898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1371600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提案資料の作成（料金比較表・整備証明・配送SLA一覧）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1737360"/>
            <a:ext cx="237744" cy="237744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7373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1719072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レベニューシェア条件の設計（成約2,000円/件）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221992"/>
            <a:ext cx="4160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221992"/>
            <a:ext cx="4160520" cy="256032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2221992"/>
            <a:ext cx="4160520" cy="256032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22199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商品・整備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532888"/>
            <a:ext cx="237744" cy="237744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5328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2514600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サキュレ回収品から使用可能な家電台数の棚卸し（目標：200〜300台）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2880360"/>
            <a:ext cx="237744" cy="237744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8803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2862072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整備チェックシートの作成（動作確認・クリーニング・年式確認）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3227832"/>
            <a:ext cx="237744" cy="237744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2278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209544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整備済みシールのデザイン・発注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731520"/>
            <a:ext cx="4160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731520"/>
            <a:ext cx="4160520" cy="2560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5" name="Shape 33"/>
          <p:cNvSpPr/>
          <p:nvPr/>
        </p:nvSpPr>
        <p:spPr>
          <a:xfrm>
            <a:off x="4709160" y="731520"/>
            <a:ext cx="4160520" cy="2560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7315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法令・管理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1042416"/>
            <a:ext cx="237744" cy="23774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10424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66360" y="1024128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古物商許可の取得状況確認（未取得の場合は申請着手）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1389888"/>
            <a:ext cx="237744" cy="23774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13898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1371600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PSE・電安法対応チェック（対象品目の確認）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46320" y="1737360"/>
            <a:ext cx="237744" cy="23774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17373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1719072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レンタル契約書のひな形作成（弁護士・行政書士と確認）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09160" y="2221992"/>
            <a:ext cx="4160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2221992"/>
            <a:ext cx="4160520" cy="256032"/>
          </a:xfrm>
          <a:prstGeom prst="rect">
            <a:avLst/>
          </a:prstGeom>
          <a:solidFill>
            <a:srgbClr val="DD001B"/>
          </a:solidFill>
          <a:ln/>
        </p:spPr>
      </p:sp>
      <p:sp>
        <p:nvSpPr>
          <p:cNvPr id="48" name="Shape 46"/>
          <p:cNvSpPr/>
          <p:nvPr/>
        </p:nvSpPr>
        <p:spPr>
          <a:xfrm>
            <a:off x="4709160" y="2221992"/>
            <a:ext cx="4160520" cy="256032"/>
          </a:xfrm>
          <a:prstGeom prst="rect">
            <a:avLst/>
          </a:prstGeom>
          <a:solidFill>
            <a:srgbClr val="DD001B"/>
          </a:solidFill>
          <a:ln/>
        </p:spPr>
      </p:sp>
      <p:sp>
        <p:nvSpPr>
          <p:cNvPr id="49" name="Text 47"/>
          <p:cNvSpPr/>
          <p:nvPr/>
        </p:nvSpPr>
        <p:spPr>
          <a:xfrm>
            <a:off x="4709160" y="222199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財務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46320" y="2532888"/>
            <a:ext cx="237744" cy="237744"/>
          </a:xfrm>
          <a:prstGeom prst="rect">
            <a:avLst/>
          </a:prstGeom>
          <a:solidFill>
            <a:srgbClr val="DD001B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25328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66360" y="2514600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初期投資額の試算（整備費・消耗品・営業費）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846320" y="2880360"/>
            <a:ext cx="237744" cy="237744"/>
          </a:xfrm>
          <a:prstGeom prst="rect">
            <a:avLst/>
          </a:prstGeom>
          <a:solidFill>
            <a:srgbClr val="DD001B"/>
          </a:solidFill>
          <a:ln/>
        </p:spPr>
      </p:sp>
      <p:sp>
        <p:nvSpPr>
          <p:cNvPr id="54" name="Text 52"/>
          <p:cNvSpPr/>
          <p:nvPr/>
        </p:nvSpPr>
        <p:spPr>
          <a:xfrm>
            <a:off x="4846320" y="28803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166360" y="2862072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キャッシュフロー表の作成（仕入れ先行 → 3月回収の流れ）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65760" y="3712464"/>
            <a:ext cx="8412480" cy="219456"/>
          </a:xfrm>
          <a:prstGeom prst="rect">
            <a:avLst/>
          </a:prstGeom>
          <a:solidFill>
            <a:srgbClr val="0D7480"/>
          </a:solidFill>
          <a:ln/>
        </p:spPr>
      </p:sp>
      <p:sp>
        <p:nvSpPr>
          <p:cNvPr id="57" name="Text 55"/>
          <p:cNvSpPr/>
          <p:nvPr/>
        </p:nvSpPr>
        <p:spPr>
          <a:xfrm>
            <a:off x="502920" y="3712464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大学訪問スケジュール（対象36校 ／ 9・10月入学留学生ターゲット）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217920" y="371246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E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8月末までに訪問完了必須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5760" y="3931920"/>
            <a:ext cx="8412480" cy="1828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" y="3931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時期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920240" y="393192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訪問予定大学（抜粋）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748272" y="39319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43216" y="393192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状況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4114800"/>
            <a:ext cx="841248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75488" y="4114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7月後半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920240" y="4114800"/>
            <a:ext cx="4736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大東文化大・東洋大・立教大（7/27確定）＋追加校調整中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748272" y="41148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〜5校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443216" y="4114800"/>
            <a:ext cx="1298448" cy="201168"/>
          </a:xfrm>
          <a:prstGeom prst="rect">
            <a:avLst/>
          </a:prstGeom>
          <a:solidFill>
            <a:srgbClr val="156818"/>
          </a:solidFill>
          <a:ln/>
        </p:spPr>
      </p:sp>
      <p:sp>
        <p:nvSpPr>
          <p:cNvPr id="69" name="Text 67"/>
          <p:cNvSpPr/>
          <p:nvPr/>
        </p:nvSpPr>
        <p:spPr>
          <a:xfrm>
            <a:off x="7443216" y="4114800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一部確定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65760" y="4315968"/>
            <a:ext cx="8412480" cy="20116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71" name="Text 69"/>
          <p:cNvSpPr/>
          <p:nvPr/>
        </p:nvSpPr>
        <p:spPr>
          <a:xfrm>
            <a:off x="475488" y="43159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8月前半（1〜15日）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920240" y="4315968"/>
            <a:ext cx="4736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調整中（早稲田・明治・法政・慶應・上智・東洋理科・都立大 ほか）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748272" y="4315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〜16校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443216" y="4315968"/>
            <a:ext cx="1298448" cy="2011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5" name="Text 73"/>
          <p:cNvSpPr/>
          <p:nvPr/>
        </p:nvSpPr>
        <p:spPr>
          <a:xfrm>
            <a:off x="7443216" y="4315968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アポ取得中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65760" y="4517136"/>
            <a:ext cx="841248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475488" y="45171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8月後半（16〜31日）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920240" y="4517136"/>
            <a:ext cx="4736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調整中（帝京・桜美林・文教・駒澤・電通大・一橋・ICU ほか）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748272" y="451713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〜15校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443216" y="4517136"/>
            <a:ext cx="1298448" cy="20116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81" name="Text 79"/>
          <p:cNvSpPr/>
          <p:nvPr/>
        </p:nvSpPr>
        <p:spPr>
          <a:xfrm>
            <a:off x="7443216" y="4517136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未定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solidFill>
            <a:srgbClr val="DD7E6B"/>
          </a:solidFill>
          <a:ln/>
        </p:spPr>
      </p:sp>
      <p:sp>
        <p:nvSpPr>
          <p:cNvPr id="83" name="Text 81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8月末チェック：全36校への訪問完了・提案資料持参完了・生協提携商談5校以上着手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2026-07-24T04:17:01Z</dcterms:created>
  <dcterms:modified xsi:type="dcterms:W3CDTF">2026-07-24T04:17:01Z</dcterms:modified>
</cp:coreProperties>
</file>