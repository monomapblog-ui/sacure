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追加営業仮戦略候補6件。リスト化紙DM・SNS広告・大学イベントビラ・留学生サイト掲載・不動産仲介提携・国際交流協会経由。優先度と実現性を検討しながら順次実施。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" cy="51435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73152" y="0"/>
            <a:ext cx="9070848" cy="8229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" name="Text 3"/>
          <p:cNvSpPr/>
          <p:nvPr/>
        </p:nvSpPr>
        <p:spPr>
          <a:xfrm>
            <a:off x="292608" y="137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学生特化型 家電レンタル事業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92608" y="868680"/>
            <a:ext cx="54864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事業計画書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292608" y="1481328"/>
            <a:ext cx="548640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営業戦略プラン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292608" y="2121408"/>
            <a:ext cx="3200400" cy="0"/>
          </a:xfrm>
          <a:prstGeom prst="line">
            <a:avLst/>
          </a:prstGeom>
          <a:noFill/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267712"/>
            <a:ext cx="45720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株式会社サキュレ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92608" y="26517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2026年7月　作成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960120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17920" y="960120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72784" y="1033272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1,000万円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272784" y="1508760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KGI：1年以内独立採算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2039112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2039112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72784" y="2112264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272784" y="2587752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稼働目標（3点セット）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3118104"/>
            <a:ext cx="2468880" cy="91440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17920" y="3118104"/>
            <a:ext cx="54864" cy="9144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Text 19"/>
          <p:cNvSpPr/>
          <p:nvPr/>
        </p:nvSpPr>
        <p:spPr>
          <a:xfrm>
            <a:off x="6272784" y="3191256"/>
            <a:ext cx="2414016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6272784" y="3666744"/>
            <a:ext cx="241401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大学生協提携目標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73152" y="4434840"/>
            <a:ext cx="9070848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 ×  KPI  ×  行動量を一本化した実行計画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目次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48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52120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52120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6984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1148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1148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Shape 10"/>
          <p:cNvSpPr/>
          <p:nvPr/>
        </p:nvSpPr>
        <p:spPr>
          <a:xfrm>
            <a:off x="52120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52120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06984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外部環境分析（機会・脅威）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1148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Shape 15"/>
          <p:cNvSpPr/>
          <p:nvPr/>
        </p:nvSpPr>
        <p:spPr>
          <a:xfrm>
            <a:off x="52120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8" name="Text 16"/>
          <p:cNvSpPr/>
          <p:nvPr/>
        </p:nvSpPr>
        <p:spPr>
          <a:xfrm>
            <a:off x="52120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6984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内部環境分析（強み・弱み）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1148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1148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52120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06984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1148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1148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7" name="Shape 25"/>
          <p:cNvSpPr/>
          <p:nvPr/>
        </p:nvSpPr>
        <p:spPr>
          <a:xfrm>
            <a:off x="52120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2120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6984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ユニットエコノミクス（リユース vs 新品）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892040" y="822960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892040" y="822960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2" name="Shape 30"/>
          <p:cNvSpPr/>
          <p:nvPr/>
        </p:nvSpPr>
        <p:spPr>
          <a:xfrm>
            <a:off x="5001768" y="93268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001768" y="93268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550408" y="950976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営業戦略：チャンネル設計と生協アプローチ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892040" y="1627632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92040" y="1627632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01768" y="173736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5001768" y="173736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550408" y="1755648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92040" y="2432304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892040" y="2432304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Shape 40"/>
          <p:cNvSpPr/>
          <p:nvPr/>
        </p:nvSpPr>
        <p:spPr>
          <a:xfrm>
            <a:off x="5001768" y="2542032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3" name="Text 41"/>
          <p:cNvSpPr/>
          <p:nvPr/>
        </p:nvSpPr>
        <p:spPr>
          <a:xfrm>
            <a:off x="5001768" y="254203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44" name="Text 42"/>
          <p:cNvSpPr/>
          <p:nvPr/>
        </p:nvSpPr>
        <p:spPr>
          <a:xfrm>
            <a:off x="5550408" y="2560320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4892040" y="3236976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92040" y="3236976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7" name="Shape 45"/>
          <p:cNvSpPr/>
          <p:nvPr/>
        </p:nvSpPr>
        <p:spPr>
          <a:xfrm>
            <a:off x="5001768" y="334670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8" name="Text 46"/>
          <p:cNvSpPr/>
          <p:nvPr/>
        </p:nvSpPr>
        <p:spPr>
          <a:xfrm>
            <a:off x="5001768" y="334670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5550408" y="3364992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892040" y="4041648"/>
            <a:ext cx="42519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4892040" y="4041648"/>
            <a:ext cx="54864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2" name="Shape 50"/>
          <p:cNvSpPr/>
          <p:nvPr/>
        </p:nvSpPr>
        <p:spPr>
          <a:xfrm>
            <a:off x="5001768" y="4151376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3" name="Text 51"/>
          <p:cNvSpPr/>
          <p:nvPr/>
        </p:nvSpPr>
        <p:spPr>
          <a:xfrm>
            <a:off x="5001768" y="41513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5550408" y="4169664"/>
            <a:ext cx="349300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 / KPI 全体像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706624" cy="7132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65760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 / 売上1,000万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5760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事業基盤確立・ユニット黒字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72968" y="768096"/>
            <a:ext cx="2706624" cy="7132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3282696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172968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単年度黒字　達成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72968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稼働1,000件・固定費完全回収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980176" y="768096"/>
            <a:ext cx="2706624" cy="713232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6" name="Text 14"/>
          <p:cNvSpPr/>
          <p:nvPr/>
        </p:nvSpPr>
        <p:spPr>
          <a:xfrm>
            <a:off x="6089904" y="804672"/>
            <a:ext cx="24871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80176" y="996696"/>
            <a:ext cx="2706624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累損一掃　安定成長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980176" y="1307592"/>
            <a:ext cx="2706624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稼働1,500件・継続投資フェーズへ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14400" y="1591056"/>
            <a:ext cx="731520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1051560" y="162763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月次稼働台数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186537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74720" y="1719072"/>
            <a:ext cx="45720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3点セット × 月2,083円 × 12ヶ月 ≒ 1,000万円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1371600" y="2249424"/>
            <a:ext cx="640080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24" name="Text 22"/>
          <p:cNvSpPr/>
          <p:nvPr/>
        </p:nvSpPr>
        <p:spPr>
          <a:xfrm>
            <a:off x="1508760" y="228600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大学生協 提携数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508760" y="252374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2377440"/>
            <a:ext cx="3657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1校あたり平均30件獲得（新入生300人×自宅外率30%×獲得率10%）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828800" y="2907792"/>
            <a:ext cx="548640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965960" y="294436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65960" y="318211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389120" y="3035808"/>
            <a:ext cx="27432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提携締結率30〜40% → 13校到達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286000" y="3566160"/>
            <a:ext cx="457200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32" name="Text 30"/>
          <p:cNvSpPr/>
          <p:nvPr/>
        </p:nvSpPr>
        <p:spPr>
          <a:xfrm>
            <a:off x="2423160" y="3602736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アポ獲得数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23160" y="384048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4846320" y="3694176"/>
            <a:ext cx="18288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商談化率50%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651760" y="4224528"/>
            <a:ext cx="384048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6" name="Text 34"/>
          <p:cNvSpPr/>
          <p:nvPr/>
        </p:nvSpPr>
        <p:spPr>
          <a:xfrm>
            <a:off x="2788920" y="4261104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spc="3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初回アプローチ数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2788920" y="4498848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5212080" y="4352544"/>
            <a:ext cx="10972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アポ化率5%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外部環境分析（OT）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機会（Opportunities）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02920" y="138988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694944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①毎年15万台の廃棄家電が発生。回収事業とのシナジーで調達コストがほぼゼロ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1847088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" y="210312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4" name="Text 12"/>
          <p:cNvSpPr/>
          <p:nvPr/>
        </p:nvSpPr>
        <p:spPr>
          <a:xfrm>
            <a:off x="694944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②3〜4月の新入生需要が集中。在庫・物流を計画的に動かしやすい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2560320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2920" y="2816352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7" name="Text 15"/>
          <p:cNvSpPr/>
          <p:nvPr/>
        </p:nvSpPr>
        <p:spPr>
          <a:xfrm>
            <a:off x="694944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③競合未提携の都内中堅大学生協が多数。早期開拓で独占的チャンネルを確保できる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" y="352958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694944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④物価高・奨学金負担により初期費用削減ニーズが増加（保護者負担11万円/家電）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65760" y="3986784"/>
            <a:ext cx="4041648" cy="62179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2920" y="4242816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694944" y="4059936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⑤Z世代のリユース・SDGs意識が高く、リユース家電への抵抗感が低下中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5" name="Text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脅威（Threats）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736592" y="1133856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873752" y="1389888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28" name="Text 26"/>
          <p:cNvSpPr/>
          <p:nvPr/>
        </p:nvSpPr>
        <p:spPr>
          <a:xfrm>
            <a:off x="5074920" y="1207008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①かして！どっとこむ・てぶらでどっとこむが生協提携で先行。後発の参入障壁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36592" y="1847088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873752" y="2103120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1" name="Text 29"/>
          <p:cNvSpPr/>
          <p:nvPr/>
        </p:nvSpPr>
        <p:spPr>
          <a:xfrm>
            <a:off x="5074920" y="1920240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②3〜4月の物流集中。引越し繁忙期と重なり配送・設置の人員不足リスク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736592" y="2560320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73752" y="2816352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4" name="Text 32"/>
          <p:cNvSpPr/>
          <p:nvPr/>
        </p:nvSpPr>
        <p:spPr>
          <a:xfrm>
            <a:off x="5074920" y="2633472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③「他人が使った家電」への心理的抵抗。品質保証・見た目の担保が必須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736592" y="3273552"/>
            <a:ext cx="4041648" cy="62179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873752" y="3529584"/>
            <a:ext cx="118872" cy="118872"/>
          </a:xfrm>
          <a:prstGeom prst="ellipse">
            <a:avLst/>
          </a:prstGeom>
          <a:solidFill>
            <a:srgbClr val="DD001B"/>
          </a:solidFill>
          <a:ln/>
        </p:spPr>
      </p:sp>
      <p:sp>
        <p:nvSpPr>
          <p:cNvPr id="37" name="Text 35"/>
          <p:cNvSpPr/>
          <p:nvPr/>
        </p:nvSpPr>
        <p:spPr>
          <a:xfrm>
            <a:off x="5074920" y="3346704"/>
            <a:ext cx="362102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④古物商許可・PSE・電安法など複数法令の遵守体制整備コストが重い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内部環境分析（SW）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強み（Strengths）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65760" y="1133856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133856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仕入れコスト＝ほぼゼロ（リユース品）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廃棄物回収網からリユース家電を調達（コストほぼゼロ）。ただし初期は台数にばらつきがあり、新品（調達コスト発生）で補う可能性がある。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029968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029968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与野倉庫（既存インフラ）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都心60分圏の倉庫確保済み。整備・保管・配送をワンストップ化。倉庫賃料の追加負担なし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65760" y="2926080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2926080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自社車両・ドライバーで配送回収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2920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廃棄物回収の既存車両を活用。外注なしで設置・回収が完結できる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4041648" cy="8046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65760" y="3822192"/>
            <a:ext cx="54864" cy="8046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3" name="Text 21"/>
          <p:cNvSpPr/>
          <p:nvPr/>
        </p:nvSpPr>
        <p:spPr>
          <a:xfrm>
            <a:off x="502920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行政認定業者としての信頼性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02920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廃棄物処理許認可・実績あり。大学生協に「信頼できる法人」として提案できる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6" name="Text 24"/>
          <p:cNvSpPr/>
          <p:nvPr/>
        </p:nvSpPr>
        <p:spPr>
          <a:xfrm>
            <a:off x="4736592" y="768096"/>
            <a:ext cx="404164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弱み（Weaknesses）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736592" y="1133856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36592" y="1133856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29" name="Text 27"/>
          <p:cNvSpPr/>
          <p:nvPr/>
        </p:nvSpPr>
        <p:spPr>
          <a:xfrm>
            <a:off x="4873752" y="1188720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認知ゼロ・ブランドなし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873752" y="1499616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学生・保護者に知られていない。生協提案で「聞いたことがない」と言われるリスク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36592" y="2029968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36592" y="2029968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3" name="Text 31"/>
          <p:cNvSpPr/>
          <p:nvPr/>
        </p:nvSpPr>
        <p:spPr>
          <a:xfrm>
            <a:off x="4873752" y="2084832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学生向け営業・マーケ未経験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4873752" y="2395728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廃棄物回収はBtoB営業。大学生協交渉・SNS集客は新規領域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36592" y="2926080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736592" y="2926080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37" name="Text 35"/>
          <p:cNvSpPr/>
          <p:nvPr/>
        </p:nvSpPr>
        <p:spPr>
          <a:xfrm>
            <a:off x="4873752" y="2980944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品質ばらつきと整備基準未整備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873752" y="3291840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回収品はコンディションに差がある。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チェックシートで品質基準を統一する必要がある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36592" y="3822192"/>
            <a:ext cx="4041648" cy="804672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36592" y="3822192"/>
            <a:ext cx="54864" cy="8046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Text 39"/>
          <p:cNvSpPr/>
          <p:nvPr/>
        </p:nvSpPr>
        <p:spPr>
          <a:xfrm>
            <a:off x="4873752" y="3877056"/>
            <a:ext cx="38221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繁忙期の物流キャパ制約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873752" y="4187952"/>
            <a:ext cx="3822192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3〜4月に400件を納品すると廃棄物回収業務と競合する可能性がある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クロスSWOT → 戦略結論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950976"/>
            <a:ext cx="3931920" cy="166420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SO戦略（強み × 機会）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0292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仕入れ0円＋既存物流で業界最安値を実現。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競合未提携の生協を先取りし学生を囲い込む。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低価格学生囲い込み戦略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846320" y="950976"/>
            <a:ext cx="3931920" cy="1664208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3" name="Text 11"/>
          <p:cNvSpPr/>
          <p:nvPr/>
        </p:nvSpPr>
        <p:spPr>
          <a:xfrm>
            <a:off x="4846320" y="9509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WO戦略（弱み × 機会）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983480" y="1280160"/>
            <a:ext cx="365760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ブランドなし → 生協の看板を借りる提案で信頼を補完。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SNSは2年目以降。初年度は生協BtoBに集中。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2779776"/>
            <a:ext cx="3931920" cy="1719072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ST戦略（強み × 脅威）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0292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品質認知リスク → 整備済み証明・チェックシートで可視化。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繁忙期集中リスク → 台数上限を設定し先着予約制で分散。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846320" y="2779776"/>
            <a:ext cx="3931920" cy="1719072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21" name="Text 19"/>
          <p:cNvSpPr/>
          <p:nvPr/>
        </p:nvSpPr>
        <p:spPr>
          <a:xfrm>
            <a:off x="4846320" y="2779776"/>
            <a:ext cx="39319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WT戦略（弱み × 脅威）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983480" y="3108960"/>
            <a:ext cx="3657600" cy="12984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法令対応（古物商・PSE）は提携法律事務所・行政書士と早期整備。</a:t>
            </a:r>
            <a:endParaRPr lang="en-US" sz="115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競合後発を品質管理の明文化でブランド化する。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2286000" y="4535424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「低価格学生囲い込み戦略」　業界最安値 × 生協BtoBで初年度400件を獲得する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ユニットエコノミクス（3点セット・2年サイクルあたりの収支）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20116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242316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リユース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768096"/>
            <a:ext cx="208483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（回収品）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14" name="Text 12"/>
          <p:cNvSpPr/>
          <p:nvPr/>
        </p:nvSpPr>
        <p:spPr>
          <a:xfrm>
            <a:off x="6720840" y="768096"/>
            <a:ext cx="20574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新品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（市場購入）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65760" y="1316736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6" name="Text 14"/>
          <p:cNvSpPr/>
          <p:nvPr/>
        </p:nvSpPr>
        <p:spPr>
          <a:xfrm>
            <a:off x="475488" y="1316736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調達コスト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18" name="Text 16"/>
          <p:cNvSpPr/>
          <p:nvPr/>
        </p:nvSpPr>
        <p:spPr>
          <a:xfrm>
            <a:off x="242316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0" name="Text 18"/>
          <p:cNvSpPr/>
          <p:nvPr/>
        </p:nvSpPr>
        <p:spPr>
          <a:xfrm>
            <a:off x="457200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2" name="Text 20"/>
          <p:cNvSpPr/>
          <p:nvPr/>
        </p:nvSpPr>
        <p:spPr>
          <a:xfrm>
            <a:off x="6720840" y="1316736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▲50,000円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1773936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1810512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Text 23"/>
          <p:cNvSpPr/>
          <p:nvPr/>
        </p:nvSpPr>
        <p:spPr>
          <a:xfrm>
            <a:off x="475488" y="1810512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整備・クリーニング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242316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▲5,000円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457200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▲1,000円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6720840" y="1810512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0円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365760" y="2267712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304288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475488" y="2304288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配達・設置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6" name="Text 34"/>
          <p:cNvSpPr/>
          <p:nvPr/>
        </p:nvSpPr>
        <p:spPr>
          <a:xfrm>
            <a:off x="242316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40" name="Text 38"/>
          <p:cNvSpPr/>
          <p:nvPr/>
        </p:nvSpPr>
        <p:spPr>
          <a:xfrm>
            <a:off x="6720840" y="2304288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65760" y="2761488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65760" y="2798064"/>
            <a:ext cx="201168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475488" y="2798064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回収（2年後）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242316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457200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Text 47"/>
          <p:cNvSpPr/>
          <p:nvPr/>
        </p:nvSpPr>
        <p:spPr>
          <a:xfrm>
            <a:off x="6720840" y="2798064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▲10,000円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365760" y="3255264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3291840"/>
            <a:ext cx="2011680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475488" y="3291840"/>
            <a:ext cx="1901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レンタル収入（2年間）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242316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457200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720840" y="3291840"/>
            <a:ext cx="20848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+50,000円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365760" y="3749040"/>
            <a:ext cx="8412480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365760" y="3785616"/>
            <a:ext cx="2011680" cy="65836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475488" y="3785616"/>
            <a:ext cx="1901952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初回サイクル利益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423160" y="3785616"/>
            <a:ext cx="2084832" cy="658368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42316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+25,000円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242316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（50%）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4572000" y="3785616"/>
            <a:ext cx="2084832" cy="658368"/>
          </a:xfrm>
          <a:prstGeom prst="rect">
            <a:avLst/>
          </a:prstGeom>
          <a:solidFill>
            <a:srgbClr val="C9DAF8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57200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+29,000円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457200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（58%）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6720840" y="3785616"/>
            <a:ext cx="2084832" cy="658368"/>
          </a:xfrm>
          <a:prstGeom prst="rect">
            <a:avLst/>
          </a:prstGeom>
          <a:solidFill>
            <a:srgbClr val="F4CCCC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3822192"/>
            <a:ext cx="2084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▲20,000円</a:t>
            </a:r>
            <a:endParaRPr lang="en-US" sz="1600" dirty="0"/>
          </a:p>
        </p:txBody>
      </p:sp>
      <p:sp>
        <p:nvSpPr>
          <p:cNvPr id="70" name="Text 68"/>
          <p:cNvSpPr/>
          <p:nvPr/>
        </p:nvSpPr>
        <p:spPr>
          <a:xfrm>
            <a:off x="6720840" y="4169664"/>
            <a:ext cx="208483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（−40%）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365760" y="4498848"/>
            <a:ext cx="8412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 新品（市場購入）は2回転目以降（3〜4年目）から利益化。3回転で累計+30,000円。  ※ 配達・設置・回収の人件費・車両費は10,000円/回で試算。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営業戦略：チャンネル設計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86384"/>
            <a:ext cx="8412480" cy="1261872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86384"/>
            <a:ext cx="54864" cy="12618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502920" y="1179576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179576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1042416" y="859536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最重点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47088" y="841248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小規模生協への直接訪問と資料郵送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847088" y="1188720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競合未提携の小規模校が多く、留学生ニーズが高い。まず訪問または紙資料で接触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847088" y="1554480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2029968" y="150876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留学生比率大・小規模生協をリストアップ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847088" y="1792224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2029968" y="174650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直接訪問または紙ベース資料を郵送して提案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847088" y="2029968"/>
            <a:ext cx="118872" cy="11887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20" name="Text 18"/>
          <p:cNvSpPr/>
          <p:nvPr/>
        </p:nvSpPr>
        <p:spPr>
          <a:xfrm>
            <a:off x="2029968" y="1984248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在日留学生コミュニティへの口コミも活用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2" name="Text 20"/>
          <p:cNvSpPr/>
          <p:nvPr/>
        </p:nvSpPr>
        <p:spPr>
          <a:xfrm>
            <a:off x="5650992" y="969264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10〜12月仕込み、3〜4月獲得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65760" y="2194560"/>
            <a:ext cx="8412480" cy="1261872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194560"/>
            <a:ext cx="54864" cy="12618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5" name="Shape 23"/>
          <p:cNvSpPr/>
          <p:nvPr/>
        </p:nvSpPr>
        <p:spPr>
          <a:xfrm>
            <a:off x="502920" y="2587752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26" name="Text 24"/>
          <p:cNvSpPr/>
          <p:nvPr/>
        </p:nvSpPr>
        <p:spPr>
          <a:xfrm>
            <a:off x="502920" y="2587752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28" name="Text 26"/>
          <p:cNvSpPr/>
          <p:nvPr/>
        </p:nvSpPr>
        <p:spPr>
          <a:xfrm>
            <a:off x="1042416" y="2267712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補完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847088" y="2249424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チラシ設置 + KB 2,000円/件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847088" y="2596896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入居タイミングで接触。KB設計で紹介元の動機を確保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847088" y="2962656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2029968" y="291693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仲介・入寮施設にチラシ設置（KB 2,000円/件）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1847088" y="3200400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4" name="Text 32"/>
          <p:cNvSpPr/>
          <p:nvPr/>
        </p:nvSpPr>
        <p:spPr>
          <a:xfrm>
            <a:off x="2029968" y="315468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外国人支援窓口・留学生ハウスにも配布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1847088" y="3438144"/>
            <a:ext cx="118872" cy="11887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2029968" y="3392424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管理会社にQRコード付きカードを設置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5650992" y="2377440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通年（1〜3月を重点化）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65760" y="3602736"/>
            <a:ext cx="8412480" cy="1261872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5760" y="3602736"/>
            <a:ext cx="54864" cy="12618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502920" y="399592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502920" y="39959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4" name="Text 42"/>
          <p:cNvSpPr/>
          <p:nvPr/>
        </p:nvSpPr>
        <p:spPr>
          <a:xfrm>
            <a:off x="1042416" y="3675888"/>
            <a:ext cx="7132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低優先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1847088" y="3657600"/>
            <a:ext cx="36576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既存顧客経由（廃棄物回収先250社）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1847088" y="4005072"/>
            <a:ext cx="3657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既存250社との信頼関係を活用。受注コストほぼゼロだが優先度は3番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1847088" y="4370832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8" name="Text 46"/>
          <p:cNvSpPr/>
          <p:nvPr/>
        </p:nvSpPr>
        <p:spPr>
          <a:xfrm>
            <a:off x="2029968" y="4325112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既存法人担当者へDM・TELで紹介依頼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847088" y="4608576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0" name="Text 48"/>
          <p:cNvSpPr/>
          <p:nvPr/>
        </p:nvSpPr>
        <p:spPr>
          <a:xfrm>
            <a:off x="2029968" y="4562856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担当者のお子様・知人の新入生にアプローチ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1847088" y="4846320"/>
            <a:ext cx="118872" cy="11887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52" name="Text 50"/>
          <p:cNvSpPr/>
          <p:nvPr/>
        </p:nvSpPr>
        <p:spPr>
          <a:xfrm>
            <a:off x="2029968" y="4800600"/>
            <a:ext cx="349300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成約時に紹介者へ謝礼（商品券・割引等）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54" name="Text 52"/>
          <p:cNvSpPr/>
          <p:nvPr/>
        </p:nvSpPr>
        <p:spPr>
          <a:xfrm>
            <a:off x="5650992" y="3785616"/>
            <a:ext cx="294436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随時（優先度3番）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営業仮戦略候補（追加検討）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365760" y="694944"/>
            <a:ext cx="8412480" cy="32918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94944"/>
            <a:ext cx="8138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以下は現在検討中の追加チャンネル案です。優先度・実現性を確認しながら順次着手する想定です。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9" name="Shape 7"/>
          <p:cNvSpPr/>
          <p:nvPr/>
        </p:nvSpPr>
        <p:spPr>
          <a:xfrm>
            <a:off x="475488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12" name="Text 10"/>
          <p:cNvSpPr/>
          <p:nvPr/>
        </p:nvSpPr>
        <p:spPr>
          <a:xfrm>
            <a:off x="1024128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14" name="Text 12"/>
          <p:cNvSpPr/>
          <p:nvPr/>
        </p:nvSpPr>
        <p:spPr>
          <a:xfrm>
            <a:off x="1737360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1024128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リスト化＋紙DM郵送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024128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新入生・在学留学生のリストを整備し、案内状を郵送。大学から入手可能な情報を活用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64608" y="1115568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64608" y="1115568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Shape 17"/>
          <p:cNvSpPr/>
          <p:nvPr/>
        </p:nvSpPr>
        <p:spPr>
          <a:xfrm>
            <a:off x="4974336" y="148132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0" name="Text 18"/>
          <p:cNvSpPr/>
          <p:nvPr/>
        </p:nvSpPr>
        <p:spPr>
          <a:xfrm>
            <a:off x="4974336" y="148132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22" name="Text 20"/>
          <p:cNvSpPr/>
          <p:nvPr/>
        </p:nvSpPr>
        <p:spPr>
          <a:xfrm>
            <a:off x="5522976" y="1170432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24" name="Text 22"/>
          <p:cNvSpPr/>
          <p:nvPr/>
        </p:nvSpPr>
        <p:spPr>
          <a:xfrm>
            <a:off x="6236208" y="1170432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2〜4月重点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5522976" y="1426464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SNS広告（Instagram・LINE）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522976" y="1792224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学生層へターゲティング広告。入学シーズンに集中出稿してリーチを確保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65760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9" name="Shape 27"/>
          <p:cNvSpPr/>
          <p:nvPr/>
        </p:nvSpPr>
        <p:spPr>
          <a:xfrm>
            <a:off x="475488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475488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32" name="Text 30"/>
          <p:cNvSpPr/>
          <p:nvPr/>
        </p:nvSpPr>
        <p:spPr>
          <a:xfrm>
            <a:off x="1024128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34" name="Text 32"/>
          <p:cNvSpPr/>
          <p:nvPr/>
        </p:nvSpPr>
        <p:spPr>
          <a:xfrm>
            <a:off x="1737360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3〜4月・9月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024128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大学イベントでのビラ配り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1024128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入学式・新歓・オープンキャンパスで直接配布。QRコードで申込につなげる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64608" y="2432304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864608" y="2432304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4974336" y="279806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4974336" y="279806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42" name="Text 40"/>
          <p:cNvSpPr/>
          <p:nvPr/>
        </p:nvSpPr>
        <p:spPr>
          <a:xfrm>
            <a:off x="5522976" y="2487168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44" name="Text 42"/>
          <p:cNvSpPr/>
          <p:nvPr/>
        </p:nvSpPr>
        <p:spPr>
          <a:xfrm>
            <a:off x="6236208" y="2487168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5522976" y="2743200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留学生情報サイト掲載</a:t>
            </a:r>
            <a:endParaRPr lang="en-US" sz="1150" dirty="0"/>
          </a:p>
        </p:txBody>
      </p:sp>
      <p:sp>
        <p:nvSpPr>
          <p:cNvPr id="46" name="Text 44"/>
          <p:cNvSpPr/>
          <p:nvPr/>
        </p:nvSpPr>
        <p:spPr>
          <a:xfrm>
            <a:off x="5522976" y="3108960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JASSO・留学生センター等の情報サイトへの掲載。在日留学生への認知獲得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365760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65760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9" name="Shape 47"/>
          <p:cNvSpPr/>
          <p:nvPr/>
        </p:nvSpPr>
        <p:spPr>
          <a:xfrm>
            <a:off x="475488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0" name="Text 48"/>
          <p:cNvSpPr/>
          <p:nvPr/>
        </p:nvSpPr>
        <p:spPr>
          <a:xfrm>
            <a:off x="475488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51" name="Shape 49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52" name="Text 50"/>
          <p:cNvSpPr/>
          <p:nvPr/>
        </p:nvSpPr>
        <p:spPr>
          <a:xfrm>
            <a:off x="1024128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54" name="Text 52"/>
          <p:cNvSpPr/>
          <p:nvPr/>
        </p:nvSpPr>
        <p:spPr>
          <a:xfrm>
            <a:off x="1737360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1〜3月重点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1024128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不動産仲介・管理会社提携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1024128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新入生の入居時に紹介。KB 2,000円/件で動機づけ。既存訪問先250社と重複可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4864608" y="3749040"/>
            <a:ext cx="4279392" cy="118872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4864608" y="3749040"/>
            <a:ext cx="54864" cy="11887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9" name="Shape 57"/>
          <p:cNvSpPr/>
          <p:nvPr/>
        </p:nvSpPr>
        <p:spPr>
          <a:xfrm>
            <a:off x="4974336" y="4114800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0" name="Text 58"/>
          <p:cNvSpPr/>
          <p:nvPr/>
        </p:nvSpPr>
        <p:spPr>
          <a:xfrm>
            <a:off x="4974336" y="4114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solidFill>
            <a:srgbClr val="999999"/>
          </a:solidFill>
          <a:ln/>
        </p:spPr>
      </p:sp>
      <p:sp>
        <p:nvSpPr>
          <p:cNvPr id="62" name="Text 60"/>
          <p:cNvSpPr/>
          <p:nvPr/>
        </p:nvSpPr>
        <p:spPr>
          <a:xfrm>
            <a:off x="5522976" y="3803904"/>
            <a:ext cx="658368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仮戦略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solidFill>
            <a:srgbClr val="CCCCCC"/>
          </a:solidFill>
          <a:ln/>
        </p:spPr>
      </p:sp>
      <p:sp>
        <p:nvSpPr>
          <p:cNvPr id="64" name="Text 62"/>
          <p:cNvSpPr/>
          <p:nvPr/>
        </p:nvSpPr>
        <p:spPr>
          <a:xfrm>
            <a:off x="6236208" y="3803904"/>
            <a:ext cx="9144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随時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522976" y="4059936"/>
            <a:ext cx="35112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国際交流協会・市区役所</a:t>
            </a:r>
            <a:endParaRPr lang="en-US" sz="1150" dirty="0"/>
          </a:p>
        </p:txBody>
      </p:sp>
      <p:sp>
        <p:nvSpPr>
          <p:cNvPr id="66" name="Text 64"/>
          <p:cNvSpPr/>
          <p:nvPr/>
        </p:nvSpPr>
        <p:spPr>
          <a:xfrm>
            <a:off x="5522976" y="4425696"/>
            <a:ext cx="3511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外国人支援窓口・国際交流協会経由で留学生に案内。公的信頼性も付加できる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Text 2"/>
          <p:cNvSpPr/>
          <p:nvPr/>
        </p:nvSpPr>
        <p:spPr>
          <a:xfrm>
            <a:off x="182880" y="0"/>
            <a:ext cx="8869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生協営業フロー（4フェーズ）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274320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74320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7" name="Shape 5"/>
          <p:cNvSpPr/>
          <p:nvPr/>
        </p:nvSpPr>
        <p:spPr>
          <a:xfrm>
            <a:off x="1024128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4320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10〜11月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74320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アポ獲得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411480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57200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生協・大学事務へのTEL・メール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57200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5" name="Text 13"/>
          <p:cNvSpPr/>
          <p:nvPr/>
        </p:nvSpPr>
        <p:spPr>
          <a:xfrm>
            <a:off x="621792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ターゲットリスト50〜80校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アポ目標：5〜8件/月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9" name="Text 17"/>
          <p:cNvSpPr/>
          <p:nvPr/>
        </p:nvSpPr>
        <p:spPr>
          <a:xfrm>
            <a:off x="384048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アポ80〜100件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267712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2450592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450592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Shape 21"/>
          <p:cNvSpPr/>
          <p:nvPr/>
        </p:nvSpPr>
        <p:spPr>
          <a:xfrm>
            <a:off x="3200400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4" name="Text 22"/>
          <p:cNvSpPr/>
          <p:nvPr/>
        </p:nvSpPr>
        <p:spPr>
          <a:xfrm>
            <a:off x="3200400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2450592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11〜12月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450592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提案・交渉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2587752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33472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9" name="Text 27"/>
          <p:cNvSpPr/>
          <p:nvPr/>
        </p:nvSpPr>
        <p:spPr>
          <a:xfrm>
            <a:off x="2798064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料金比較表・整備証明を提示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2633472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2798064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レベニューシェア設計を提案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2633472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33" name="Text 31"/>
          <p:cNvSpPr/>
          <p:nvPr/>
        </p:nvSpPr>
        <p:spPr>
          <a:xfrm>
            <a:off x="2798064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目標提携締結率：30〜40%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5" name="Text 33"/>
          <p:cNvSpPr/>
          <p:nvPr/>
        </p:nvSpPr>
        <p:spPr>
          <a:xfrm>
            <a:off x="2560320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提携13〜15校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4443984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4626864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626864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76672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0" name="Text 38"/>
          <p:cNvSpPr/>
          <p:nvPr/>
        </p:nvSpPr>
        <p:spPr>
          <a:xfrm>
            <a:off x="5376672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4626864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1〜2月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626864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告知・予約受付</a:t>
            </a:r>
            <a:endParaRPr lang="en-US" sz="1500" dirty="0"/>
          </a:p>
        </p:txBody>
      </p:sp>
      <p:sp>
        <p:nvSpPr>
          <p:cNvPr id="43" name="Shape 41"/>
          <p:cNvSpPr/>
          <p:nvPr/>
        </p:nvSpPr>
        <p:spPr>
          <a:xfrm>
            <a:off x="4764024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809744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5" name="Text 43"/>
          <p:cNvSpPr/>
          <p:nvPr/>
        </p:nvSpPr>
        <p:spPr>
          <a:xfrm>
            <a:off x="4974336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生協HPと掲示板に掲載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4809744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7" name="Text 45"/>
          <p:cNvSpPr/>
          <p:nvPr/>
        </p:nvSpPr>
        <p:spPr>
          <a:xfrm>
            <a:off x="4974336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合格発表日（2月）に集中告知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4809744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49" name="Text 47"/>
          <p:cNvSpPr/>
          <p:nvPr/>
        </p:nvSpPr>
        <p:spPr>
          <a:xfrm>
            <a:off x="4974336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先着制・台数上限で締め切り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1" name="Text 49"/>
          <p:cNvSpPr/>
          <p:nvPr/>
        </p:nvSpPr>
        <p:spPr>
          <a:xfrm>
            <a:off x="4736592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予約200件以上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6620256" y="2615184"/>
            <a:ext cx="182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400" dirty="0"/>
          </a:p>
        </p:txBody>
      </p:sp>
      <p:sp>
        <p:nvSpPr>
          <p:cNvPr id="53" name="Shape 51"/>
          <p:cNvSpPr/>
          <p:nvPr/>
        </p:nvSpPr>
        <p:spPr>
          <a:xfrm>
            <a:off x="6803136" y="786384"/>
            <a:ext cx="1993392" cy="411480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03136" y="786384"/>
            <a:ext cx="1993392" cy="548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5" name="Shape 53"/>
          <p:cNvSpPr/>
          <p:nvPr/>
        </p:nvSpPr>
        <p:spPr>
          <a:xfrm>
            <a:off x="7552944" y="877824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56" name="Text 54"/>
          <p:cNvSpPr/>
          <p:nvPr/>
        </p:nvSpPr>
        <p:spPr>
          <a:xfrm>
            <a:off x="7552944" y="87782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6803136" y="1426464"/>
            <a:ext cx="199339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3〜4月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6803136" y="1719072"/>
            <a:ext cx="199339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配送・設置</a:t>
            </a:r>
            <a:endParaRPr lang="en-US" sz="1500" dirty="0"/>
          </a:p>
        </p:txBody>
      </p:sp>
      <p:sp>
        <p:nvSpPr>
          <p:cNvPr id="59" name="Shape 57"/>
          <p:cNvSpPr/>
          <p:nvPr/>
        </p:nvSpPr>
        <p:spPr>
          <a:xfrm>
            <a:off x="6940296" y="2157984"/>
            <a:ext cx="1719072" cy="0"/>
          </a:xfrm>
          <a:prstGeom prst="line">
            <a:avLst/>
          </a:prstGeom>
          <a:noFill/>
          <a:ln w="6350">
            <a:solidFill>
              <a:srgbClr val="DD7E6B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986016" y="2313432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1" name="Text 59"/>
          <p:cNvSpPr/>
          <p:nvPr/>
        </p:nvSpPr>
        <p:spPr>
          <a:xfrm>
            <a:off x="7150608" y="2267712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2週間に集中して完了させる</a:t>
            </a:r>
            <a:endParaRPr lang="en-US" sz="1050" dirty="0"/>
          </a:p>
        </p:txBody>
      </p:sp>
      <p:sp>
        <p:nvSpPr>
          <p:cNvPr id="62" name="Shape 60"/>
          <p:cNvSpPr/>
          <p:nvPr/>
        </p:nvSpPr>
        <p:spPr>
          <a:xfrm>
            <a:off x="6986016" y="2715768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3" name="Text 61"/>
          <p:cNvSpPr/>
          <p:nvPr/>
        </p:nvSpPr>
        <p:spPr>
          <a:xfrm>
            <a:off x="7150608" y="2670048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スケジュールを事前確定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986016" y="3118104"/>
            <a:ext cx="118872" cy="11887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65" name="Text 63"/>
          <p:cNvSpPr/>
          <p:nvPr/>
        </p:nvSpPr>
        <p:spPr>
          <a:xfrm>
            <a:off x="7150608" y="3072384"/>
            <a:ext cx="157276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丁寧な設置で口コミ獲得</a:t>
            </a:r>
            <a:endParaRPr lang="en-US" sz="1050" dirty="0"/>
          </a:p>
        </p:txBody>
      </p:sp>
      <p:sp>
        <p:nvSpPr>
          <p:cNvPr id="66" name="Shape 64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67" name="Text 65"/>
          <p:cNvSpPr/>
          <p:nvPr/>
        </p:nvSpPr>
        <p:spPr>
          <a:xfrm>
            <a:off x="6912864" y="4242816"/>
            <a:ext cx="1773936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稼働400件達成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KPI連鎖・週次行動量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86384"/>
            <a:ext cx="4114800" cy="56692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84048" y="82296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KGI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84048" y="1060704"/>
            <a:ext cx="389534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売上1,000万円/年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1463040"/>
            <a:ext cx="3749040" cy="56692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49961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稼働数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" y="1737360"/>
            <a:ext cx="35295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400件（月次）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85800" y="2139696"/>
            <a:ext cx="3291840" cy="566928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4" name="Text 12"/>
          <p:cNvSpPr/>
          <p:nvPr/>
        </p:nvSpPr>
        <p:spPr>
          <a:xfrm>
            <a:off x="795528" y="2176272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提携校数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95528" y="2414016"/>
            <a:ext cx="30723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13〜15校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2816352"/>
            <a:ext cx="2834640" cy="56692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17" name="Text 15"/>
          <p:cNvSpPr/>
          <p:nvPr/>
        </p:nvSpPr>
        <p:spPr>
          <a:xfrm>
            <a:off x="1024128" y="285292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商談数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3090672"/>
            <a:ext cx="26151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40〜50回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1143000" y="3493008"/>
            <a:ext cx="2377440" cy="566928"/>
          </a:xfrm>
          <a:prstGeom prst="rect">
            <a:avLst/>
          </a:prstGeom>
          <a:solidFill>
            <a:srgbClr val="9E4500"/>
          </a:solidFill>
          <a:ln/>
        </p:spPr>
      </p:sp>
      <p:sp>
        <p:nvSpPr>
          <p:cNvPr id="20" name="Text 18"/>
          <p:cNvSpPr/>
          <p:nvPr/>
        </p:nvSpPr>
        <p:spPr>
          <a:xfrm>
            <a:off x="1252728" y="3529584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アポ数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252728" y="3767328"/>
            <a:ext cx="21579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80〜100件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1371600" y="4169664"/>
            <a:ext cx="1920240" cy="566928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21"/>
          <p:cNvSpPr/>
          <p:nvPr/>
        </p:nvSpPr>
        <p:spPr>
          <a:xfrm>
            <a:off x="1481328" y="420624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接触数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481328" y="4443984"/>
            <a:ext cx="170078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1,500〜2,000件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0" y="786384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週次管理指標（行動量の担保）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0" y="1152144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81728" y="1243584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アプローチ数（TEL・メール）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0" name="Text 28"/>
          <p:cNvSpPr/>
          <p:nvPr/>
        </p:nvSpPr>
        <p:spPr>
          <a:xfrm>
            <a:off x="7516368" y="1243584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30〜40件/週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572000" y="1773936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81728" y="1865376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提案面談数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4" name="Text 32"/>
          <p:cNvSpPr/>
          <p:nvPr/>
        </p:nvSpPr>
        <p:spPr>
          <a:xfrm>
            <a:off x="7516368" y="1865376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2〜3件/週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0" y="2395728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81728" y="2487168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提携締結累計（12月末）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8" name="Text 36"/>
          <p:cNvSpPr/>
          <p:nvPr/>
        </p:nvSpPr>
        <p:spPr>
          <a:xfrm>
            <a:off x="7516368" y="2487168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5〜7校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72000" y="3017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1728" y="3108960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予約件数（2月末）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2" name="Text 40"/>
          <p:cNvSpPr/>
          <p:nvPr/>
        </p:nvSpPr>
        <p:spPr>
          <a:xfrm>
            <a:off x="7516368" y="3108960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200件以上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0" y="3639312"/>
            <a:ext cx="4206240" cy="548640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81728" y="3730752"/>
            <a:ext cx="272491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稼働開始件数（4月末）</a:t>
            </a:r>
            <a:endParaRPr lang="en-US" sz="1150" dirty="0"/>
          </a:p>
        </p:txBody>
      </p:sp>
      <p:sp>
        <p:nvSpPr>
          <p:cNvPr id="45" name="Shape 43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6" name="Text 44"/>
          <p:cNvSpPr/>
          <p:nvPr/>
        </p:nvSpPr>
        <p:spPr>
          <a:xfrm>
            <a:off x="7516368" y="3730752"/>
            <a:ext cx="11704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572000" y="4279392"/>
            <a:ext cx="4206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週次でアプローチ数・商談数・締結数をレビューし、行動量の下振れを早期検知する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商品収集戦略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768096"/>
            <a:ext cx="8412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初年度目標：400セット確保（冷蔵庫・洗濯機・電子レンジ 各400台）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65760" y="1353312"/>
            <a:ext cx="4160520" cy="1426464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5760" y="1353312"/>
            <a:ext cx="54864" cy="1426464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1" name="Shape 9"/>
          <p:cNvSpPr/>
          <p:nvPr/>
        </p:nvSpPr>
        <p:spPr>
          <a:xfrm>
            <a:off x="475488" y="1828800"/>
            <a:ext cx="438912" cy="438912"/>
          </a:xfrm>
          <a:prstGeom prst="ellipse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241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サキュレ廃棄回収品の選別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10241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200〜300台/年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7" name="Text 15"/>
          <p:cNvSpPr/>
          <p:nvPr/>
        </p:nvSpPr>
        <p:spPr>
          <a:xfrm>
            <a:off x="19568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ほぼ0円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241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既存の廃棄物回収ルートから家電を選別。調達コストが発生しない最優先ルート。選別率50〜60%を目標。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2926080"/>
            <a:ext cx="4160520" cy="1426464"/>
          </a:xfrm>
          <a:prstGeom prst="rect">
            <a:avLst/>
          </a:prstGeom>
          <a:solidFill>
            <a:srgbClr val="F3F3F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2926080"/>
            <a:ext cx="54864" cy="1426464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1" name="Shape 19"/>
          <p:cNvSpPr/>
          <p:nvPr/>
        </p:nvSpPr>
        <p:spPr>
          <a:xfrm>
            <a:off x="475488" y="3401568"/>
            <a:ext cx="438912" cy="438912"/>
          </a:xfrm>
          <a:prstGeom prst="ellipse">
            <a:avLst/>
          </a:prstGeom>
          <a:solidFill>
            <a:srgbClr val="DD7E6B"/>
          </a:solidFill>
          <a:ln/>
        </p:spPr>
      </p:sp>
      <p:sp>
        <p:nvSpPr>
          <p:cNvPr id="22" name="Text 20"/>
          <p:cNvSpPr/>
          <p:nvPr/>
        </p:nvSpPr>
        <p:spPr>
          <a:xfrm>
            <a:off x="4754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241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不動産・管理会社の退去残置物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10241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50〜100台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7" name="Text 25"/>
          <p:cNvSpPr/>
          <p:nvPr/>
        </p:nvSpPr>
        <p:spPr>
          <a:xfrm>
            <a:off x="19568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241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賃貸退去・原状回復時に発生する残置家電を引き取り。管理会社へ営業することで安定供給を確保。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709160" y="1353312"/>
            <a:ext cx="4160520" cy="1426464"/>
          </a:xfrm>
          <a:prstGeom prst="rect">
            <a:avLst/>
          </a:prstGeom>
          <a:solidFill>
            <a:srgbClr val="FFF3E0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709160" y="1353312"/>
            <a:ext cx="54864" cy="1426464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1" name="Shape 29"/>
          <p:cNvSpPr/>
          <p:nvPr/>
        </p:nvSpPr>
        <p:spPr>
          <a:xfrm>
            <a:off x="4818888" y="1828800"/>
            <a:ext cx="438912" cy="438912"/>
          </a:xfrm>
          <a:prstGeom prst="ellipse">
            <a:avLst/>
          </a:prstGeom>
          <a:solidFill>
            <a:srgbClr val="E65100"/>
          </a:solidFill>
          <a:ln/>
        </p:spPr>
      </p:sp>
      <p:sp>
        <p:nvSpPr>
          <p:cNvPr id="32" name="Text 30"/>
          <p:cNvSpPr/>
          <p:nvPr/>
        </p:nvSpPr>
        <p:spPr>
          <a:xfrm>
            <a:off x="4818888" y="1828800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367528" y="1444752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ジモティー・業者オークション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Text 33"/>
          <p:cNvSpPr/>
          <p:nvPr/>
        </p:nvSpPr>
        <p:spPr>
          <a:xfrm>
            <a:off x="5367528" y="1828800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100台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7" name="Text 35"/>
          <p:cNvSpPr/>
          <p:nvPr/>
        </p:nvSpPr>
        <p:spPr>
          <a:xfrm>
            <a:off x="6300216" y="1828800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3〜5千円/台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5367528" y="2157984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サキュレルートで不足する台数を補完。Aucnet等の業者オークションで状態の良いものを選んで仕入れ。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926080"/>
            <a:ext cx="4160520" cy="1426464"/>
          </a:xfrm>
          <a:prstGeom prst="rect">
            <a:avLst/>
          </a:prstGeom>
          <a:solidFill>
            <a:srgbClr val="F5F5F5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709160" y="2926080"/>
            <a:ext cx="54864" cy="1426464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1" name="Shape 39"/>
          <p:cNvSpPr/>
          <p:nvPr/>
        </p:nvSpPr>
        <p:spPr>
          <a:xfrm>
            <a:off x="4818888" y="3401568"/>
            <a:ext cx="438912" cy="438912"/>
          </a:xfrm>
          <a:prstGeom prst="ellipse">
            <a:avLst/>
          </a:prstGeom>
          <a:solidFill>
            <a:srgbClr val="595959"/>
          </a:solidFill>
          <a:ln/>
        </p:spPr>
      </p:sp>
      <p:sp>
        <p:nvSpPr>
          <p:cNvPr id="42" name="Text 40"/>
          <p:cNvSpPr/>
          <p:nvPr/>
        </p:nvSpPr>
        <p:spPr>
          <a:xfrm>
            <a:off x="4818888" y="3401568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5367528" y="3017520"/>
            <a:ext cx="33832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大学・学生寮の入れ替え品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solidFill>
            <a:srgbClr val="595959"/>
          </a:solidFill>
          <a:ln/>
        </p:spPr>
      </p:sp>
      <p:sp>
        <p:nvSpPr>
          <p:cNvPr id="45" name="Text 43"/>
          <p:cNvSpPr/>
          <p:nvPr/>
        </p:nvSpPr>
        <p:spPr>
          <a:xfrm>
            <a:off x="5367528" y="3401568"/>
            <a:ext cx="87782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30〜50台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7" name="Text 45"/>
          <p:cNvSpPr/>
          <p:nvPr/>
        </p:nvSpPr>
        <p:spPr>
          <a:xfrm>
            <a:off x="6300216" y="3401568"/>
            <a:ext cx="10972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引取料のみ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5367528" y="3730752"/>
            <a:ext cx="338328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大学の設備更新や学生寮の退去シーズン（3〜4月）に発生する廃棄予定品を先取りする。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65760" y="4480560"/>
            <a:ext cx="8412480" cy="457200"/>
          </a:xfrm>
          <a:prstGeom prst="rect">
            <a:avLst/>
          </a:prstGeom>
          <a:solidFill>
            <a:srgbClr val="D9EAD3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2920" y="44805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568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整備基準：動作確認全項目・クリーニング・製造から10年以内・整備済みシール貼付・チェックシート保管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財務シミュレーション（5カ年）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8" name="Text 6"/>
          <p:cNvSpPr/>
          <p:nvPr/>
        </p:nvSpPr>
        <p:spPr>
          <a:xfrm>
            <a:off x="274320" y="749808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5カ年 損益シミュレーション（リユース主力・KB込み）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60704"/>
            <a:ext cx="21762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項目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2" name="Text 10"/>
          <p:cNvSpPr/>
          <p:nvPr/>
        </p:nvSpPr>
        <p:spPr>
          <a:xfrm>
            <a:off x="248716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1年目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4" name="Text 12"/>
          <p:cNvSpPr/>
          <p:nvPr/>
        </p:nvSpPr>
        <p:spPr>
          <a:xfrm>
            <a:off x="376732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2年目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4748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6" name="Text 14"/>
          <p:cNvSpPr/>
          <p:nvPr/>
        </p:nvSpPr>
        <p:spPr>
          <a:xfrm>
            <a:off x="504748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3年目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04748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★黒字化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9" name="Text 17"/>
          <p:cNvSpPr/>
          <p:nvPr/>
        </p:nvSpPr>
        <p:spPr>
          <a:xfrm>
            <a:off x="6327648" y="1060704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4年目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607808" y="1060704"/>
            <a:ext cx="1225296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21" name="Text 19"/>
          <p:cNvSpPr/>
          <p:nvPr/>
        </p:nvSpPr>
        <p:spPr>
          <a:xfrm>
            <a:off x="7607808" y="1078992"/>
            <a:ext cx="1225296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5年目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7607808" y="1280160"/>
            <a:ext cx="122529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★累損一掃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74320" y="15544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4" name="Text 22"/>
          <p:cNvSpPr/>
          <p:nvPr/>
        </p:nvSpPr>
        <p:spPr>
          <a:xfrm>
            <a:off x="384048" y="1554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稼働件数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6" name="Text 24"/>
          <p:cNvSpPr/>
          <p:nvPr/>
        </p:nvSpPr>
        <p:spPr>
          <a:xfrm>
            <a:off x="248716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400件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28" name="Text 26"/>
          <p:cNvSpPr/>
          <p:nvPr/>
        </p:nvSpPr>
        <p:spPr>
          <a:xfrm>
            <a:off x="376732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600件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0" name="Text 28"/>
          <p:cNvSpPr/>
          <p:nvPr/>
        </p:nvSpPr>
        <p:spPr>
          <a:xfrm>
            <a:off x="504748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1,000件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2" name="Text 30"/>
          <p:cNvSpPr/>
          <p:nvPr/>
        </p:nvSpPr>
        <p:spPr>
          <a:xfrm>
            <a:off x="632764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1,200件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4" name="Text 32"/>
          <p:cNvSpPr/>
          <p:nvPr/>
        </p:nvSpPr>
        <p:spPr>
          <a:xfrm>
            <a:off x="7607808" y="1554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1,500件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74320" y="2011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4320" y="20116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Text 35"/>
          <p:cNvSpPr/>
          <p:nvPr/>
        </p:nvSpPr>
        <p:spPr>
          <a:xfrm>
            <a:off x="384048" y="2011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年間売上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248716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Text 41"/>
          <p:cNvSpPr/>
          <p:nvPr/>
        </p:nvSpPr>
        <p:spPr>
          <a:xfrm>
            <a:off x="504748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2,500万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3"/>
          <p:cNvSpPr/>
          <p:nvPr/>
        </p:nvSpPr>
        <p:spPr>
          <a:xfrm>
            <a:off x="632764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3,000万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Text 45"/>
          <p:cNvSpPr/>
          <p:nvPr/>
        </p:nvSpPr>
        <p:spPr>
          <a:xfrm>
            <a:off x="7607808" y="2011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3,750万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274320" y="2468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74320" y="24688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0" name="Text 48"/>
          <p:cNvSpPr/>
          <p:nvPr/>
        </p:nvSpPr>
        <p:spPr>
          <a:xfrm>
            <a:off x="384048" y="24688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粗利（40%）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2" name="Text 50"/>
          <p:cNvSpPr/>
          <p:nvPr/>
        </p:nvSpPr>
        <p:spPr>
          <a:xfrm>
            <a:off x="248716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400万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4" name="Text 52"/>
          <p:cNvSpPr/>
          <p:nvPr/>
        </p:nvSpPr>
        <p:spPr>
          <a:xfrm>
            <a:off x="376732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600万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6" name="Text 54"/>
          <p:cNvSpPr/>
          <p:nvPr/>
        </p:nvSpPr>
        <p:spPr>
          <a:xfrm>
            <a:off x="504748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1,000万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58" name="Text 56"/>
          <p:cNvSpPr/>
          <p:nvPr/>
        </p:nvSpPr>
        <p:spPr>
          <a:xfrm>
            <a:off x="632764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1,200万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60" name="Text 58"/>
          <p:cNvSpPr/>
          <p:nvPr/>
        </p:nvSpPr>
        <p:spPr>
          <a:xfrm>
            <a:off x="7607808" y="24688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1,500万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274320" y="29260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274320" y="2926080"/>
            <a:ext cx="2176272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3" name="Text 61"/>
          <p:cNvSpPr/>
          <p:nvPr/>
        </p:nvSpPr>
        <p:spPr>
          <a:xfrm>
            <a:off x="384048" y="29260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固定費※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5" name="Text 63"/>
          <p:cNvSpPr/>
          <p:nvPr/>
        </p:nvSpPr>
        <p:spPr>
          <a:xfrm>
            <a:off x="248716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▲750万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/>
          <p:nvPr/>
        </p:nvSpPr>
        <p:spPr>
          <a:xfrm>
            <a:off x="376732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▲560万</a:t>
            </a:r>
            <a:endParaRPr lang="en-US" sz="1100" dirty="0"/>
          </a:p>
        </p:txBody>
      </p:sp>
      <p:sp>
        <p:nvSpPr>
          <p:cNvPr id="68" name="Shape 66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9" name="Text 67"/>
          <p:cNvSpPr/>
          <p:nvPr/>
        </p:nvSpPr>
        <p:spPr>
          <a:xfrm>
            <a:off x="504748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▲680万</a:t>
            </a:r>
            <a:endParaRPr lang="en-US" sz="1100" dirty="0"/>
          </a:p>
        </p:txBody>
      </p:sp>
      <p:sp>
        <p:nvSpPr>
          <p:cNvPr id="70" name="Shape 68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1" name="Text 69"/>
          <p:cNvSpPr/>
          <p:nvPr/>
        </p:nvSpPr>
        <p:spPr>
          <a:xfrm>
            <a:off x="632764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▲720万</a:t>
            </a:r>
            <a:endParaRPr lang="en-US" sz="1100" dirty="0"/>
          </a:p>
        </p:txBody>
      </p:sp>
      <p:sp>
        <p:nvSpPr>
          <p:cNvPr id="72" name="Shape 70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3" name="Text 71"/>
          <p:cNvSpPr/>
          <p:nvPr/>
        </p:nvSpPr>
        <p:spPr>
          <a:xfrm>
            <a:off x="7607808" y="29260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▲780万</a:t>
            </a:r>
            <a:endParaRPr lang="en-US" sz="1100" dirty="0"/>
          </a:p>
        </p:txBody>
      </p:sp>
      <p:sp>
        <p:nvSpPr>
          <p:cNvPr id="74" name="Shape 72"/>
          <p:cNvSpPr/>
          <p:nvPr/>
        </p:nvSpPr>
        <p:spPr>
          <a:xfrm>
            <a:off x="274320" y="33832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274320" y="3383280"/>
            <a:ext cx="2176272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6" name="Text 74"/>
          <p:cNvSpPr/>
          <p:nvPr/>
        </p:nvSpPr>
        <p:spPr>
          <a:xfrm>
            <a:off x="384048" y="33832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KB（2千円/件）</a:t>
            </a:r>
            <a:endParaRPr lang="en-US" sz="1050" dirty="0"/>
          </a:p>
        </p:txBody>
      </p:sp>
      <p:sp>
        <p:nvSpPr>
          <p:cNvPr id="77" name="Shape 75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78" name="Text 76"/>
          <p:cNvSpPr/>
          <p:nvPr/>
        </p:nvSpPr>
        <p:spPr>
          <a:xfrm>
            <a:off x="248716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100" dirty="0"/>
          </a:p>
        </p:txBody>
      </p:sp>
      <p:sp>
        <p:nvSpPr>
          <p:cNvPr id="79" name="Shape 77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0" name="Text 78"/>
          <p:cNvSpPr/>
          <p:nvPr/>
        </p:nvSpPr>
        <p:spPr>
          <a:xfrm>
            <a:off x="376732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▲120万</a:t>
            </a:r>
            <a:endParaRPr lang="en-US" sz="1100" dirty="0"/>
          </a:p>
        </p:txBody>
      </p:sp>
      <p:sp>
        <p:nvSpPr>
          <p:cNvPr id="81" name="Shape 79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2" name="Text 80"/>
          <p:cNvSpPr/>
          <p:nvPr/>
        </p:nvSpPr>
        <p:spPr>
          <a:xfrm>
            <a:off x="504748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▲200万</a:t>
            </a:r>
            <a:endParaRPr lang="en-US" sz="1100" dirty="0"/>
          </a:p>
        </p:txBody>
      </p:sp>
      <p:sp>
        <p:nvSpPr>
          <p:cNvPr id="83" name="Shape 81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4" name="Text 82"/>
          <p:cNvSpPr/>
          <p:nvPr/>
        </p:nvSpPr>
        <p:spPr>
          <a:xfrm>
            <a:off x="632764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▲240万</a:t>
            </a:r>
            <a:endParaRPr lang="en-US" sz="1100" dirty="0"/>
          </a:p>
        </p:txBody>
      </p:sp>
      <p:sp>
        <p:nvSpPr>
          <p:cNvPr id="85" name="Shape 83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86" name="Text 84"/>
          <p:cNvSpPr/>
          <p:nvPr/>
        </p:nvSpPr>
        <p:spPr>
          <a:xfrm>
            <a:off x="7607808" y="33832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▲300万</a:t>
            </a:r>
            <a:endParaRPr lang="en-US" sz="1100" dirty="0"/>
          </a:p>
        </p:txBody>
      </p:sp>
      <p:sp>
        <p:nvSpPr>
          <p:cNvPr id="87" name="Shape 85"/>
          <p:cNvSpPr/>
          <p:nvPr/>
        </p:nvSpPr>
        <p:spPr>
          <a:xfrm>
            <a:off x="274320" y="38404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274320" y="3840480"/>
            <a:ext cx="2176272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89" name="Shape 87"/>
          <p:cNvSpPr/>
          <p:nvPr/>
        </p:nvSpPr>
        <p:spPr>
          <a:xfrm>
            <a:off x="274320" y="3840480"/>
            <a:ext cx="54864" cy="457200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0" name="Text 88"/>
          <p:cNvSpPr/>
          <p:nvPr/>
        </p:nvSpPr>
        <p:spPr>
          <a:xfrm>
            <a:off x="384048" y="38404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営業利益（単年）</a:t>
            </a:r>
            <a:endParaRPr lang="en-US" sz="1050" dirty="0"/>
          </a:p>
        </p:txBody>
      </p:sp>
      <p:sp>
        <p:nvSpPr>
          <p:cNvPr id="91" name="Shape 89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2" name="Text 90"/>
          <p:cNvSpPr/>
          <p:nvPr/>
        </p:nvSpPr>
        <p:spPr>
          <a:xfrm>
            <a:off x="248716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94" name="Text 92"/>
          <p:cNvSpPr/>
          <p:nvPr/>
        </p:nvSpPr>
        <p:spPr>
          <a:xfrm>
            <a:off x="376732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▲80万</a:t>
            </a:r>
            <a:endParaRPr lang="en-US" sz="1200" dirty="0"/>
          </a:p>
        </p:txBody>
      </p:sp>
      <p:sp>
        <p:nvSpPr>
          <p:cNvPr id="95" name="Shape 93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6" name="Text 94"/>
          <p:cNvSpPr/>
          <p:nvPr/>
        </p:nvSpPr>
        <p:spPr>
          <a:xfrm>
            <a:off x="504748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+120万</a:t>
            </a:r>
            <a:endParaRPr lang="en-US" sz="1200" dirty="0"/>
          </a:p>
        </p:txBody>
      </p:sp>
      <p:sp>
        <p:nvSpPr>
          <p:cNvPr id="97" name="Shape 95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98" name="Text 96"/>
          <p:cNvSpPr/>
          <p:nvPr/>
        </p:nvSpPr>
        <p:spPr>
          <a:xfrm>
            <a:off x="632764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+240万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00" name="Text 98"/>
          <p:cNvSpPr/>
          <p:nvPr/>
        </p:nvSpPr>
        <p:spPr>
          <a:xfrm>
            <a:off x="7607808" y="38404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+420万</a:t>
            </a:r>
            <a:endParaRPr lang="en-US" sz="1200" dirty="0"/>
          </a:p>
        </p:txBody>
      </p:sp>
      <p:sp>
        <p:nvSpPr>
          <p:cNvPr id="101" name="Shape 99"/>
          <p:cNvSpPr/>
          <p:nvPr/>
        </p:nvSpPr>
        <p:spPr>
          <a:xfrm>
            <a:off x="274320" y="42976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74320" y="4297680"/>
            <a:ext cx="2176272" cy="45720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103" name="Shape 101"/>
          <p:cNvSpPr/>
          <p:nvPr/>
        </p:nvSpPr>
        <p:spPr>
          <a:xfrm>
            <a:off x="274320" y="4297680"/>
            <a:ext cx="54864" cy="457200"/>
          </a:xfrm>
          <a:prstGeom prst="rect">
            <a:avLst/>
          </a:prstGeom>
          <a:solidFill>
            <a:srgbClr val="115000"/>
          </a:solidFill>
          <a:ln/>
        </p:spPr>
      </p:sp>
      <p:sp>
        <p:nvSpPr>
          <p:cNvPr id="104" name="Text 102"/>
          <p:cNvSpPr/>
          <p:nvPr/>
        </p:nvSpPr>
        <p:spPr>
          <a:xfrm>
            <a:off x="384048" y="4297680"/>
            <a:ext cx="204825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累積損益</a:t>
            </a:r>
            <a:endParaRPr lang="en-US" sz="1050" dirty="0"/>
          </a:p>
        </p:txBody>
      </p:sp>
      <p:sp>
        <p:nvSpPr>
          <p:cNvPr id="105" name="Shape 103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6" name="Text 104"/>
          <p:cNvSpPr/>
          <p:nvPr/>
        </p:nvSpPr>
        <p:spPr>
          <a:xfrm>
            <a:off x="248716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▲430万</a:t>
            </a:r>
            <a:endParaRPr lang="en-US" sz="1200" dirty="0"/>
          </a:p>
        </p:txBody>
      </p:sp>
      <p:sp>
        <p:nvSpPr>
          <p:cNvPr id="107" name="Shape 105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08" name="Text 106"/>
          <p:cNvSpPr/>
          <p:nvPr/>
        </p:nvSpPr>
        <p:spPr>
          <a:xfrm>
            <a:off x="376732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▲510万</a:t>
            </a:r>
            <a:endParaRPr lang="en-US" sz="1200" dirty="0"/>
          </a:p>
        </p:txBody>
      </p:sp>
      <p:sp>
        <p:nvSpPr>
          <p:cNvPr id="109" name="Shape 107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0" name="Text 108"/>
          <p:cNvSpPr/>
          <p:nvPr/>
        </p:nvSpPr>
        <p:spPr>
          <a:xfrm>
            <a:off x="504748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▲390万</a:t>
            </a:r>
            <a:endParaRPr lang="en-US" sz="1200" dirty="0"/>
          </a:p>
        </p:txBody>
      </p:sp>
      <p:sp>
        <p:nvSpPr>
          <p:cNvPr id="111" name="Shape 109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solidFill>
            <a:srgbClr val="F4CCCC"/>
          </a:solidFill>
          <a:ln/>
        </p:spPr>
      </p:sp>
      <p:sp>
        <p:nvSpPr>
          <p:cNvPr id="112" name="Text 110"/>
          <p:cNvSpPr/>
          <p:nvPr/>
        </p:nvSpPr>
        <p:spPr>
          <a:xfrm>
            <a:off x="632764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D00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▲150万</a:t>
            </a:r>
            <a:endParaRPr lang="en-US" sz="1200" dirty="0"/>
          </a:p>
        </p:txBody>
      </p:sp>
      <p:sp>
        <p:nvSpPr>
          <p:cNvPr id="113" name="Shape 111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solidFill>
            <a:srgbClr val="D9EAD3"/>
          </a:solidFill>
          <a:ln/>
        </p:spPr>
      </p:sp>
      <p:sp>
        <p:nvSpPr>
          <p:cNvPr id="114" name="Text 112"/>
          <p:cNvSpPr/>
          <p:nvPr/>
        </p:nvSpPr>
        <p:spPr>
          <a:xfrm>
            <a:off x="7607808" y="429768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880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+270万</a:t>
            </a:r>
            <a:endParaRPr lang="en-US" sz="1200" dirty="0"/>
          </a:p>
        </p:txBody>
      </p:sp>
      <p:sp>
        <p:nvSpPr>
          <p:cNvPr id="115" name="Shape 113"/>
          <p:cNvSpPr/>
          <p:nvPr/>
        </p:nvSpPr>
        <p:spPr>
          <a:xfrm>
            <a:off x="274320" y="4754880"/>
            <a:ext cx="8348472" cy="0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274320" y="4809744"/>
            <a:ext cx="85953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※1年目固定費は初期費用（設備・HP・営業ツール等）300万円を含む　KB=キックバック（2,000円/成約件）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3F3F3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4" name="Shape 2"/>
          <p:cNvSpPr/>
          <p:nvPr/>
        </p:nvSpPr>
        <p:spPr>
          <a:xfrm>
            <a:off x="109728" y="100584"/>
            <a:ext cx="438912" cy="43891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" y="100584"/>
            <a:ext cx="438912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D7E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58368" y="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7月アクションプラン（今すぐやること）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9" name="Shape 7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営業準備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ターゲット生協リスト作成（50〜80校：大学名・担当部署・TEL）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提案資料の作成（料金比較表・整備証明・配送SLA一覧）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solidFill>
            <a:srgbClr val="156818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412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レベニューシェア条件の設計（成約2,000円/件）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65760" y="291693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2" name="Shape 20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商品・整備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412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サキュレ回収品から使用可能な家電台数の棚卸し（目標：200〜300台）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412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整備チェックシートの作成（動作確認・クリーニング・年式確認）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439826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41248" y="437997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整備済みシールのデザイン・発注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709160" y="768096"/>
            <a:ext cx="4160520" cy="208483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6" name="Text 34"/>
          <p:cNvSpPr/>
          <p:nvPr/>
        </p:nvSpPr>
        <p:spPr>
          <a:xfrm>
            <a:off x="4709160" y="76809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法令・管理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115214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184648" y="113385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古物商許可の取得状況確認（未取得の場合は申請着手）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1" name="Text 39"/>
          <p:cNvSpPr/>
          <p:nvPr/>
        </p:nvSpPr>
        <p:spPr>
          <a:xfrm>
            <a:off x="4846320" y="17007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184648" y="16824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PSE・電安法対応チェック（対象品目の確認）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4" name="Text 42"/>
          <p:cNvSpPr/>
          <p:nvPr/>
        </p:nvSpPr>
        <p:spPr>
          <a:xfrm>
            <a:off x="4846320" y="22494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5184648" y="22311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レンタル契約書のひな形作成（弁護士・行政書士と確認）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4709160" y="2916936"/>
            <a:ext cx="4160520" cy="1901952"/>
          </a:xfrm>
          <a:prstGeom prst="rect">
            <a:avLst/>
          </a:prstGeom>
          <a:solidFill>
            <a:srgbClr val="FFFFFF"/>
          </a:solidFill>
          <a:ln w="9525">
            <a:solidFill>
              <a:srgbClr val="CCCCC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8" name="Shape 46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49" name="Text 47"/>
          <p:cNvSpPr/>
          <p:nvPr/>
        </p:nvSpPr>
        <p:spPr>
          <a:xfrm>
            <a:off x="4709160" y="2916936"/>
            <a:ext cx="41605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5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財務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1" name="Text 49"/>
          <p:cNvSpPr/>
          <p:nvPr/>
        </p:nvSpPr>
        <p:spPr>
          <a:xfrm>
            <a:off x="4846320" y="330098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2" name="Text 50"/>
          <p:cNvSpPr/>
          <p:nvPr/>
        </p:nvSpPr>
        <p:spPr>
          <a:xfrm>
            <a:off x="5184648" y="328269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初期投資額の試算（整備費・消耗品・営業費）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solidFill>
            <a:srgbClr val="DD001B"/>
          </a:solidFill>
          <a:ln/>
        </p:spPr>
      </p:sp>
      <p:sp>
        <p:nvSpPr>
          <p:cNvPr id="54" name="Text 52"/>
          <p:cNvSpPr/>
          <p:nvPr/>
        </p:nvSpPr>
        <p:spPr>
          <a:xfrm>
            <a:off x="4846320" y="3849624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184648" y="3831336"/>
            <a:ext cx="358444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キャッシュフロー表の作成（仕入れ先行 → 3月回収の流れ）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solidFill>
            <a:srgbClr val="DD7E6B"/>
          </a:solidFill>
          <a:ln/>
        </p:spPr>
      </p:sp>
      <p:sp>
        <p:nvSpPr>
          <p:cNvPr id="57" name="Text 55"/>
          <p:cNvSpPr/>
          <p:nvPr/>
        </p:nvSpPr>
        <p:spPr>
          <a:xfrm>
            <a:off x="365760" y="4736592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7月末時点でのチェック：リスト作成完了・棚卸し完了・提案資料初稿完成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2026-07-24T00:39:29Z</dcterms:created>
  <dcterms:modified xsi:type="dcterms:W3CDTF">2026-07-24T00:39:29Z</dcterms:modified>
</cp:coreProperties>
</file>