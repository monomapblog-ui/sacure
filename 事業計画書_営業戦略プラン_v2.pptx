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" y="0"/>
            <a:ext cx="9070848" cy="8229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" name="Text 3"/>
          <p:cNvSpPr/>
          <p:nvPr/>
        </p:nvSpPr>
        <p:spPr>
          <a:xfrm>
            <a:off x="292608" y="137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学生特化型 家電レンタル事業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" y="86868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事業計画書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92608" y="1481328"/>
            <a:ext cx="5486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営業戦略プラン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292608" y="2121408"/>
            <a:ext cx="32004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226771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株式会社サキュレ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92608" y="2651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2026年7月　作成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960120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960120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6272784" y="1033272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272784" y="1508760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KGI：1年以内独立採算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2039112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039112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6272784" y="2112264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72784" y="2587752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稼働目標（3点セット）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3118104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3118104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1" name="Text 19"/>
          <p:cNvSpPr/>
          <p:nvPr/>
        </p:nvSpPr>
        <p:spPr>
          <a:xfrm>
            <a:off x="6272784" y="3191256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72784" y="3666744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大学生協提携目標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" y="4434840"/>
            <a:ext cx="9070848" cy="70866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" y="4434840"/>
            <a:ext cx="9070848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 ×  KPI  ×  行動量を一本化した実行計画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目次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" y="822960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822960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521208" y="93268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" y="9326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69848" y="950976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/ KPI 全体像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1627632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27632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2" name="Shape 10"/>
          <p:cNvSpPr/>
          <p:nvPr/>
        </p:nvSpPr>
        <p:spPr>
          <a:xfrm>
            <a:off x="521208" y="173736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" y="1737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69848" y="1755648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外部環境分析（機会・脅威）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2432304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432304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Shape 15"/>
          <p:cNvSpPr/>
          <p:nvPr/>
        </p:nvSpPr>
        <p:spPr>
          <a:xfrm>
            <a:off x="521208" y="2542032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8" name="Text 16"/>
          <p:cNvSpPr/>
          <p:nvPr/>
        </p:nvSpPr>
        <p:spPr>
          <a:xfrm>
            <a:off x="521208" y="25420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69848" y="2560320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内部環境分析（強み・弱み）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" y="3236976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3236976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2" name="Shape 20"/>
          <p:cNvSpPr/>
          <p:nvPr/>
        </p:nvSpPr>
        <p:spPr>
          <a:xfrm>
            <a:off x="521208" y="334670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3" name="Text 21"/>
          <p:cNvSpPr/>
          <p:nvPr/>
        </p:nvSpPr>
        <p:spPr>
          <a:xfrm>
            <a:off x="521208" y="33467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69848" y="3364992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クロスSWOT → 戦略結論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" y="4041648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4041648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7" name="Shape 25"/>
          <p:cNvSpPr/>
          <p:nvPr/>
        </p:nvSpPr>
        <p:spPr>
          <a:xfrm>
            <a:off x="521208" y="4151376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521208" y="41513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69848" y="4169664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ユニットエコノミクス（リユース vs 新品）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92040" y="822960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92040" y="822960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2" name="Shape 30"/>
          <p:cNvSpPr/>
          <p:nvPr/>
        </p:nvSpPr>
        <p:spPr>
          <a:xfrm>
            <a:off x="5001768" y="93268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3" name="Text 31"/>
          <p:cNvSpPr/>
          <p:nvPr/>
        </p:nvSpPr>
        <p:spPr>
          <a:xfrm>
            <a:off x="5001768" y="9326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550408" y="950976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営業戦略：チャンネル設計と生協アプローチ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892040" y="1627632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92040" y="1627632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01768" y="173736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5001768" y="1737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550408" y="1755648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KPI連鎖・週次行動量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92040" y="2432304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92040" y="2432304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2" name="Shape 40"/>
          <p:cNvSpPr/>
          <p:nvPr/>
        </p:nvSpPr>
        <p:spPr>
          <a:xfrm>
            <a:off x="5001768" y="2542032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3" name="Text 41"/>
          <p:cNvSpPr/>
          <p:nvPr/>
        </p:nvSpPr>
        <p:spPr>
          <a:xfrm>
            <a:off x="5001768" y="25420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550408" y="2560320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商品収集戦略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892040" y="3236976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92040" y="3236976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7" name="Shape 45"/>
          <p:cNvSpPr/>
          <p:nvPr/>
        </p:nvSpPr>
        <p:spPr>
          <a:xfrm>
            <a:off x="5001768" y="334670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8" name="Text 46"/>
          <p:cNvSpPr/>
          <p:nvPr/>
        </p:nvSpPr>
        <p:spPr>
          <a:xfrm>
            <a:off x="5001768" y="33467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5550408" y="3364992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財務シミュレーション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892040" y="4041648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92040" y="4041648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2" name="Shape 50"/>
          <p:cNvSpPr/>
          <p:nvPr/>
        </p:nvSpPr>
        <p:spPr>
          <a:xfrm>
            <a:off x="5001768" y="4151376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3" name="Text 51"/>
          <p:cNvSpPr/>
          <p:nvPr/>
        </p:nvSpPr>
        <p:spPr>
          <a:xfrm>
            <a:off x="5001768" y="41513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550408" y="4169664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7月アクションプラン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/ KPI 全体像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2706624" cy="7132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1年目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稼働400件 / 売上1,000万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事業基盤確立・ユニット黒字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72968" y="768096"/>
            <a:ext cx="2706624" cy="7132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3282696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3年目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72968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単年度黒字　達成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72968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稼働1,000件・固定費完全回収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80176" y="768096"/>
            <a:ext cx="2706624" cy="713232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6" name="Text 14"/>
          <p:cNvSpPr/>
          <p:nvPr/>
        </p:nvSpPr>
        <p:spPr>
          <a:xfrm>
            <a:off x="6089904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5年目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80176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累損一掃　安定成長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80176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稼働1,500件・継続投資フェーズへ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4400" y="1591056"/>
            <a:ext cx="7315200" cy="56692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16276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月次稼働台数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51560" y="18653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74720" y="1719072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3点セット × 月2,083円 × 12ヶ月 ≒ 1,000万円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371600" y="2249424"/>
            <a:ext cx="6400800" cy="566928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24" name="Text 22"/>
          <p:cNvSpPr/>
          <p:nvPr/>
        </p:nvSpPr>
        <p:spPr>
          <a:xfrm>
            <a:off x="1508760" y="22860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大学生協 提携数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508760" y="252374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931920" y="237744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1校あたり平均30件獲得（新入生300人×自宅外率30%×獲得率10%）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0" y="2907792"/>
            <a:ext cx="5486400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8" name="Text 26"/>
          <p:cNvSpPr/>
          <p:nvPr/>
        </p:nvSpPr>
        <p:spPr>
          <a:xfrm>
            <a:off x="1965960" y="29443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商談数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65960" y="318211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40〜50回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389120" y="3035808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提携締結率30〜40% → 13校到達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86000" y="3566160"/>
            <a:ext cx="4572000" cy="566928"/>
          </a:xfrm>
          <a:prstGeom prst="rect">
            <a:avLst/>
          </a:prstGeom>
          <a:solidFill>
            <a:srgbClr val="9E4500"/>
          </a:solidFill>
          <a:ln/>
        </p:spPr>
      </p:sp>
      <p:sp>
        <p:nvSpPr>
          <p:cNvPr id="32" name="Text 30"/>
          <p:cNvSpPr/>
          <p:nvPr/>
        </p:nvSpPr>
        <p:spPr>
          <a:xfrm>
            <a:off x="2423160" y="360273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アポ獲得数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23160" y="384048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80〜100件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46320" y="36941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商談化率50%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651760" y="4224528"/>
            <a:ext cx="3840480" cy="56692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6" name="Text 34"/>
          <p:cNvSpPr/>
          <p:nvPr/>
        </p:nvSpPr>
        <p:spPr>
          <a:xfrm>
            <a:off x="2788920" y="42611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初回アプローチ数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788920" y="449884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1,500〜2,000件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212080" y="4352544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アポ化率5%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外部環境分析（OT）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機会（Opportunities）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389888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1207008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①毎年15万台の廃棄家電が発生。回収事業とのシナジーで調達コストがほぼゼロ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1847088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103120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1920240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②3〜4月の新入生需要が集中。在庫・物流を計画的に動かしやすい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2560320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816352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2633472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③競合未提携の都内中堅大学生協が多数。早期開拓で独占的チャンネルを確保できる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529584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694944" y="3346704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④物価高・奨学金負担により初期費用削減ニーズが増加（保護者負担11万円/家電）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986784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4242816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" y="4059936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⑤Z世代のリユース・SDGs意識が高く、リユース家電への抵抗感が低下中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25" name="Text 23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脅威（Threats）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36592" y="1133856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73752" y="1389888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28" name="Text 26"/>
          <p:cNvSpPr/>
          <p:nvPr/>
        </p:nvSpPr>
        <p:spPr>
          <a:xfrm>
            <a:off x="5074920" y="1207008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①かして！どっとこむ・てぶらでどっとこむが生協提携で先行。後発の参入障壁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36592" y="1847088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73752" y="2103120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1" name="Text 29"/>
          <p:cNvSpPr/>
          <p:nvPr/>
        </p:nvSpPr>
        <p:spPr>
          <a:xfrm>
            <a:off x="5074920" y="1920240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②3〜4月の物流集中。引越し繁忙期と重なり配送・設置の人員不足リスク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36592" y="2560320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73752" y="2816352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4" name="Text 32"/>
          <p:cNvSpPr/>
          <p:nvPr/>
        </p:nvSpPr>
        <p:spPr>
          <a:xfrm>
            <a:off x="5074920" y="2633472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③「他人が使った家電」への心理的抵抗。品質保証・見た目の担保が必須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36592" y="3273552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73752" y="3529584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7" name="Text 35"/>
          <p:cNvSpPr/>
          <p:nvPr/>
        </p:nvSpPr>
        <p:spPr>
          <a:xfrm>
            <a:off x="5074920" y="3346704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④古物商許可・PSE・電安法など複数法令の遵守体制整備コストが重い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内部環境分析（SW）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強み（Strengths）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133856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18872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仕入れコスト＝ほぼゼロ（リユース品）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499616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廃棄物回収網からリユース家電を調達（コストほぼゼロ）。ただし初期は台数にばらつきがあり、新品（調達コスト発生）で補う可能性がある。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029968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029968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084832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与野倉庫（既存インフラ）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2395728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都心60分圏の倉庫確保済み。整備・保管・配送をワンストップ化。倉庫賃料の追加負担なし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2926080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926080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980944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自社車両・ドライバーで配送回収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3291840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廃棄物回収の既存車両を活用。外注なしで設置・回収が完結できる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822192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3822192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87705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行政認定業者としての信頼性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187952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廃棄物処理許認可・実績あり。大学生協に「信頼できる法人」として提案できる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6" name="Text 24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弱み（Weaknesses）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36592" y="1133856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36592" y="1133856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9" name="Text 27"/>
          <p:cNvSpPr/>
          <p:nvPr/>
        </p:nvSpPr>
        <p:spPr>
          <a:xfrm>
            <a:off x="4873752" y="118872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認知ゼロ・ブランドなし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73752" y="1499616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学生・保護者に知られていない。生協提案で「聞いたことがない」と言われるリスク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36592" y="2029968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36592" y="2029968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33" name="Text 31"/>
          <p:cNvSpPr/>
          <p:nvPr/>
        </p:nvSpPr>
        <p:spPr>
          <a:xfrm>
            <a:off x="4873752" y="2084832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学生向け営業・マーケ未経験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873752" y="2395728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廃棄物回収はBtoB営業。大学生協交渉・SNS集客は新規領域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36592" y="2926080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36592" y="2926080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37" name="Text 35"/>
          <p:cNvSpPr/>
          <p:nvPr/>
        </p:nvSpPr>
        <p:spPr>
          <a:xfrm>
            <a:off x="4873752" y="2980944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品質ばらつきと整備基準未整備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873752" y="3291840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回収品はコンディションに差がある。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チェックシートで品質基準を統一する必要がある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36592" y="3822192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36592" y="3822192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Text 39"/>
          <p:cNvSpPr/>
          <p:nvPr/>
        </p:nvSpPr>
        <p:spPr>
          <a:xfrm>
            <a:off x="4873752" y="387705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繁忙期の物流キャパ制約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873752" y="4187952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3〜4月に400件を納品すると廃棄物回収業務と競合する可能性がある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クロスSWOT → 戦略結論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950976"/>
            <a:ext cx="3931920" cy="1664208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50976"/>
            <a:ext cx="3931920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950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SO戦略（強み × 機会）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1280160"/>
            <a:ext cx="3657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仕入れ0円＋既存物流で業界最安値を実現。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競合未提携の生協を先取りし学生を囲い込む。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低価格学生囲い込み戦略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846320" y="950976"/>
            <a:ext cx="3931920" cy="1664208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46320" y="950976"/>
            <a:ext cx="3931920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950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WO戦略（弱み × 機会）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983480" y="1280160"/>
            <a:ext cx="3657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ブランドなし → 生協の看板を借りる提案で信頼を補完。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SNSは2年目以降。初年度は生協BtoBに集中。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2779776"/>
            <a:ext cx="3931920" cy="1719072"/>
          </a:xfrm>
          <a:prstGeom prst="rect">
            <a:avLst/>
          </a:prstGeom>
          <a:solidFill>
            <a:srgbClr val="C9DAF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779776"/>
            <a:ext cx="393192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27797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ST戦略（強み × 脅威）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" y="3108960"/>
            <a:ext cx="365760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品質認知リスク → 整備済み証明・チェックシートで可視化。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繁忙期集中リスク → 台数上限を設定し先着予約制で分散。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0" y="2779776"/>
            <a:ext cx="3931920" cy="171907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2779776"/>
            <a:ext cx="3931920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0" y="27797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WT戦略（弱み × 脅威）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83480" y="3108960"/>
            <a:ext cx="365760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法令対応（古物商・PSE）は提携法律事務所・行政書士と早期整備。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競合後発を品質管理の明文化でブランド化する。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286000" y="4535424"/>
            <a:ext cx="4572000" cy="4572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2286000" y="45354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「低価格学生囲い込み戦略」　業界最安値 × 生協BtoBで初年度400件を獲得する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ユニットエコノミクス（3点セット・2年サイクルあたりの収支）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2011680" cy="4754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23160" y="768096"/>
            <a:ext cx="2084832" cy="47548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2423160" y="768096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リユース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（回収品）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768096"/>
            <a:ext cx="2084832" cy="47548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768096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（回収品）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720840" y="768096"/>
            <a:ext cx="2057400" cy="47548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768096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（市場購入）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16736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" y="1316736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調達コスト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2316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084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2" name="Text 20"/>
          <p:cNvSpPr/>
          <p:nvPr/>
        </p:nvSpPr>
        <p:spPr>
          <a:xfrm>
            <a:off x="672084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▲50,000円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1773936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810512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475488" y="1810512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整備・クリーニング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42316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242316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▲5,000円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▲1,000円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72084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672084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2267712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304288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" y="2304288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配達・設置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42316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6" name="Text 34"/>
          <p:cNvSpPr/>
          <p:nvPr/>
        </p:nvSpPr>
        <p:spPr>
          <a:xfrm>
            <a:off x="242316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72084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65760" y="2761488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2798064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475488" y="2798064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回収（2年後）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42316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242316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57200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72084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672084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65760" y="3255264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291840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2" name="Text 50"/>
          <p:cNvSpPr/>
          <p:nvPr/>
        </p:nvSpPr>
        <p:spPr>
          <a:xfrm>
            <a:off x="475488" y="329184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レンタル収入（2年間）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42316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4" name="Text 52"/>
          <p:cNvSpPr/>
          <p:nvPr/>
        </p:nvSpPr>
        <p:spPr>
          <a:xfrm>
            <a:off x="242316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457200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6" name="Text 54"/>
          <p:cNvSpPr/>
          <p:nvPr/>
        </p:nvSpPr>
        <p:spPr>
          <a:xfrm>
            <a:off x="457200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72084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8" name="Text 56"/>
          <p:cNvSpPr/>
          <p:nvPr/>
        </p:nvSpPr>
        <p:spPr>
          <a:xfrm>
            <a:off x="672084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365760" y="3749040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5760" y="3785616"/>
            <a:ext cx="2011680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3785616"/>
            <a:ext cx="19019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初回サイクル利益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423160" y="3785616"/>
            <a:ext cx="2084832" cy="658368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42316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+25,000円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242316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（50%）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4572000" y="3785616"/>
            <a:ext cx="2084832" cy="658368"/>
          </a:xfrm>
          <a:prstGeom prst="rect">
            <a:avLst/>
          </a:prstGeom>
          <a:solidFill>
            <a:srgbClr val="C9DAF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+29,000円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457200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（58%）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720840" y="3785616"/>
            <a:ext cx="2084832" cy="658368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2084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▲20,000円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672084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（−40%）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65760" y="449884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新品（市場購入）は2回転目以降（3〜4年目）から利益化。3回転で累計+30,000円。  ※ 配達・設置・回収の人件費・車両費は10,000円/回で試算。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営業戦略：チャンネル設計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86384"/>
            <a:ext cx="8412480" cy="12618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786384"/>
            <a:ext cx="54864" cy="12618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1179576"/>
            <a:ext cx="438912" cy="43891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1795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42416" y="859536"/>
            <a:ext cx="7132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85953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最重点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47088" y="84124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小規模生協への直接訪問と資料郵送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47088" y="118872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競合未提携の小規模校が多く、留学生ニーズが高い。まず訪問または紙資料で接触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47088" y="1554480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6" name="Text 14"/>
          <p:cNvSpPr/>
          <p:nvPr/>
        </p:nvSpPr>
        <p:spPr>
          <a:xfrm>
            <a:off x="2029968" y="150876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留学生比率大・小規模生協をリストアップ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47088" y="1792224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8" name="Text 16"/>
          <p:cNvSpPr/>
          <p:nvPr/>
        </p:nvSpPr>
        <p:spPr>
          <a:xfrm>
            <a:off x="2029968" y="1746504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直接訪問または紙ベース資料を郵送して提案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847088" y="2029968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2029968" y="1984248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在日留学生コミュニティへの口コミも活用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50992" y="969264"/>
            <a:ext cx="2944368" cy="3474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2" name="Text 20"/>
          <p:cNvSpPr/>
          <p:nvPr/>
        </p:nvSpPr>
        <p:spPr>
          <a:xfrm>
            <a:off x="5650992" y="969264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10〜12月仕込み、3〜4月獲得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2194560"/>
            <a:ext cx="8412480" cy="1261872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194560"/>
            <a:ext cx="54864" cy="126187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" y="2587752"/>
            <a:ext cx="438912" cy="43891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25877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42416" y="2267712"/>
            <a:ext cx="7132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8" name="Text 26"/>
          <p:cNvSpPr/>
          <p:nvPr/>
        </p:nvSpPr>
        <p:spPr>
          <a:xfrm>
            <a:off x="1042416" y="2267712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補完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847088" y="2249424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チラシ設置 + KB 2,000円/件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847088" y="2596896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入居タイミングで接触。KB設計で紹介元の動機を確保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847088" y="2962656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2" name="Text 30"/>
          <p:cNvSpPr/>
          <p:nvPr/>
        </p:nvSpPr>
        <p:spPr>
          <a:xfrm>
            <a:off x="2029968" y="2916936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仲介・入寮施設にチラシ設置（KB 2,000円/件）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847088" y="3200400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4" name="Text 32"/>
          <p:cNvSpPr/>
          <p:nvPr/>
        </p:nvSpPr>
        <p:spPr>
          <a:xfrm>
            <a:off x="2029968" y="315468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外国人支援窓口・留学生ハウスにも配布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847088" y="3438144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6" name="Text 34"/>
          <p:cNvSpPr/>
          <p:nvPr/>
        </p:nvSpPr>
        <p:spPr>
          <a:xfrm>
            <a:off x="2029968" y="3392424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管理会社にQRコード付きカードを設置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50992" y="2377440"/>
            <a:ext cx="2944368" cy="34747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8" name="Text 36"/>
          <p:cNvSpPr/>
          <p:nvPr/>
        </p:nvSpPr>
        <p:spPr>
          <a:xfrm>
            <a:off x="5650992" y="2377440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通年（1〜3月を重点化）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65760" y="3602736"/>
            <a:ext cx="8412480" cy="1261872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3602736"/>
            <a:ext cx="54864" cy="12618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Shape 39"/>
          <p:cNvSpPr/>
          <p:nvPr/>
        </p:nvSpPr>
        <p:spPr>
          <a:xfrm>
            <a:off x="502920" y="3995928"/>
            <a:ext cx="438912" cy="43891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" y="3995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1042416" y="3675888"/>
            <a:ext cx="713232" cy="25603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4" name="Text 42"/>
          <p:cNvSpPr/>
          <p:nvPr/>
        </p:nvSpPr>
        <p:spPr>
          <a:xfrm>
            <a:off x="1042416" y="3675888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低優先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847088" y="365760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既存顧客経由（廃棄物回収先250社）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847088" y="4005072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既存250社との信頼関係を活用。受注コストほぼゼロだが優先度は3番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1847088" y="4370832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8" name="Text 46"/>
          <p:cNvSpPr/>
          <p:nvPr/>
        </p:nvSpPr>
        <p:spPr>
          <a:xfrm>
            <a:off x="2029968" y="4325112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既存法人担当者へDM・TELで紹介依頼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847088" y="4608576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50" name="Text 48"/>
          <p:cNvSpPr/>
          <p:nvPr/>
        </p:nvSpPr>
        <p:spPr>
          <a:xfrm>
            <a:off x="2029968" y="4562856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担当者のお子様・知人の新入生にアプローチ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847088" y="4846320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52" name="Text 50"/>
          <p:cNvSpPr/>
          <p:nvPr/>
        </p:nvSpPr>
        <p:spPr>
          <a:xfrm>
            <a:off x="2029968" y="480060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成約時に紹介者へ謝礼（商品券・割引等）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650992" y="3785616"/>
            <a:ext cx="2944368" cy="3474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54" name="Text 52"/>
          <p:cNvSpPr/>
          <p:nvPr/>
        </p:nvSpPr>
        <p:spPr>
          <a:xfrm>
            <a:off x="5650992" y="3785616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随時（優先度3番）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生協営業フロー（4フェーズ）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1024128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10〜11月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アポ獲得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1480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生協・大学事務へのTEL・メール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ターゲットリスト50〜80校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アポ目標：5〜8件/月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4048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9" name="Text 17"/>
          <p:cNvSpPr/>
          <p:nvPr/>
        </p:nvSpPr>
        <p:spPr>
          <a:xfrm>
            <a:off x="384048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アポ80〜100件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67712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450592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50592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0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0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450592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11〜12月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450592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提案・交渉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587752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33472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9" name="Text 27"/>
          <p:cNvSpPr/>
          <p:nvPr/>
        </p:nvSpPr>
        <p:spPr>
          <a:xfrm>
            <a:off x="2798064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料金比較表・整備証明を提示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633472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1" name="Text 29"/>
          <p:cNvSpPr/>
          <p:nvPr/>
        </p:nvSpPr>
        <p:spPr>
          <a:xfrm>
            <a:off x="2798064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レベニューシェア設計を提案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633472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3" name="Text 31"/>
          <p:cNvSpPr/>
          <p:nvPr/>
        </p:nvSpPr>
        <p:spPr>
          <a:xfrm>
            <a:off x="2798064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目標提携締結率：30〜40%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560320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5" name="Text 33"/>
          <p:cNvSpPr/>
          <p:nvPr/>
        </p:nvSpPr>
        <p:spPr>
          <a:xfrm>
            <a:off x="2560320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提携13〜15校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443984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626864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26864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76672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626864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1〜2月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626864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告知・予約受付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4764024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09744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5" name="Text 43"/>
          <p:cNvSpPr/>
          <p:nvPr/>
        </p:nvSpPr>
        <p:spPr>
          <a:xfrm>
            <a:off x="4974336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生協HPと掲示板に掲載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809744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7" name="Text 45"/>
          <p:cNvSpPr/>
          <p:nvPr/>
        </p:nvSpPr>
        <p:spPr>
          <a:xfrm>
            <a:off x="4974336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合格発表日（2月）に集中告知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809744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9" name="Text 47"/>
          <p:cNvSpPr/>
          <p:nvPr/>
        </p:nvSpPr>
        <p:spPr>
          <a:xfrm>
            <a:off x="4974336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先着制・台数上限で締め切り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736592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1" name="Text 49"/>
          <p:cNvSpPr/>
          <p:nvPr/>
        </p:nvSpPr>
        <p:spPr>
          <a:xfrm>
            <a:off x="4736592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予約200件以上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620256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803136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03136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5" name="Shape 53"/>
          <p:cNvSpPr/>
          <p:nvPr/>
        </p:nvSpPr>
        <p:spPr>
          <a:xfrm>
            <a:off x="7552944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6" name="Text 54"/>
          <p:cNvSpPr/>
          <p:nvPr/>
        </p:nvSpPr>
        <p:spPr>
          <a:xfrm>
            <a:off x="7552944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803136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803136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配送・設置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6940296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986016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1" name="Text 59"/>
          <p:cNvSpPr/>
          <p:nvPr/>
        </p:nvSpPr>
        <p:spPr>
          <a:xfrm>
            <a:off x="7150608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2週間に集中して完了させる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986016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3" name="Text 61"/>
          <p:cNvSpPr/>
          <p:nvPr/>
        </p:nvSpPr>
        <p:spPr>
          <a:xfrm>
            <a:off x="7150608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スケジュールを事前確定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986016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5" name="Text 63"/>
          <p:cNvSpPr/>
          <p:nvPr/>
        </p:nvSpPr>
        <p:spPr>
          <a:xfrm>
            <a:off x="7150608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丁寧な設置で口コミ獲得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912864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67" name="Text 65"/>
          <p:cNvSpPr/>
          <p:nvPr/>
        </p:nvSpPr>
        <p:spPr>
          <a:xfrm>
            <a:off x="6912864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稼働400件達成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KPI連鎖・週次行動量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786384"/>
            <a:ext cx="4114800" cy="56692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384048" y="8229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84048" y="1060704"/>
            <a:ext cx="3895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売上1,000万円/年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3749040" cy="56692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149961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稼働数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" y="1737360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400件（月次）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2139696"/>
            <a:ext cx="3291840" cy="566928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4" name="Text 12"/>
          <p:cNvSpPr/>
          <p:nvPr/>
        </p:nvSpPr>
        <p:spPr>
          <a:xfrm>
            <a:off x="795528" y="217627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提携校数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95528" y="2414016"/>
            <a:ext cx="3072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2816352"/>
            <a:ext cx="2834640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28529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商談数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3090672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40〜50回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143000" y="3493008"/>
            <a:ext cx="2377440" cy="566928"/>
          </a:xfrm>
          <a:prstGeom prst="rect">
            <a:avLst/>
          </a:prstGeom>
          <a:solidFill>
            <a:srgbClr val="9E4500"/>
          </a:solidFill>
          <a:ln/>
        </p:spPr>
      </p:sp>
      <p:sp>
        <p:nvSpPr>
          <p:cNvPr id="20" name="Text 18"/>
          <p:cNvSpPr/>
          <p:nvPr/>
        </p:nvSpPr>
        <p:spPr>
          <a:xfrm>
            <a:off x="1252728" y="352958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252728" y="3767328"/>
            <a:ext cx="21579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80〜100件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371600" y="4169664"/>
            <a:ext cx="1920240" cy="56692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3" name="Text 21"/>
          <p:cNvSpPr/>
          <p:nvPr/>
        </p:nvSpPr>
        <p:spPr>
          <a:xfrm>
            <a:off x="1481328" y="420624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接触数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481328" y="4443984"/>
            <a:ext cx="17007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1,500〜2,000件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0" y="786384"/>
            <a:ext cx="4206240" cy="29260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786384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週次管理指標（行動量の担保）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0" y="1152144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81728" y="1243584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アプローチ数（TEL・メール）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16368" y="1243584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0" name="Text 28"/>
          <p:cNvSpPr/>
          <p:nvPr/>
        </p:nvSpPr>
        <p:spPr>
          <a:xfrm>
            <a:off x="7516368" y="1243584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30〜40件/週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0" y="1773936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81728" y="1865376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提案面談数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516368" y="1865376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4" name="Text 32"/>
          <p:cNvSpPr/>
          <p:nvPr/>
        </p:nvSpPr>
        <p:spPr>
          <a:xfrm>
            <a:off x="7516368" y="1865376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2〜3件/週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0" y="2395728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81728" y="2487168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提携締結累計（12月末）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516368" y="2487168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7516368" y="2487168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5〜7校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0" y="3017520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1728" y="310896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予約件数（2月末）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7516368" y="3108960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2" name="Text 40"/>
          <p:cNvSpPr/>
          <p:nvPr/>
        </p:nvSpPr>
        <p:spPr>
          <a:xfrm>
            <a:off x="7516368" y="3108960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200件以上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0" y="3639312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81728" y="3730752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稼働開始件数（4月末）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7516368" y="3730752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6" name="Text 44"/>
          <p:cNvSpPr/>
          <p:nvPr/>
        </p:nvSpPr>
        <p:spPr>
          <a:xfrm>
            <a:off x="7516368" y="3730752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0" y="4279392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週次でアプローチ数・商談数・締結数をレビューし、行動量の下振れを早期検知する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商品収集戦略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8412480" cy="47548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初年度目標：400セット確保（冷蔵庫・洗濯機・電子レンジ 各400台）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353312"/>
            <a:ext cx="4160520" cy="1426464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353312"/>
            <a:ext cx="54864" cy="1426464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1828800"/>
            <a:ext cx="438912" cy="43891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24128" y="144475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サキュレ廃棄回収品の選別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24128" y="1828800"/>
            <a:ext cx="877824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" y="1828800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200〜300台/年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956816" y="1828800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7" name="Text 15"/>
          <p:cNvSpPr/>
          <p:nvPr/>
        </p:nvSpPr>
        <p:spPr>
          <a:xfrm>
            <a:off x="1956816" y="18288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ほぼ0円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21579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既存の廃棄物回収ルートから家電を選別。調達コストが発生しない最優先ルート。選別率50〜60%を目標。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926080"/>
            <a:ext cx="4160520" cy="1426464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2926080"/>
            <a:ext cx="54864" cy="14264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" y="340156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" y="3401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24128" y="3017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不動産・管理会社の退去残置物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24128" y="3401568"/>
            <a:ext cx="877824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5" name="Text 23"/>
          <p:cNvSpPr/>
          <p:nvPr/>
        </p:nvSpPr>
        <p:spPr>
          <a:xfrm>
            <a:off x="1024128" y="3401568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50〜100台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956816" y="3401568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7" name="Text 25"/>
          <p:cNvSpPr/>
          <p:nvPr/>
        </p:nvSpPr>
        <p:spPr>
          <a:xfrm>
            <a:off x="1956816" y="34015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引取料のみ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24128" y="37307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賃貸退去・原状回復時に発生する残置家電を引き取り。管理会社へ営業することで安定供給を確保。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09160" y="1353312"/>
            <a:ext cx="4160520" cy="1426464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1353312"/>
            <a:ext cx="54864" cy="14264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1" name="Shape 29"/>
          <p:cNvSpPr/>
          <p:nvPr/>
        </p:nvSpPr>
        <p:spPr>
          <a:xfrm>
            <a:off x="4818888" y="1828800"/>
            <a:ext cx="438912" cy="43891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2" name="Text 30"/>
          <p:cNvSpPr/>
          <p:nvPr/>
        </p:nvSpPr>
        <p:spPr>
          <a:xfrm>
            <a:off x="4818888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367528" y="144475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ジモティー・業者オークション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367528" y="1828800"/>
            <a:ext cx="877824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5" name="Text 33"/>
          <p:cNvSpPr/>
          <p:nvPr/>
        </p:nvSpPr>
        <p:spPr>
          <a:xfrm>
            <a:off x="5367528" y="1828800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100台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00216" y="1828800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00216" y="18288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3〜5千円/台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367528" y="21579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サキュレルートで不足する台数を補完。Aucnet等の業者オークションで状態の良いものを選んで仕入れ。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09160" y="2926080"/>
            <a:ext cx="4160520" cy="1426464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09160" y="2926080"/>
            <a:ext cx="54864" cy="1426464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Shape 39"/>
          <p:cNvSpPr/>
          <p:nvPr/>
        </p:nvSpPr>
        <p:spPr>
          <a:xfrm>
            <a:off x="4818888" y="3401568"/>
            <a:ext cx="438912" cy="43891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2" name="Text 40"/>
          <p:cNvSpPr/>
          <p:nvPr/>
        </p:nvSpPr>
        <p:spPr>
          <a:xfrm>
            <a:off x="4818888" y="3401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367528" y="3017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大学・学生寮の入れ替え品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367528" y="3401568"/>
            <a:ext cx="877824" cy="25603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5" name="Text 43"/>
          <p:cNvSpPr/>
          <p:nvPr/>
        </p:nvSpPr>
        <p:spPr>
          <a:xfrm>
            <a:off x="5367528" y="3401568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30〜50台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0216" y="3401568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7" name="Text 45"/>
          <p:cNvSpPr/>
          <p:nvPr/>
        </p:nvSpPr>
        <p:spPr>
          <a:xfrm>
            <a:off x="6300216" y="34015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引取料のみ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367528" y="37307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大学の設備更新や学生寮の退去シーズン（3〜4月）に発生する廃棄予定品を先取りする。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65760" y="4480560"/>
            <a:ext cx="8412480" cy="457200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920" y="4480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整備基準：動作確認全項目・クリーニング・製造から10年以内・整備済みシール貼付・チェックシート保管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財務シミュレーション（5カ年）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5カ年 損益シミュレーション（リユース主力・KB込み）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1060704"/>
            <a:ext cx="2176272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60704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716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2" name="Text 10"/>
          <p:cNvSpPr/>
          <p:nvPr/>
        </p:nvSpPr>
        <p:spPr>
          <a:xfrm>
            <a:off x="248716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1年目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6732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4" name="Text 12"/>
          <p:cNvSpPr/>
          <p:nvPr/>
        </p:nvSpPr>
        <p:spPr>
          <a:xfrm>
            <a:off x="376732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2年目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47488" y="1060704"/>
            <a:ext cx="1225296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6" name="Text 14"/>
          <p:cNvSpPr/>
          <p:nvPr/>
        </p:nvSpPr>
        <p:spPr>
          <a:xfrm>
            <a:off x="5047488" y="1078992"/>
            <a:ext cx="1225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3年目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47488" y="1280160"/>
            <a:ext cx="12252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★黒字化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32764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9" name="Text 17"/>
          <p:cNvSpPr/>
          <p:nvPr/>
        </p:nvSpPr>
        <p:spPr>
          <a:xfrm>
            <a:off x="632764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4年目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07808" y="1060704"/>
            <a:ext cx="1225296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1" name="Text 19"/>
          <p:cNvSpPr/>
          <p:nvPr/>
        </p:nvSpPr>
        <p:spPr>
          <a:xfrm>
            <a:off x="7607808" y="1078992"/>
            <a:ext cx="1225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5年目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07808" y="1280160"/>
            <a:ext cx="12252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★累損一掃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15544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4" name="Text 22"/>
          <p:cNvSpPr/>
          <p:nvPr/>
        </p:nvSpPr>
        <p:spPr>
          <a:xfrm>
            <a:off x="384048" y="15544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稼働件数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48716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6" name="Text 24"/>
          <p:cNvSpPr/>
          <p:nvPr/>
        </p:nvSpPr>
        <p:spPr>
          <a:xfrm>
            <a:off x="248716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6732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8" name="Text 26"/>
          <p:cNvSpPr/>
          <p:nvPr/>
        </p:nvSpPr>
        <p:spPr>
          <a:xfrm>
            <a:off x="376732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600件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4748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0" name="Text 28"/>
          <p:cNvSpPr/>
          <p:nvPr/>
        </p:nvSpPr>
        <p:spPr>
          <a:xfrm>
            <a:off x="504748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1,000件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2764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2" name="Text 30"/>
          <p:cNvSpPr/>
          <p:nvPr/>
        </p:nvSpPr>
        <p:spPr>
          <a:xfrm>
            <a:off x="632764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1,200件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0780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4" name="Text 32"/>
          <p:cNvSpPr/>
          <p:nvPr/>
        </p:nvSpPr>
        <p:spPr>
          <a:xfrm>
            <a:off x="760780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1,500件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74320" y="20116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320" y="2011680"/>
            <a:ext cx="217627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384048" y="20116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年間売上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48716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248716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76732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376732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1,500万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04748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504748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2,500万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2764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632764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3,000万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60780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760780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3,750万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74320" y="24688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4320" y="24688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0" name="Text 48"/>
          <p:cNvSpPr/>
          <p:nvPr/>
        </p:nvSpPr>
        <p:spPr>
          <a:xfrm>
            <a:off x="384048" y="24688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粗利（40%）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48716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2" name="Text 50"/>
          <p:cNvSpPr/>
          <p:nvPr/>
        </p:nvSpPr>
        <p:spPr>
          <a:xfrm>
            <a:off x="248716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400万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76732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4" name="Text 52"/>
          <p:cNvSpPr/>
          <p:nvPr/>
        </p:nvSpPr>
        <p:spPr>
          <a:xfrm>
            <a:off x="376732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600万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04748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6" name="Text 54"/>
          <p:cNvSpPr/>
          <p:nvPr/>
        </p:nvSpPr>
        <p:spPr>
          <a:xfrm>
            <a:off x="504748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2764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8" name="Text 56"/>
          <p:cNvSpPr/>
          <p:nvPr/>
        </p:nvSpPr>
        <p:spPr>
          <a:xfrm>
            <a:off x="632764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1,200万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60780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60" name="Text 58"/>
          <p:cNvSpPr/>
          <p:nvPr/>
        </p:nvSpPr>
        <p:spPr>
          <a:xfrm>
            <a:off x="760780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1,500万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74320" y="29260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74320" y="2926080"/>
            <a:ext cx="217627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/>
          <p:nvPr/>
        </p:nvSpPr>
        <p:spPr>
          <a:xfrm>
            <a:off x="384048" y="29260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固定費※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248716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/>
          <p:nvPr/>
        </p:nvSpPr>
        <p:spPr>
          <a:xfrm>
            <a:off x="248716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▲750万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376732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/>
          <p:nvPr/>
        </p:nvSpPr>
        <p:spPr>
          <a:xfrm>
            <a:off x="376732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▲560万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504748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/>
          <p:nvPr/>
        </p:nvSpPr>
        <p:spPr>
          <a:xfrm>
            <a:off x="504748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▲680万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32764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Text 69"/>
          <p:cNvSpPr/>
          <p:nvPr/>
        </p:nvSpPr>
        <p:spPr>
          <a:xfrm>
            <a:off x="632764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▲720万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760780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Text 71"/>
          <p:cNvSpPr/>
          <p:nvPr/>
        </p:nvSpPr>
        <p:spPr>
          <a:xfrm>
            <a:off x="760780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▲780万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274320" y="33832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74320" y="33832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6" name="Text 74"/>
          <p:cNvSpPr/>
          <p:nvPr/>
        </p:nvSpPr>
        <p:spPr>
          <a:xfrm>
            <a:off x="384048" y="33832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KB（2千円/件）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248716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8" name="Text 76"/>
          <p:cNvSpPr/>
          <p:nvPr/>
        </p:nvSpPr>
        <p:spPr>
          <a:xfrm>
            <a:off x="248716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▲80万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376732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0" name="Text 78"/>
          <p:cNvSpPr/>
          <p:nvPr/>
        </p:nvSpPr>
        <p:spPr>
          <a:xfrm>
            <a:off x="376732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▲120万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504748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2" name="Text 80"/>
          <p:cNvSpPr/>
          <p:nvPr/>
        </p:nvSpPr>
        <p:spPr>
          <a:xfrm>
            <a:off x="504748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▲200万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632764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4" name="Text 82"/>
          <p:cNvSpPr/>
          <p:nvPr/>
        </p:nvSpPr>
        <p:spPr>
          <a:xfrm>
            <a:off x="632764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▲240万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760780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6" name="Text 84"/>
          <p:cNvSpPr/>
          <p:nvPr/>
        </p:nvSpPr>
        <p:spPr>
          <a:xfrm>
            <a:off x="760780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▲300万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274320" y="38404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74320" y="3840480"/>
            <a:ext cx="2176272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89" name="Shape 87"/>
          <p:cNvSpPr/>
          <p:nvPr/>
        </p:nvSpPr>
        <p:spPr>
          <a:xfrm>
            <a:off x="274320" y="3840480"/>
            <a:ext cx="54864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0" name="Text 88"/>
          <p:cNvSpPr/>
          <p:nvPr/>
        </p:nvSpPr>
        <p:spPr>
          <a:xfrm>
            <a:off x="384048" y="38404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営業利益（単年）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2487168" y="38404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92" name="Text 90"/>
          <p:cNvSpPr/>
          <p:nvPr/>
        </p:nvSpPr>
        <p:spPr>
          <a:xfrm>
            <a:off x="248716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▲430万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767328" y="38404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94" name="Text 92"/>
          <p:cNvSpPr/>
          <p:nvPr/>
        </p:nvSpPr>
        <p:spPr>
          <a:xfrm>
            <a:off x="376732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▲80万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504748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96" name="Text 94"/>
          <p:cNvSpPr/>
          <p:nvPr/>
        </p:nvSpPr>
        <p:spPr>
          <a:xfrm>
            <a:off x="504748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+120万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632764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98" name="Text 96"/>
          <p:cNvSpPr/>
          <p:nvPr/>
        </p:nvSpPr>
        <p:spPr>
          <a:xfrm>
            <a:off x="632764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+240万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60780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100" name="Text 98"/>
          <p:cNvSpPr/>
          <p:nvPr/>
        </p:nvSpPr>
        <p:spPr>
          <a:xfrm>
            <a:off x="760780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+420万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274320" y="42976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74320" y="4297680"/>
            <a:ext cx="2176272" cy="4572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74320" y="4297680"/>
            <a:ext cx="54864" cy="457200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04" name="Text 102"/>
          <p:cNvSpPr/>
          <p:nvPr/>
        </p:nvSpPr>
        <p:spPr>
          <a:xfrm>
            <a:off x="384048" y="42976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累積損益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248716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06" name="Text 104"/>
          <p:cNvSpPr/>
          <p:nvPr/>
        </p:nvSpPr>
        <p:spPr>
          <a:xfrm>
            <a:off x="248716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▲430万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376732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08" name="Text 106"/>
          <p:cNvSpPr/>
          <p:nvPr/>
        </p:nvSpPr>
        <p:spPr>
          <a:xfrm>
            <a:off x="376732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▲510万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504748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10" name="Text 108"/>
          <p:cNvSpPr/>
          <p:nvPr/>
        </p:nvSpPr>
        <p:spPr>
          <a:xfrm>
            <a:off x="504748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▲390万</a:t>
            </a:r>
            <a:endParaRPr lang="en-US" sz="1200" dirty="0"/>
          </a:p>
        </p:txBody>
      </p:sp>
      <p:sp>
        <p:nvSpPr>
          <p:cNvPr id="111" name="Shape 109"/>
          <p:cNvSpPr/>
          <p:nvPr/>
        </p:nvSpPr>
        <p:spPr>
          <a:xfrm>
            <a:off x="632764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12" name="Text 110"/>
          <p:cNvSpPr/>
          <p:nvPr/>
        </p:nvSpPr>
        <p:spPr>
          <a:xfrm>
            <a:off x="632764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▲150万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7607808" y="42976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114" name="Text 112"/>
          <p:cNvSpPr/>
          <p:nvPr/>
        </p:nvSpPr>
        <p:spPr>
          <a:xfrm>
            <a:off x="760780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+270万</a:t>
            </a:r>
            <a:endParaRPr lang="en-US" sz="1200" dirty="0"/>
          </a:p>
        </p:txBody>
      </p:sp>
      <p:sp>
        <p:nvSpPr>
          <p:cNvPr id="115" name="Shape 113"/>
          <p:cNvSpPr/>
          <p:nvPr/>
        </p:nvSpPr>
        <p:spPr>
          <a:xfrm>
            <a:off x="274320" y="47548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74320" y="4809744"/>
            <a:ext cx="8595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※1年目固定費は初期費用（設備・HP・営業ツール等）300万円を含む　KB=キックバック（2,000円/成約件）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7月アクションプラン（今すぐやること）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160520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768096"/>
            <a:ext cx="4160520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" y="768096"/>
            <a:ext cx="4160520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76809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営業準備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152144"/>
            <a:ext cx="2560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1521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41248" y="113385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ターゲット生協リスト作成（50〜80校：大学名・担当部署・TEL）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1700784"/>
            <a:ext cx="2560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17007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1248" y="16824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提案資料の作成（料金比較表・整備証明・配送SLA一覧）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2249424"/>
            <a:ext cx="2560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2494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41248" y="22311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レベニューシェア条件の設計（成約2,000円/件）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916936"/>
            <a:ext cx="4160520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916936"/>
            <a:ext cx="4160520" cy="29260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2" name="Shape 20"/>
          <p:cNvSpPr/>
          <p:nvPr/>
        </p:nvSpPr>
        <p:spPr>
          <a:xfrm>
            <a:off x="365760" y="2916936"/>
            <a:ext cx="4160520" cy="29260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91693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商品・整備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2920" y="3300984"/>
            <a:ext cx="256032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33009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1248" y="32826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サキュレ回収品から使用可能な家電台数の棚卸し（目標：200〜300台）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3849624"/>
            <a:ext cx="256032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8496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41248" y="38313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整備チェックシートの作成（動作確認・クリーニング・年式確認）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398264"/>
            <a:ext cx="256032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43982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41248" y="437997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整備済みシールのデザイン・発注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09160" y="768096"/>
            <a:ext cx="4160520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09160" y="768096"/>
            <a:ext cx="416052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4709160" y="768096"/>
            <a:ext cx="416052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6" name="Text 34"/>
          <p:cNvSpPr/>
          <p:nvPr/>
        </p:nvSpPr>
        <p:spPr>
          <a:xfrm>
            <a:off x="4709160" y="76809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法令・管理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46320" y="1152144"/>
            <a:ext cx="2560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8" name="Text 36"/>
          <p:cNvSpPr/>
          <p:nvPr/>
        </p:nvSpPr>
        <p:spPr>
          <a:xfrm>
            <a:off x="4846320" y="11521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184648" y="113385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古物商許可の取得状況確認（未取得の場合は申請着手）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46320" y="1700784"/>
            <a:ext cx="2560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1" name="Text 39"/>
          <p:cNvSpPr/>
          <p:nvPr/>
        </p:nvSpPr>
        <p:spPr>
          <a:xfrm>
            <a:off x="4846320" y="17007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184648" y="16824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PSE・電安法対応チェック（対象品目の確認）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846320" y="2249424"/>
            <a:ext cx="2560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4" name="Text 42"/>
          <p:cNvSpPr/>
          <p:nvPr/>
        </p:nvSpPr>
        <p:spPr>
          <a:xfrm>
            <a:off x="4846320" y="22494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184648" y="22311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レンタル契約書のひな形作成（弁護士・行政書士と確認）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709160" y="2916936"/>
            <a:ext cx="4160520" cy="190195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09160" y="2916936"/>
            <a:ext cx="4160520" cy="29260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48" name="Shape 46"/>
          <p:cNvSpPr/>
          <p:nvPr/>
        </p:nvSpPr>
        <p:spPr>
          <a:xfrm>
            <a:off x="4709160" y="2916936"/>
            <a:ext cx="4160520" cy="29260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49" name="Text 47"/>
          <p:cNvSpPr/>
          <p:nvPr/>
        </p:nvSpPr>
        <p:spPr>
          <a:xfrm>
            <a:off x="4709160" y="291693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46320" y="3300984"/>
            <a:ext cx="256032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51" name="Text 49"/>
          <p:cNvSpPr/>
          <p:nvPr/>
        </p:nvSpPr>
        <p:spPr>
          <a:xfrm>
            <a:off x="4846320" y="33009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184648" y="32826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初期投資額の試算（整備費・消耗品・営業費）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846320" y="3849624"/>
            <a:ext cx="256032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54" name="Text 52"/>
          <p:cNvSpPr/>
          <p:nvPr/>
        </p:nvSpPr>
        <p:spPr>
          <a:xfrm>
            <a:off x="4846320" y="38496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184648" y="38313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キャッシュフロー表の作成（仕入れ先行 → 3月回収の流れ）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365760" y="4736592"/>
            <a:ext cx="8412480" cy="2743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7" name="Text 55"/>
          <p:cNvSpPr/>
          <p:nvPr/>
        </p:nvSpPr>
        <p:spPr>
          <a:xfrm>
            <a:off x="365760" y="473659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7月末時点でのチェック：リスト作成完了・棚卸し完了・提案資料初稿完成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2026-07-24T00:32:36Z</dcterms:created>
  <dcterms:modified xsi:type="dcterms:W3CDTF">2026-07-24T00:32:36Z</dcterms:modified>
</cp:coreProperties>
</file>