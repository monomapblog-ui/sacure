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73152" cy="5143500"/>
          </a:xfrm>
          <a:prstGeom prst="rect">
            <a:avLst/>
          </a:prstGeom>
          <a:solidFill>
            <a:srgbClr val="DD7E6B"/>
          </a:solidFill>
          <a:ln/>
        </p:spPr>
      </p:sp>
      <p:sp>
        <p:nvSpPr>
          <p:cNvPr id="4" name="Shape 2"/>
          <p:cNvSpPr/>
          <p:nvPr/>
        </p:nvSpPr>
        <p:spPr>
          <a:xfrm>
            <a:off x="73152" y="0"/>
            <a:ext cx="9070848" cy="822960"/>
          </a:xfrm>
          <a:prstGeom prst="rect">
            <a:avLst/>
          </a:prstGeom>
          <a:solidFill>
            <a:srgbClr val="DD7E6B"/>
          </a:solidFill>
          <a:ln/>
        </p:spPr>
      </p:sp>
      <p:sp>
        <p:nvSpPr>
          <p:cNvPr id="5" name="Text 3"/>
          <p:cNvSpPr/>
          <p:nvPr/>
        </p:nvSpPr>
        <p:spPr>
          <a:xfrm>
            <a:off x="292608" y="137160"/>
            <a:ext cx="82296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廃棄物量データ事業　×　都市センシングデータ事業</a:t>
            </a:r>
            <a:endParaRPr lang="en-US" sz="1200" dirty="0"/>
          </a:p>
        </p:txBody>
      </p:sp>
      <p:sp>
        <p:nvSpPr>
          <p:cNvPr id="6" name="Text 4"/>
          <p:cNvSpPr/>
          <p:nvPr/>
        </p:nvSpPr>
        <p:spPr>
          <a:xfrm>
            <a:off x="292608" y="877824"/>
            <a:ext cx="6400800" cy="658368"/>
          </a:xfrm>
          <a:prstGeom prst="rect">
            <a:avLst/>
          </a:prstGeom>
          <a:noFill/>
          <a:ln/>
        </p:spPr>
        <p:txBody>
          <a:bodyPr wrap="square" rtlCol="0" anchor="ctr"/>
          <a:lstStyle/>
          <a:p>
            <a:pPr indent="0" marL="0">
              <a:buNone/>
            </a:pPr>
            <a:r>
              <a:rPr lang="en-US" sz="3600" b="1" dirty="0">
                <a:solidFill>
                  <a:srgbClr val="333333"/>
                </a:solidFill>
                <a:latin typeface="Calibri" pitchFamily="34" charset="0"/>
                <a:ea typeface="Calibri" pitchFamily="34" charset="-122"/>
                <a:cs typeface="Calibri" pitchFamily="34" charset="-120"/>
              </a:rPr>
              <a:t>データ活用事業</a:t>
            </a:r>
            <a:endParaRPr lang="en-US" sz="3600" dirty="0"/>
          </a:p>
        </p:txBody>
      </p:sp>
      <p:sp>
        <p:nvSpPr>
          <p:cNvPr id="7" name="Text 5"/>
          <p:cNvSpPr/>
          <p:nvPr/>
        </p:nvSpPr>
        <p:spPr>
          <a:xfrm>
            <a:off x="292608" y="1499616"/>
            <a:ext cx="5486400" cy="512064"/>
          </a:xfrm>
          <a:prstGeom prst="rect">
            <a:avLst/>
          </a:prstGeom>
          <a:noFill/>
          <a:ln/>
        </p:spPr>
        <p:txBody>
          <a:bodyPr wrap="square" rtlCol="0" anchor="ctr"/>
          <a:lstStyle/>
          <a:p>
            <a:pPr indent="0" marL="0">
              <a:buNone/>
            </a:pPr>
            <a:r>
              <a:rPr lang="en-US" sz="2800" b="1" dirty="0">
                <a:solidFill>
                  <a:srgbClr val="DD7E6B"/>
                </a:solidFill>
                <a:latin typeface="Calibri" pitchFamily="34" charset="0"/>
                <a:ea typeface="Calibri" pitchFamily="34" charset="-122"/>
                <a:cs typeface="Calibri" pitchFamily="34" charset="-120"/>
              </a:rPr>
              <a:t>事業計画書</a:t>
            </a:r>
            <a:endParaRPr lang="en-US" sz="2800" dirty="0"/>
          </a:p>
        </p:txBody>
      </p:sp>
      <p:sp>
        <p:nvSpPr>
          <p:cNvPr id="8" name="Shape 6"/>
          <p:cNvSpPr/>
          <p:nvPr/>
        </p:nvSpPr>
        <p:spPr>
          <a:xfrm>
            <a:off x="292608" y="2139696"/>
            <a:ext cx="3200400" cy="0"/>
          </a:xfrm>
          <a:prstGeom prst="line">
            <a:avLst/>
          </a:prstGeom>
          <a:noFill/>
          <a:ln w="12700">
            <a:solidFill>
              <a:srgbClr val="CCCCCC"/>
            </a:solidFill>
            <a:prstDash val="solid"/>
          </a:ln>
        </p:spPr>
      </p:sp>
      <p:sp>
        <p:nvSpPr>
          <p:cNvPr id="9" name="Text 7"/>
          <p:cNvSpPr/>
          <p:nvPr/>
        </p:nvSpPr>
        <p:spPr>
          <a:xfrm>
            <a:off x="292608" y="2286000"/>
            <a:ext cx="4572000" cy="347472"/>
          </a:xfrm>
          <a:prstGeom prst="rect">
            <a:avLst/>
          </a:prstGeom>
          <a:noFill/>
          <a:ln/>
        </p:spPr>
        <p:txBody>
          <a:bodyPr wrap="square"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株式会社サキュレ</a:t>
            </a:r>
            <a:endParaRPr lang="en-US" sz="1400" dirty="0"/>
          </a:p>
        </p:txBody>
      </p:sp>
      <p:sp>
        <p:nvSpPr>
          <p:cNvPr id="10" name="Text 8"/>
          <p:cNvSpPr/>
          <p:nvPr/>
        </p:nvSpPr>
        <p:spPr>
          <a:xfrm>
            <a:off x="292608" y="2670048"/>
            <a:ext cx="4572000" cy="274320"/>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2026年7月　作成</a:t>
            </a:r>
            <a:endParaRPr lang="en-US" sz="1100" dirty="0"/>
          </a:p>
        </p:txBody>
      </p:sp>
      <p:sp>
        <p:nvSpPr>
          <p:cNvPr id="11" name="Shape 9"/>
          <p:cNvSpPr/>
          <p:nvPr/>
        </p:nvSpPr>
        <p:spPr>
          <a:xfrm>
            <a:off x="6217920" y="960120"/>
            <a:ext cx="2468880" cy="914400"/>
          </a:xfrm>
          <a:prstGeom prst="rect">
            <a:avLst/>
          </a:prstGeom>
          <a:solidFill>
            <a:srgbClr val="F3F3F3"/>
          </a:solidFill>
          <a:ln w="9525">
            <a:solidFill>
              <a:srgbClr val="CCCCCC"/>
            </a:solidFill>
            <a:prstDash val="solid"/>
          </a:ln>
        </p:spPr>
      </p:sp>
      <p:sp>
        <p:nvSpPr>
          <p:cNvPr id="12" name="Shape 10"/>
          <p:cNvSpPr/>
          <p:nvPr/>
        </p:nvSpPr>
        <p:spPr>
          <a:xfrm>
            <a:off x="6217920" y="960120"/>
            <a:ext cx="54864" cy="914400"/>
          </a:xfrm>
          <a:prstGeom prst="rect">
            <a:avLst/>
          </a:prstGeom>
          <a:solidFill>
            <a:srgbClr val="DD7E6B"/>
          </a:solidFill>
          <a:ln/>
        </p:spPr>
      </p:sp>
      <p:sp>
        <p:nvSpPr>
          <p:cNvPr id="13" name="Text 11"/>
          <p:cNvSpPr/>
          <p:nvPr/>
        </p:nvSpPr>
        <p:spPr>
          <a:xfrm>
            <a:off x="6272784" y="1033272"/>
            <a:ext cx="2414016" cy="475488"/>
          </a:xfrm>
          <a:prstGeom prst="rect">
            <a:avLst/>
          </a:prstGeom>
          <a:noFill/>
          <a:ln/>
        </p:spPr>
        <p:txBody>
          <a:bodyPr wrap="square" rtlCol="0" anchor="ctr"/>
          <a:lstStyle/>
          <a:p>
            <a:pPr algn="ctr" indent="0" marL="0">
              <a:buNone/>
            </a:pPr>
            <a:r>
              <a:rPr lang="en-US" sz="2200" b="1" dirty="0">
                <a:solidFill>
                  <a:srgbClr val="DD7E6B"/>
                </a:solidFill>
                <a:latin typeface="Calibri" pitchFamily="34" charset="0"/>
                <a:ea typeface="Calibri" pitchFamily="34" charset="-122"/>
                <a:cs typeface="Calibri" pitchFamily="34" charset="-120"/>
              </a:rPr>
              <a:t>200台以上</a:t>
            </a:r>
            <a:endParaRPr lang="en-US" sz="2200" dirty="0"/>
          </a:p>
        </p:txBody>
      </p:sp>
      <p:sp>
        <p:nvSpPr>
          <p:cNvPr id="14" name="Text 12"/>
          <p:cNvSpPr/>
          <p:nvPr/>
        </p:nvSpPr>
        <p:spPr>
          <a:xfrm>
            <a:off x="6272784" y="1508760"/>
            <a:ext cx="2414016"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廃棄物収集トラック（データ収集基盤）</a:t>
            </a:r>
            <a:endParaRPr lang="en-US" sz="950" dirty="0"/>
          </a:p>
        </p:txBody>
      </p:sp>
      <p:sp>
        <p:nvSpPr>
          <p:cNvPr id="15" name="Shape 13"/>
          <p:cNvSpPr/>
          <p:nvPr/>
        </p:nvSpPr>
        <p:spPr>
          <a:xfrm>
            <a:off x="6217920" y="2039112"/>
            <a:ext cx="2468880" cy="914400"/>
          </a:xfrm>
          <a:prstGeom prst="rect">
            <a:avLst/>
          </a:prstGeom>
          <a:solidFill>
            <a:srgbClr val="F3F3F3"/>
          </a:solidFill>
          <a:ln w="9525">
            <a:solidFill>
              <a:srgbClr val="CCCCCC"/>
            </a:solidFill>
            <a:prstDash val="solid"/>
          </a:ln>
        </p:spPr>
      </p:sp>
      <p:sp>
        <p:nvSpPr>
          <p:cNvPr id="16" name="Shape 14"/>
          <p:cNvSpPr/>
          <p:nvPr/>
        </p:nvSpPr>
        <p:spPr>
          <a:xfrm>
            <a:off x="6217920" y="2039112"/>
            <a:ext cx="54864" cy="914400"/>
          </a:xfrm>
          <a:prstGeom prst="rect">
            <a:avLst/>
          </a:prstGeom>
          <a:solidFill>
            <a:srgbClr val="DD7E6B"/>
          </a:solidFill>
          <a:ln/>
        </p:spPr>
      </p:sp>
      <p:sp>
        <p:nvSpPr>
          <p:cNvPr id="17" name="Text 15"/>
          <p:cNvSpPr/>
          <p:nvPr/>
        </p:nvSpPr>
        <p:spPr>
          <a:xfrm>
            <a:off x="6272784" y="2112264"/>
            <a:ext cx="2414016" cy="475488"/>
          </a:xfrm>
          <a:prstGeom prst="rect">
            <a:avLst/>
          </a:prstGeom>
          <a:noFill/>
          <a:ln/>
        </p:spPr>
        <p:txBody>
          <a:bodyPr wrap="square" rtlCol="0" anchor="ctr"/>
          <a:lstStyle/>
          <a:p>
            <a:pPr algn="ctr" indent="0" marL="0">
              <a:buNone/>
            </a:pPr>
            <a:r>
              <a:rPr lang="en-US" sz="2200" b="1" dirty="0">
                <a:solidFill>
                  <a:srgbClr val="DD7E6B"/>
                </a:solidFill>
                <a:latin typeface="Calibri" pitchFamily="34" charset="0"/>
                <a:ea typeface="Calibri" pitchFamily="34" charset="-122"/>
                <a:cs typeface="Calibri" pitchFamily="34" charset="-120"/>
              </a:rPr>
              <a:t>2事業</a:t>
            </a:r>
            <a:endParaRPr lang="en-US" sz="2200" dirty="0"/>
          </a:p>
        </p:txBody>
      </p:sp>
      <p:sp>
        <p:nvSpPr>
          <p:cNvPr id="18" name="Text 16"/>
          <p:cNvSpPr/>
          <p:nvPr/>
        </p:nvSpPr>
        <p:spPr>
          <a:xfrm>
            <a:off x="6272784" y="2587752"/>
            <a:ext cx="2414016"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廃棄物データ × 走行センサーデータ</a:t>
            </a:r>
            <a:endParaRPr lang="en-US" sz="950" dirty="0"/>
          </a:p>
        </p:txBody>
      </p:sp>
      <p:sp>
        <p:nvSpPr>
          <p:cNvPr id="19" name="Shape 17"/>
          <p:cNvSpPr/>
          <p:nvPr/>
        </p:nvSpPr>
        <p:spPr>
          <a:xfrm>
            <a:off x="6217920" y="3118104"/>
            <a:ext cx="2468880" cy="914400"/>
          </a:xfrm>
          <a:prstGeom prst="rect">
            <a:avLst/>
          </a:prstGeom>
          <a:solidFill>
            <a:srgbClr val="F3F3F3"/>
          </a:solidFill>
          <a:ln w="9525">
            <a:solidFill>
              <a:srgbClr val="CCCCCC"/>
            </a:solidFill>
            <a:prstDash val="solid"/>
          </a:ln>
        </p:spPr>
      </p:sp>
      <p:sp>
        <p:nvSpPr>
          <p:cNvPr id="20" name="Shape 18"/>
          <p:cNvSpPr/>
          <p:nvPr/>
        </p:nvSpPr>
        <p:spPr>
          <a:xfrm>
            <a:off x="6217920" y="3118104"/>
            <a:ext cx="54864" cy="914400"/>
          </a:xfrm>
          <a:prstGeom prst="rect">
            <a:avLst/>
          </a:prstGeom>
          <a:solidFill>
            <a:srgbClr val="DD7E6B"/>
          </a:solidFill>
          <a:ln/>
        </p:spPr>
      </p:sp>
      <p:sp>
        <p:nvSpPr>
          <p:cNvPr id="21" name="Text 19"/>
          <p:cNvSpPr/>
          <p:nvPr/>
        </p:nvSpPr>
        <p:spPr>
          <a:xfrm>
            <a:off x="6272784" y="3191256"/>
            <a:ext cx="2414016" cy="475488"/>
          </a:xfrm>
          <a:prstGeom prst="rect">
            <a:avLst/>
          </a:prstGeom>
          <a:noFill/>
          <a:ln/>
        </p:spPr>
        <p:txBody>
          <a:bodyPr wrap="square" rtlCol="0" anchor="ctr"/>
          <a:lstStyle/>
          <a:p>
            <a:pPr algn="ctr" indent="0" marL="0">
              <a:buNone/>
            </a:pPr>
            <a:r>
              <a:rPr lang="en-US" sz="2200" b="1" dirty="0">
                <a:solidFill>
                  <a:srgbClr val="DD7E6B"/>
                </a:solidFill>
                <a:latin typeface="Calibri" pitchFamily="34" charset="0"/>
                <a:ea typeface="Calibri" pitchFamily="34" charset="-122"/>
                <a:cs typeface="Calibri" pitchFamily="34" charset="-120"/>
              </a:rPr>
              <a:t>3,000万円</a:t>
            </a:r>
            <a:endParaRPr lang="en-US" sz="2200" dirty="0"/>
          </a:p>
        </p:txBody>
      </p:sp>
      <p:sp>
        <p:nvSpPr>
          <p:cNvPr id="22" name="Text 20"/>
          <p:cNvSpPr/>
          <p:nvPr/>
        </p:nvSpPr>
        <p:spPr>
          <a:xfrm>
            <a:off x="6272784" y="3666744"/>
            <a:ext cx="2414016"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KGI：3年目年間売上目標</a:t>
            </a:r>
            <a:endParaRPr lang="en-US" sz="950" dirty="0"/>
          </a:p>
        </p:txBody>
      </p:sp>
      <p:sp>
        <p:nvSpPr>
          <p:cNvPr id="23" name="Shape 21"/>
          <p:cNvSpPr/>
          <p:nvPr/>
        </p:nvSpPr>
        <p:spPr>
          <a:xfrm>
            <a:off x="73152" y="4434840"/>
            <a:ext cx="9070848" cy="708660"/>
          </a:xfrm>
          <a:prstGeom prst="rect">
            <a:avLst/>
          </a:prstGeom>
          <a:solidFill>
            <a:srgbClr val="F3F3F3"/>
          </a:solidFill>
          <a:ln/>
        </p:spPr>
      </p:sp>
      <p:sp>
        <p:nvSpPr>
          <p:cNvPr id="24" name="Text 22"/>
          <p:cNvSpPr/>
          <p:nvPr/>
        </p:nvSpPr>
        <p:spPr>
          <a:xfrm>
            <a:off x="73152" y="4434840"/>
            <a:ext cx="9070848" cy="708660"/>
          </a:xfrm>
          <a:prstGeom prst="rect">
            <a:avLst/>
          </a:prstGeom>
          <a:noFill/>
          <a:ln/>
        </p:spPr>
        <p:txBody>
          <a:bodyPr wrap="square" rtlCol="0" anchor="ctr"/>
          <a:lstStyle/>
          <a:p>
            <a:pPr algn="ctr" indent="0" marL="0">
              <a:buNone/>
            </a:pPr>
            <a:r>
              <a:rPr lang="en-US" sz="1200" b="1" dirty="0">
                <a:solidFill>
                  <a:srgbClr val="DD7E6B"/>
                </a:solidFill>
                <a:latin typeface="Calibri" pitchFamily="34" charset="0"/>
                <a:ea typeface="Calibri" pitchFamily="34" charset="-122"/>
                <a:cs typeface="Calibri" pitchFamily="34" charset="-120"/>
              </a:rPr>
              <a:t>廃棄物収集の副産物から「データ」という第二の収益柱を構築する</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Text 2"/>
          <p:cNvSpPr/>
          <p:nvPr/>
        </p:nvSpPr>
        <p:spPr>
          <a:xfrm>
            <a:off x="182880" y="0"/>
            <a:ext cx="88696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目次</a:t>
            </a:r>
            <a:endParaRPr lang="en-US" sz="1600" dirty="0"/>
          </a:p>
        </p:txBody>
      </p:sp>
      <p:sp>
        <p:nvSpPr>
          <p:cNvPr id="5" name="Shape 3"/>
          <p:cNvSpPr/>
          <p:nvPr/>
        </p:nvSpPr>
        <p:spPr>
          <a:xfrm>
            <a:off x="411480" y="822960"/>
            <a:ext cx="4251960" cy="658368"/>
          </a:xfrm>
          <a:prstGeom prst="rect">
            <a:avLst/>
          </a:prstGeom>
          <a:solidFill>
            <a:srgbClr val="FFFFFF"/>
          </a:solidFill>
          <a:ln w="9525">
            <a:solidFill>
              <a:srgbClr val="CCCCCC"/>
            </a:solidFill>
            <a:prstDash val="solid"/>
          </a:ln>
        </p:spPr>
      </p:sp>
      <p:sp>
        <p:nvSpPr>
          <p:cNvPr id="6" name="Shape 4"/>
          <p:cNvSpPr/>
          <p:nvPr/>
        </p:nvSpPr>
        <p:spPr>
          <a:xfrm>
            <a:off x="411480" y="822960"/>
            <a:ext cx="54864" cy="658368"/>
          </a:xfrm>
          <a:prstGeom prst="rect">
            <a:avLst/>
          </a:prstGeom>
          <a:solidFill>
            <a:srgbClr val="DD7E6B"/>
          </a:solidFill>
          <a:ln/>
        </p:spPr>
      </p:sp>
      <p:sp>
        <p:nvSpPr>
          <p:cNvPr id="7" name="Shape 5"/>
          <p:cNvSpPr/>
          <p:nvPr/>
        </p:nvSpPr>
        <p:spPr>
          <a:xfrm>
            <a:off x="521208" y="932688"/>
            <a:ext cx="438912" cy="438912"/>
          </a:xfrm>
          <a:prstGeom prst="ellipse">
            <a:avLst/>
          </a:prstGeom>
          <a:solidFill>
            <a:srgbClr val="DD7E6B"/>
          </a:solidFill>
          <a:ln/>
        </p:spPr>
      </p:sp>
      <p:sp>
        <p:nvSpPr>
          <p:cNvPr id="8" name="Text 6"/>
          <p:cNvSpPr/>
          <p:nvPr/>
        </p:nvSpPr>
        <p:spPr>
          <a:xfrm>
            <a:off x="521208" y="932688"/>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69848" y="950976"/>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事業コンセプト（なぜ今・なぜサキュレか）</a:t>
            </a:r>
            <a:endParaRPr lang="en-US" sz="1100" dirty="0"/>
          </a:p>
        </p:txBody>
      </p:sp>
      <p:sp>
        <p:nvSpPr>
          <p:cNvPr id="10" name="Shape 8"/>
          <p:cNvSpPr/>
          <p:nvPr/>
        </p:nvSpPr>
        <p:spPr>
          <a:xfrm>
            <a:off x="411480" y="1627632"/>
            <a:ext cx="4251960" cy="658368"/>
          </a:xfrm>
          <a:prstGeom prst="rect">
            <a:avLst/>
          </a:prstGeom>
          <a:solidFill>
            <a:srgbClr val="FFFFFF"/>
          </a:solidFill>
          <a:ln w="9525">
            <a:solidFill>
              <a:srgbClr val="CCCCCC"/>
            </a:solidFill>
            <a:prstDash val="solid"/>
          </a:ln>
        </p:spPr>
      </p:sp>
      <p:sp>
        <p:nvSpPr>
          <p:cNvPr id="11" name="Shape 9"/>
          <p:cNvSpPr/>
          <p:nvPr/>
        </p:nvSpPr>
        <p:spPr>
          <a:xfrm>
            <a:off x="411480" y="1627632"/>
            <a:ext cx="54864" cy="658368"/>
          </a:xfrm>
          <a:prstGeom prst="rect">
            <a:avLst/>
          </a:prstGeom>
          <a:solidFill>
            <a:srgbClr val="DD7E6B"/>
          </a:solidFill>
          <a:ln/>
        </p:spPr>
      </p:sp>
      <p:sp>
        <p:nvSpPr>
          <p:cNvPr id="12" name="Shape 10"/>
          <p:cNvSpPr/>
          <p:nvPr/>
        </p:nvSpPr>
        <p:spPr>
          <a:xfrm>
            <a:off x="521208" y="1737360"/>
            <a:ext cx="438912" cy="438912"/>
          </a:xfrm>
          <a:prstGeom prst="ellipse">
            <a:avLst/>
          </a:prstGeom>
          <a:solidFill>
            <a:srgbClr val="DD7E6B"/>
          </a:solidFill>
          <a:ln/>
        </p:spPr>
      </p:sp>
      <p:sp>
        <p:nvSpPr>
          <p:cNvPr id="13" name="Text 11"/>
          <p:cNvSpPr/>
          <p:nvPr/>
        </p:nvSpPr>
        <p:spPr>
          <a:xfrm>
            <a:off x="521208" y="173736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069848" y="1755648"/>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事業①　廃棄物量データビジネス</a:t>
            </a:r>
            <a:endParaRPr lang="en-US" sz="1100" dirty="0"/>
          </a:p>
        </p:txBody>
      </p:sp>
      <p:sp>
        <p:nvSpPr>
          <p:cNvPr id="15" name="Shape 13"/>
          <p:cNvSpPr/>
          <p:nvPr/>
        </p:nvSpPr>
        <p:spPr>
          <a:xfrm>
            <a:off x="411480" y="2432304"/>
            <a:ext cx="4251960" cy="658368"/>
          </a:xfrm>
          <a:prstGeom prst="rect">
            <a:avLst/>
          </a:prstGeom>
          <a:solidFill>
            <a:srgbClr val="FFFFFF"/>
          </a:solidFill>
          <a:ln w="9525">
            <a:solidFill>
              <a:srgbClr val="CCCCCC"/>
            </a:solidFill>
            <a:prstDash val="solid"/>
          </a:ln>
        </p:spPr>
      </p:sp>
      <p:sp>
        <p:nvSpPr>
          <p:cNvPr id="16" name="Shape 14"/>
          <p:cNvSpPr/>
          <p:nvPr/>
        </p:nvSpPr>
        <p:spPr>
          <a:xfrm>
            <a:off x="411480" y="2432304"/>
            <a:ext cx="54864" cy="658368"/>
          </a:xfrm>
          <a:prstGeom prst="rect">
            <a:avLst/>
          </a:prstGeom>
          <a:solidFill>
            <a:srgbClr val="DD7E6B"/>
          </a:solidFill>
          <a:ln/>
        </p:spPr>
      </p:sp>
      <p:sp>
        <p:nvSpPr>
          <p:cNvPr id="17" name="Shape 15"/>
          <p:cNvSpPr/>
          <p:nvPr/>
        </p:nvSpPr>
        <p:spPr>
          <a:xfrm>
            <a:off x="521208" y="2542032"/>
            <a:ext cx="438912" cy="438912"/>
          </a:xfrm>
          <a:prstGeom prst="ellipse">
            <a:avLst/>
          </a:prstGeom>
          <a:solidFill>
            <a:srgbClr val="DD7E6B"/>
          </a:solidFill>
          <a:ln/>
        </p:spPr>
      </p:sp>
      <p:sp>
        <p:nvSpPr>
          <p:cNvPr id="18" name="Text 16"/>
          <p:cNvSpPr/>
          <p:nvPr/>
        </p:nvSpPr>
        <p:spPr>
          <a:xfrm>
            <a:off x="521208" y="254203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069848" y="2560320"/>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事業②　トラック走行・都市センシングデータ</a:t>
            </a:r>
            <a:endParaRPr lang="en-US" sz="1100" dirty="0"/>
          </a:p>
        </p:txBody>
      </p:sp>
      <p:sp>
        <p:nvSpPr>
          <p:cNvPr id="20" name="Shape 18"/>
          <p:cNvSpPr/>
          <p:nvPr/>
        </p:nvSpPr>
        <p:spPr>
          <a:xfrm>
            <a:off x="411480" y="3236976"/>
            <a:ext cx="4251960" cy="658368"/>
          </a:xfrm>
          <a:prstGeom prst="rect">
            <a:avLst/>
          </a:prstGeom>
          <a:solidFill>
            <a:srgbClr val="FFFFFF"/>
          </a:solidFill>
          <a:ln w="9525">
            <a:solidFill>
              <a:srgbClr val="CCCCCC"/>
            </a:solidFill>
            <a:prstDash val="solid"/>
          </a:ln>
        </p:spPr>
      </p:sp>
      <p:sp>
        <p:nvSpPr>
          <p:cNvPr id="21" name="Shape 19"/>
          <p:cNvSpPr/>
          <p:nvPr/>
        </p:nvSpPr>
        <p:spPr>
          <a:xfrm>
            <a:off x="411480" y="3236976"/>
            <a:ext cx="54864" cy="658368"/>
          </a:xfrm>
          <a:prstGeom prst="rect">
            <a:avLst/>
          </a:prstGeom>
          <a:solidFill>
            <a:srgbClr val="DD7E6B"/>
          </a:solidFill>
          <a:ln/>
        </p:spPr>
      </p:sp>
      <p:sp>
        <p:nvSpPr>
          <p:cNvPr id="22" name="Shape 20"/>
          <p:cNvSpPr/>
          <p:nvPr/>
        </p:nvSpPr>
        <p:spPr>
          <a:xfrm>
            <a:off x="521208" y="3346704"/>
            <a:ext cx="438912" cy="438912"/>
          </a:xfrm>
          <a:prstGeom prst="ellipse">
            <a:avLst/>
          </a:prstGeom>
          <a:solidFill>
            <a:srgbClr val="DD7E6B"/>
          </a:solidFill>
          <a:ln/>
        </p:spPr>
      </p:sp>
      <p:sp>
        <p:nvSpPr>
          <p:cNvPr id="23" name="Text 21"/>
          <p:cNvSpPr/>
          <p:nvPr/>
        </p:nvSpPr>
        <p:spPr>
          <a:xfrm>
            <a:off x="521208" y="334670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069848" y="3364992"/>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競合優位性・参入障壁</a:t>
            </a:r>
            <a:endParaRPr lang="en-US" sz="1100" dirty="0"/>
          </a:p>
        </p:txBody>
      </p:sp>
      <p:sp>
        <p:nvSpPr>
          <p:cNvPr id="25" name="Shape 23"/>
          <p:cNvSpPr/>
          <p:nvPr/>
        </p:nvSpPr>
        <p:spPr>
          <a:xfrm>
            <a:off x="411480" y="4041648"/>
            <a:ext cx="4251960" cy="658368"/>
          </a:xfrm>
          <a:prstGeom prst="rect">
            <a:avLst/>
          </a:prstGeom>
          <a:solidFill>
            <a:srgbClr val="FFFFFF"/>
          </a:solidFill>
          <a:ln w="9525">
            <a:solidFill>
              <a:srgbClr val="CCCCCC"/>
            </a:solidFill>
            <a:prstDash val="solid"/>
          </a:ln>
        </p:spPr>
      </p:sp>
      <p:sp>
        <p:nvSpPr>
          <p:cNvPr id="26" name="Shape 24"/>
          <p:cNvSpPr/>
          <p:nvPr/>
        </p:nvSpPr>
        <p:spPr>
          <a:xfrm>
            <a:off x="411480" y="4041648"/>
            <a:ext cx="54864" cy="658368"/>
          </a:xfrm>
          <a:prstGeom prst="rect">
            <a:avLst/>
          </a:prstGeom>
          <a:solidFill>
            <a:srgbClr val="DD7E6B"/>
          </a:solidFill>
          <a:ln/>
        </p:spPr>
      </p:sp>
      <p:sp>
        <p:nvSpPr>
          <p:cNvPr id="27" name="Shape 25"/>
          <p:cNvSpPr/>
          <p:nvPr/>
        </p:nvSpPr>
        <p:spPr>
          <a:xfrm>
            <a:off x="521208" y="4151376"/>
            <a:ext cx="438912" cy="438912"/>
          </a:xfrm>
          <a:prstGeom prst="ellipse">
            <a:avLst/>
          </a:prstGeom>
          <a:solidFill>
            <a:srgbClr val="DD7E6B"/>
          </a:solidFill>
          <a:ln/>
        </p:spPr>
      </p:sp>
      <p:sp>
        <p:nvSpPr>
          <p:cNvPr id="28" name="Text 26"/>
          <p:cNvSpPr/>
          <p:nvPr/>
        </p:nvSpPr>
        <p:spPr>
          <a:xfrm>
            <a:off x="521208" y="415137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069848" y="4169664"/>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収益モデル・料金設計</a:t>
            </a:r>
            <a:endParaRPr lang="en-US" sz="1100" dirty="0"/>
          </a:p>
        </p:txBody>
      </p:sp>
      <p:sp>
        <p:nvSpPr>
          <p:cNvPr id="30" name="Shape 28"/>
          <p:cNvSpPr/>
          <p:nvPr/>
        </p:nvSpPr>
        <p:spPr>
          <a:xfrm>
            <a:off x="4892040" y="822960"/>
            <a:ext cx="4251960" cy="658368"/>
          </a:xfrm>
          <a:prstGeom prst="rect">
            <a:avLst/>
          </a:prstGeom>
          <a:solidFill>
            <a:srgbClr val="FFFFFF"/>
          </a:solidFill>
          <a:ln w="9525">
            <a:solidFill>
              <a:srgbClr val="CCCCCC"/>
            </a:solidFill>
            <a:prstDash val="solid"/>
          </a:ln>
        </p:spPr>
      </p:sp>
      <p:sp>
        <p:nvSpPr>
          <p:cNvPr id="31" name="Shape 29"/>
          <p:cNvSpPr/>
          <p:nvPr/>
        </p:nvSpPr>
        <p:spPr>
          <a:xfrm>
            <a:off x="4892040" y="822960"/>
            <a:ext cx="54864" cy="658368"/>
          </a:xfrm>
          <a:prstGeom prst="rect">
            <a:avLst/>
          </a:prstGeom>
          <a:solidFill>
            <a:srgbClr val="DD7E6B"/>
          </a:solidFill>
          <a:ln/>
        </p:spPr>
      </p:sp>
      <p:sp>
        <p:nvSpPr>
          <p:cNvPr id="32" name="Shape 30"/>
          <p:cNvSpPr/>
          <p:nvPr/>
        </p:nvSpPr>
        <p:spPr>
          <a:xfrm>
            <a:off x="5001768" y="932688"/>
            <a:ext cx="438912" cy="438912"/>
          </a:xfrm>
          <a:prstGeom prst="ellipse">
            <a:avLst/>
          </a:prstGeom>
          <a:solidFill>
            <a:srgbClr val="DD7E6B"/>
          </a:solidFill>
          <a:ln/>
        </p:spPr>
      </p:sp>
      <p:sp>
        <p:nvSpPr>
          <p:cNvPr id="33" name="Text 31"/>
          <p:cNvSpPr/>
          <p:nvPr/>
        </p:nvSpPr>
        <p:spPr>
          <a:xfrm>
            <a:off x="5001768" y="932688"/>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5550408" y="950976"/>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KGI / KPI・マイルストーン</a:t>
            </a:r>
            <a:endParaRPr lang="en-US" sz="1100" dirty="0"/>
          </a:p>
        </p:txBody>
      </p:sp>
      <p:sp>
        <p:nvSpPr>
          <p:cNvPr id="35" name="Shape 33"/>
          <p:cNvSpPr/>
          <p:nvPr/>
        </p:nvSpPr>
        <p:spPr>
          <a:xfrm>
            <a:off x="4892040" y="1627632"/>
            <a:ext cx="4251960" cy="658368"/>
          </a:xfrm>
          <a:prstGeom prst="rect">
            <a:avLst/>
          </a:prstGeom>
          <a:solidFill>
            <a:srgbClr val="FFFFFF"/>
          </a:solidFill>
          <a:ln w="9525">
            <a:solidFill>
              <a:srgbClr val="CCCCCC"/>
            </a:solidFill>
            <a:prstDash val="solid"/>
          </a:ln>
        </p:spPr>
      </p:sp>
      <p:sp>
        <p:nvSpPr>
          <p:cNvPr id="36" name="Shape 34"/>
          <p:cNvSpPr/>
          <p:nvPr/>
        </p:nvSpPr>
        <p:spPr>
          <a:xfrm>
            <a:off x="4892040" y="1627632"/>
            <a:ext cx="54864" cy="658368"/>
          </a:xfrm>
          <a:prstGeom prst="rect">
            <a:avLst/>
          </a:prstGeom>
          <a:solidFill>
            <a:srgbClr val="DD7E6B"/>
          </a:solidFill>
          <a:ln/>
        </p:spPr>
      </p:sp>
      <p:sp>
        <p:nvSpPr>
          <p:cNvPr id="37" name="Shape 35"/>
          <p:cNvSpPr/>
          <p:nvPr/>
        </p:nvSpPr>
        <p:spPr>
          <a:xfrm>
            <a:off x="5001768" y="1737360"/>
            <a:ext cx="438912" cy="438912"/>
          </a:xfrm>
          <a:prstGeom prst="ellipse">
            <a:avLst/>
          </a:prstGeom>
          <a:solidFill>
            <a:srgbClr val="DD7E6B"/>
          </a:solidFill>
          <a:ln/>
        </p:spPr>
      </p:sp>
      <p:sp>
        <p:nvSpPr>
          <p:cNvPr id="38" name="Text 36"/>
          <p:cNvSpPr/>
          <p:nvPr/>
        </p:nvSpPr>
        <p:spPr>
          <a:xfrm>
            <a:off x="5001768" y="173736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9" name="Text 37"/>
          <p:cNvSpPr/>
          <p:nvPr/>
        </p:nvSpPr>
        <p:spPr>
          <a:xfrm>
            <a:off x="5550408" y="1755648"/>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ロードマップ（3フェーズ）</a:t>
            </a:r>
            <a:endParaRPr lang="en-US" sz="1100" dirty="0"/>
          </a:p>
        </p:txBody>
      </p:sp>
      <p:sp>
        <p:nvSpPr>
          <p:cNvPr id="40" name="Shape 38"/>
          <p:cNvSpPr/>
          <p:nvPr/>
        </p:nvSpPr>
        <p:spPr>
          <a:xfrm>
            <a:off x="4892040" y="2432304"/>
            <a:ext cx="4251960" cy="658368"/>
          </a:xfrm>
          <a:prstGeom prst="rect">
            <a:avLst/>
          </a:prstGeom>
          <a:solidFill>
            <a:srgbClr val="FFFFFF"/>
          </a:solidFill>
          <a:ln w="9525">
            <a:solidFill>
              <a:srgbClr val="CCCCCC"/>
            </a:solidFill>
            <a:prstDash val="solid"/>
          </a:ln>
        </p:spPr>
      </p:sp>
      <p:sp>
        <p:nvSpPr>
          <p:cNvPr id="41" name="Shape 39"/>
          <p:cNvSpPr/>
          <p:nvPr/>
        </p:nvSpPr>
        <p:spPr>
          <a:xfrm>
            <a:off x="4892040" y="2432304"/>
            <a:ext cx="54864" cy="658368"/>
          </a:xfrm>
          <a:prstGeom prst="rect">
            <a:avLst/>
          </a:prstGeom>
          <a:solidFill>
            <a:srgbClr val="DD7E6B"/>
          </a:solidFill>
          <a:ln/>
        </p:spPr>
      </p:sp>
      <p:sp>
        <p:nvSpPr>
          <p:cNvPr id="42" name="Shape 40"/>
          <p:cNvSpPr/>
          <p:nvPr/>
        </p:nvSpPr>
        <p:spPr>
          <a:xfrm>
            <a:off x="5001768" y="2542032"/>
            <a:ext cx="438912" cy="438912"/>
          </a:xfrm>
          <a:prstGeom prst="ellipse">
            <a:avLst/>
          </a:prstGeom>
          <a:solidFill>
            <a:srgbClr val="DD7E6B"/>
          </a:solidFill>
          <a:ln/>
        </p:spPr>
      </p:sp>
      <p:sp>
        <p:nvSpPr>
          <p:cNvPr id="43" name="Text 41"/>
          <p:cNvSpPr/>
          <p:nvPr/>
        </p:nvSpPr>
        <p:spPr>
          <a:xfrm>
            <a:off x="5001768" y="254203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4" name="Text 42"/>
          <p:cNvSpPr/>
          <p:nvPr/>
        </p:nvSpPr>
        <p:spPr>
          <a:xfrm>
            <a:off x="5550408" y="2560320"/>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財務シミュレーション（3カ年）</a:t>
            </a:r>
            <a:endParaRPr lang="en-US" sz="1100" dirty="0"/>
          </a:p>
        </p:txBody>
      </p:sp>
      <p:sp>
        <p:nvSpPr>
          <p:cNvPr id="45" name="Shape 43"/>
          <p:cNvSpPr/>
          <p:nvPr/>
        </p:nvSpPr>
        <p:spPr>
          <a:xfrm>
            <a:off x="4892040" y="3236976"/>
            <a:ext cx="4251960" cy="658368"/>
          </a:xfrm>
          <a:prstGeom prst="rect">
            <a:avLst/>
          </a:prstGeom>
          <a:solidFill>
            <a:srgbClr val="FFFFFF"/>
          </a:solidFill>
          <a:ln w="9525">
            <a:solidFill>
              <a:srgbClr val="CCCCCC"/>
            </a:solidFill>
            <a:prstDash val="solid"/>
          </a:ln>
        </p:spPr>
      </p:sp>
      <p:sp>
        <p:nvSpPr>
          <p:cNvPr id="46" name="Shape 44"/>
          <p:cNvSpPr/>
          <p:nvPr/>
        </p:nvSpPr>
        <p:spPr>
          <a:xfrm>
            <a:off x="4892040" y="3236976"/>
            <a:ext cx="54864" cy="658368"/>
          </a:xfrm>
          <a:prstGeom prst="rect">
            <a:avLst/>
          </a:prstGeom>
          <a:solidFill>
            <a:srgbClr val="DD7E6B"/>
          </a:solidFill>
          <a:ln/>
        </p:spPr>
      </p:sp>
      <p:sp>
        <p:nvSpPr>
          <p:cNvPr id="47" name="Shape 45"/>
          <p:cNvSpPr/>
          <p:nvPr/>
        </p:nvSpPr>
        <p:spPr>
          <a:xfrm>
            <a:off x="5001768" y="3346704"/>
            <a:ext cx="438912" cy="438912"/>
          </a:xfrm>
          <a:prstGeom prst="ellipse">
            <a:avLst/>
          </a:prstGeom>
          <a:solidFill>
            <a:srgbClr val="DD7E6B"/>
          </a:solidFill>
          <a:ln/>
        </p:spPr>
      </p:sp>
      <p:sp>
        <p:nvSpPr>
          <p:cNvPr id="48" name="Text 46"/>
          <p:cNvSpPr/>
          <p:nvPr/>
        </p:nvSpPr>
        <p:spPr>
          <a:xfrm>
            <a:off x="5001768" y="334670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9" name="Text 47"/>
          <p:cNvSpPr/>
          <p:nvPr/>
        </p:nvSpPr>
        <p:spPr>
          <a:xfrm>
            <a:off x="5550408" y="3364992"/>
            <a:ext cx="3493008" cy="402336"/>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次のアクション（7〜9月）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事業コンセプト　なぜ今・なぜサキュレか</a:t>
            </a:r>
            <a:endParaRPr lang="en-US" sz="1600" dirty="0"/>
          </a:p>
        </p:txBody>
      </p:sp>
      <p:sp>
        <p:nvSpPr>
          <p:cNvPr id="7" name="Shape 5"/>
          <p:cNvSpPr/>
          <p:nvPr/>
        </p:nvSpPr>
        <p:spPr>
          <a:xfrm>
            <a:off x="365760" y="749808"/>
            <a:ext cx="8412480" cy="512064"/>
          </a:xfrm>
          <a:prstGeom prst="rect">
            <a:avLst/>
          </a:prstGeom>
          <a:solidFill>
            <a:srgbClr val="DD7E6B"/>
          </a:solidFill>
          <a:ln/>
        </p:spPr>
      </p:sp>
      <p:sp>
        <p:nvSpPr>
          <p:cNvPr id="8" name="Text 6"/>
          <p:cNvSpPr/>
          <p:nvPr/>
        </p:nvSpPr>
        <p:spPr>
          <a:xfrm>
            <a:off x="365760" y="749808"/>
            <a:ext cx="8412480" cy="51206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200台のトラックが毎日走るだけで、価値あるデータが生まれる</a:t>
            </a:r>
            <a:endParaRPr lang="en-US" sz="1400" dirty="0"/>
          </a:p>
        </p:txBody>
      </p:sp>
      <p:sp>
        <p:nvSpPr>
          <p:cNvPr id="9" name="Shape 7"/>
          <p:cNvSpPr/>
          <p:nvPr/>
        </p:nvSpPr>
        <p:spPr>
          <a:xfrm>
            <a:off x="365760" y="1371600"/>
            <a:ext cx="4041648" cy="2651760"/>
          </a:xfrm>
          <a:prstGeom prst="rect">
            <a:avLst/>
          </a:prstGeom>
          <a:solidFill>
            <a:srgbClr val="D9EAD3"/>
          </a:solidFill>
          <a:ln w="9525">
            <a:solidFill>
              <a:srgbClr val="CCCCCC"/>
            </a:solidFill>
            <a:prstDash val="solid"/>
          </a:ln>
        </p:spPr>
      </p:sp>
      <p:sp>
        <p:nvSpPr>
          <p:cNvPr id="10" name="Shape 8"/>
          <p:cNvSpPr/>
          <p:nvPr/>
        </p:nvSpPr>
        <p:spPr>
          <a:xfrm>
            <a:off x="365760" y="1371600"/>
            <a:ext cx="4041648" cy="329184"/>
          </a:xfrm>
          <a:prstGeom prst="rect">
            <a:avLst/>
          </a:prstGeom>
          <a:solidFill>
            <a:srgbClr val="156818"/>
          </a:solidFill>
          <a:ln/>
        </p:spPr>
      </p:sp>
      <p:sp>
        <p:nvSpPr>
          <p:cNvPr id="11" name="Text 9"/>
          <p:cNvSpPr/>
          <p:nvPr/>
        </p:nvSpPr>
        <p:spPr>
          <a:xfrm>
            <a:off x="365760" y="1371600"/>
            <a:ext cx="4041648"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事業①　廃棄物量データ</a:t>
            </a:r>
            <a:endParaRPr lang="en-US" sz="1200" dirty="0"/>
          </a:p>
        </p:txBody>
      </p:sp>
      <p:sp>
        <p:nvSpPr>
          <p:cNvPr id="12" name="Shape 10"/>
          <p:cNvSpPr/>
          <p:nvPr/>
        </p:nvSpPr>
        <p:spPr>
          <a:xfrm>
            <a:off x="548640" y="1837944"/>
            <a:ext cx="118872" cy="118872"/>
          </a:xfrm>
          <a:prstGeom prst="ellipse">
            <a:avLst/>
          </a:prstGeom>
          <a:solidFill>
            <a:srgbClr val="156818"/>
          </a:solidFill>
          <a:ln/>
        </p:spPr>
      </p:sp>
      <p:sp>
        <p:nvSpPr>
          <p:cNvPr id="13" name="Text 11"/>
          <p:cNvSpPr/>
          <p:nvPr/>
        </p:nvSpPr>
        <p:spPr>
          <a:xfrm>
            <a:off x="749808" y="1792224"/>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回収先250施設の廃棄物量を毎月記録・蓄積</a:t>
            </a:r>
            <a:endParaRPr lang="en-US" sz="1150" dirty="0"/>
          </a:p>
        </p:txBody>
      </p:sp>
      <p:sp>
        <p:nvSpPr>
          <p:cNvPr id="14" name="Shape 12"/>
          <p:cNvSpPr/>
          <p:nvPr/>
        </p:nvSpPr>
        <p:spPr>
          <a:xfrm>
            <a:off x="548640" y="2350008"/>
            <a:ext cx="118872" cy="118872"/>
          </a:xfrm>
          <a:prstGeom prst="ellipse">
            <a:avLst/>
          </a:prstGeom>
          <a:solidFill>
            <a:srgbClr val="156818"/>
          </a:solidFill>
          <a:ln/>
        </p:spPr>
      </p:sp>
      <p:sp>
        <p:nvSpPr>
          <p:cNvPr id="15" name="Text 13"/>
          <p:cNvSpPr/>
          <p:nvPr/>
        </p:nvSpPr>
        <p:spPr>
          <a:xfrm>
            <a:off x="749808" y="2304288"/>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施設の稼働状況・消費トレンドの代替指標</a:t>
            </a:r>
            <a:endParaRPr lang="en-US" sz="1150" dirty="0"/>
          </a:p>
        </p:txBody>
      </p:sp>
      <p:sp>
        <p:nvSpPr>
          <p:cNvPr id="16" name="Shape 14"/>
          <p:cNvSpPr/>
          <p:nvPr/>
        </p:nvSpPr>
        <p:spPr>
          <a:xfrm>
            <a:off x="548640" y="2862072"/>
            <a:ext cx="118872" cy="118872"/>
          </a:xfrm>
          <a:prstGeom prst="ellipse">
            <a:avLst/>
          </a:prstGeom>
          <a:solidFill>
            <a:srgbClr val="156818"/>
          </a:solidFill>
          <a:ln/>
        </p:spPr>
      </p:sp>
      <p:sp>
        <p:nvSpPr>
          <p:cNvPr id="17" name="Text 15"/>
          <p:cNvSpPr/>
          <p:nvPr/>
        </p:nvSpPr>
        <p:spPr>
          <a:xfrm>
            <a:off x="749808" y="2816352"/>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ヘッジファンド／調査会社／ESG部門が需要</a:t>
            </a:r>
            <a:endParaRPr lang="en-US" sz="1150" dirty="0"/>
          </a:p>
        </p:txBody>
      </p:sp>
      <p:sp>
        <p:nvSpPr>
          <p:cNvPr id="18" name="Shape 16"/>
          <p:cNvSpPr/>
          <p:nvPr/>
        </p:nvSpPr>
        <p:spPr>
          <a:xfrm>
            <a:off x="548640" y="3374136"/>
            <a:ext cx="118872" cy="118872"/>
          </a:xfrm>
          <a:prstGeom prst="ellipse">
            <a:avLst/>
          </a:prstGeom>
          <a:solidFill>
            <a:srgbClr val="156818"/>
          </a:solidFill>
          <a:ln/>
        </p:spPr>
      </p:sp>
      <p:sp>
        <p:nvSpPr>
          <p:cNvPr id="19" name="Text 17"/>
          <p:cNvSpPr/>
          <p:nvPr/>
        </p:nvSpPr>
        <p:spPr>
          <a:xfrm>
            <a:off x="749808" y="3328416"/>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ラクハイで蓄積済み → 追加コストほぼゼロ</a:t>
            </a:r>
            <a:endParaRPr lang="en-US" sz="1150" dirty="0"/>
          </a:p>
        </p:txBody>
      </p:sp>
      <p:sp>
        <p:nvSpPr>
          <p:cNvPr id="20" name="Shape 18"/>
          <p:cNvSpPr/>
          <p:nvPr/>
        </p:nvSpPr>
        <p:spPr>
          <a:xfrm>
            <a:off x="4736592" y="1371600"/>
            <a:ext cx="4041648" cy="2651760"/>
          </a:xfrm>
          <a:prstGeom prst="rect">
            <a:avLst/>
          </a:prstGeom>
          <a:solidFill>
            <a:srgbClr val="D0EFEF"/>
          </a:solidFill>
          <a:ln w="9525">
            <a:solidFill>
              <a:srgbClr val="CCCCCC"/>
            </a:solidFill>
            <a:prstDash val="solid"/>
          </a:ln>
        </p:spPr>
      </p:sp>
      <p:sp>
        <p:nvSpPr>
          <p:cNvPr id="21" name="Shape 19"/>
          <p:cNvSpPr/>
          <p:nvPr/>
        </p:nvSpPr>
        <p:spPr>
          <a:xfrm>
            <a:off x="4736592" y="1371600"/>
            <a:ext cx="4041648" cy="329184"/>
          </a:xfrm>
          <a:prstGeom prst="rect">
            <a:avLst/>
          </a:prstGeom>
          <a:solidFill>
            <a:srgbClr val="0D7480"/>
          </a:solidFill>
          <a:ln/>
        </p:spPr>
      </p:sp>
      <p:sp>
        <p:nvSpPr>
          <p:cNvPr id="22" name="Text 20"/>
          <p:cNvSpPr/>
          <p:nvPr/>
        </p:nvSpPr>
        <p:spPr>
          <a:xfrm>
            <a:off x="4736592" y="1371600"/>
            <a:ext cx="4041648"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事業②　走行センサーデータ</a:t>
            </a:r>
            <a:endParaRPr lang="en-US" sz="1200" dirty="0"/>
          </a:p>
        </p:txBody>
      </p:sp>
      <p:sp>
        <p:nvSpPr>
          <p:cNvPr id="23" name="Shape 21"/>
          <p:cNvSpPr/>
          <p:nvPr/>
        </p:nvSpPr>
        <p:spPr>
          <a:xfrm>
            <a:off x="4919472" y="1837944"/>
            <a:ext cx="118872" cy="118872"/>
          </a:xfrm>
          <a:prstGeom prst="ellipse">
            <a:avLst/>
          </a:prstGeom>
          <a:solidFill>
            <a:srgbClr val="0D7480"/>
          </a:solidFill>
          <a:ln/>
        </p:spPr>
      </p:sp>
      <p:sp>
        <p:nvSpPr>
          <p:cNvPr id="24" name="Text 22"/>
          <p:cNvSpPr/>
          <p:nvPr/>
        </p:nvSpPr>
        <p:spPr>
          <a:xfrm>
            <a:off x="5120640" y="1792224"/>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カメラ＋エッジAIをトラックに搭載</a:t>
            </a:r>
            <a:endParaRPr lang="en-US" sz="1150" dirty="0"/>
          </a:p>
        </p:txBody>
      </p:sp>
      <p:sp>
        <p:nvSpPr>
          <p:cNvPr id="25" name="Shape 23"/>
          <p:cNvSpPr/>
          <p:nvPr/>
        </p:nvSpPr>
        <p:spPr>
          <a:xfrm>
            <a:off x="4919472" y="2350008"/>
            <a:ext cx="118872" cy="118872"/>
          </a:xfrm>
          <a:prstGeom prst="ellipse">
            <a:avLst/>
          </a:prstGeom>
          <a:solidFill>
            <a:srgbClr val="0D7480"/>
          </a:solidFill>
          <a:ln/>
        </p:spPr>
      </p:sp>
      <p:sp>
        <p:nvSpPr>
          <p:cNvPr id="26" name="Text 24"/>
          <p:cNvSpPr/>
          <p:nvPr/>
        </p:nvSpPr>
        <p:spPr>
          <a:xfrm>
            <a:off x="5120640" y="2304288"/>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街路樹の損傷・落下物・道路損傷を自動検知</a:t>
            </a:r>
            <a:endParaRPr lang="en-US" sz="1150" dirty="0"/>
          </a:p>
        </p:txBody>
      </p:sp>
      <p:sp>
        <p:nvSpPr>
          <p:cNvPr id="27" name="Shape 25"/>
          <p:cNvSpPr/>
          <p:nvPr/>
        </p:nvSpPr>
        <p:spPr>
          <a:xfrm>
            <a:off x="4919472" y="2862072"/>
            <a:ext cx="118872" cy="118872"/>
          </a:xfrm>
          <a:prstGeom prst="ellipse">
            <a:avLst/>
          </a:prstGeom>
          <a:solidFill>
            <a:srgbClr val="0D7480"/>
          </a:solidFill>
          <a:ln/>
        </p:spPr>
      </p:sp>
      <p:sp>
        <p:nvSpPr>
          <p:cNvPr id="28" name="Text 26"/>
          <p:cNvSpPr/>
          <p:nvPr/>
        </p:nvSpPr>
        <p:spPr>
          <a:xfrm>
            <a:off x="5120640" y="2816352"/>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自治体・インフラ管理会社・保険会社が需要</a:t>
            </a:r>
            <a:endParaRPr lang="en-US" sz="1150" dirty="0"/>
          </a:p>
        </p:txBody>
      </p:sp>
      <p:sp>
        <p:nvSpPr>
          <p:cNvPr id="29" name="Shape 27"/>
          <p:cNvSpPr/>
          <p:nvPr/>
        </p:nvSpPr>
        <p:spPr>
          <a:xfrm>
            <a:off x="4919472" y="3374136"/>
            <a:ext cx="118872" cy="118872"/>
          </a:xfrm>
          <a:prstGeom prst="ellipse">
            <a:avLst/>
          </a:prstGeom>
          <a:solidFill>
            <a:srgbClr val="0D7480"/>
          </a:solidFill>
          <a:ln/>
        </p:spPr>
      </p:sp>
      <p:sp>
        <p:nvSpPr>
          <p:cNvPr id="30" name="Text 28"/>
          <p:cNvSpPr/>
          <p:nvPr/>
        </p:nvSpPr>
        <p:spPr>
          <a:xfrm>
            <a:off x="5120640" y="3328416"/>
            <a:ext cx="3547872" cy="457200"/>
          </a:xfrm>
          <a:prstGeom prst="rect">
            <a:avLst/>
          </a:prstGeom>
          <a:noFill/>
          <a:ln/>
        </p:spPr>
        <p:txBody>
          <a:bodyPr wrap="square" rtlCol="0" anchor="ctr"/>
          <a:lstStyle/>
          <a:p>
            <a:pPr indent="0" marL="0">
              <a:lnSpc>
                <a:spcPct val="130000"/>
              </a:lnSpc>
              <a:buNone/>
            </a:pPr>
            <a:r>
              <a:rPr lang="en-US" sz="1150" dirty="0">
                <a:solidFill>
                  <a:srgbClr val="333333"/>
                </a:solidFill>
                <a:latin typeface="Calibri" pitchFamily="34" charset="0"/>
                <a:ea typeface="Calibri" pitchFamily="34" charset="-122"/>
                <a:cs typeface="Calibri" pitchFamily="34" charset="-120"/>
              </a:rPr>
              <a:t>走行中に自動収集 → 現場調査コストが不要</a:t>
            </a:r>
            <a:endParaRPr lang="en-US" sz="1150" dirty="0"/>
          </a:p>
        </p:txBody>
      </p:sp>
      <p:sp>
        <p:nvSpPr>
          <p:cNvPr id="31" name="Shape 29"/>
          <p:cNvSpPr/>
          <p:nvPr/>
        </p:nvSpPr>
        <p:spPr>
          <a:xfrm>
            <a:off x="365760" y="4160520"/>
            <a:ext cx="8412480" cy="749808"/>
          </a:xfrm>
          <a:prstGeom prst="rect">
            <a:avLst/>
          </a:prstGeom>
          <a:solidFill>
            <a:srgbClr val="F3F3F3"/>
          </a:solidFill>
          <a:ln w="9525">
            <a:solidFill>
              <a:srgbClr val="CCCCCC"/>
            </a:solidFill>
            <a:prstDash val="solid"/>
          </a:ln>
        </p:spPr>
      </p:sp>
      <p:sp>
        <p:nvSpPr>
          <p:cNvPr id="32" name="Shape 30"/>
          <p:cNvSpPr/>
          <p:nvPr/>
        </p:nvSpPr>
        <p:spPr>
          <a:xfrm>
            <a:off x="365760" y="4160520"/>
            <a:ext cx="54864" cy="749808"/>
          </a:xfrm>
          <a:prstGeom prst="rect">
            <a:avLst/>
          </a:prstGeom>
          <a:solidFill>
            <a:srgbClr val="DD7E6B"/>
          </a:solidFill>
          <a:ln/>
        </p:spPr>
      </p:sp>
      <p:sp>
        <p:nvSpPr>
          <p:cNvPr id="33" name="Text 31"/>
          <p:cNvSpPr/>
          <p:nvPr/>
        </p:nvSpPr>
        <p:spPr>
          <a:xfrm>
            <a:off x="512064" y="4187952"/>
            <a:ext cx="8138160" cy="694944"/>
          </a:xfrm>
          <a:prstGeom prst="rect">
            <a:avLst/>
          </a:prstGeom>
          <a:noFill/>
          <a:ln/>
        </p:spPr>
        <p:txBody>
          <a:bodyPr wrap="square" rtlCol="0" anchor="ctr"/>
          <a:lstStyle/>
          <a:p>
            <a:pPr indent="0" marL="0">
              <a:lnSpc>
                <a:spcPct val="150000"/>
              </a:lnSpc>
              <a:buNone/>
            </a:pPr>
            <a:r>
              <a:rPr lang="en-US" sz="1150" b="1" dirty="0">
                <a:solidFill>
                  <a:srgbClr val="333333"/>
                </a:solidFill>
                <a:latin typeface="Calibri" pitchFamily="34" charset="0"/>
                <a:ea typeface="Calibri" pitchFamily="34" charset="-122"/>
                <a:cs typeface="Calibri" pitchFamily="34" charset="-120"/>
              </a:rPr>
              <a:t>廃棄物収集は「許可が必要な参入障壁の高い事業」。</a:t>
            </a:r>
            <a:endParaRPr lang="en-US" sz="1150" dirty="0"/>
          </a:p>
          <a:p>
            <a:pPr indent="0" marL="0">
              <a:lnSpc>
                <a:spcPct val="150000"/>
              </a:lnSpc>
              <a:buNone/>
            </a:pPr>
            <a:r>
              <a:rPr lang="en-US" sz="1150" b="1" dirty="0">
                <a:solidFill>
                  <a:srgbClr val="333333"/>
                </a:solidFill>
                <a:latin typeface="Calibri" pitchFamily="34" charset="0"/>
                <a:ea typeface="Calibri" pitchFamily="34" charset="-122"/>
                <a:cs typeface="Calibri" pitchFamily="34" charset="-120"/>
              </a:rPr>
              <a:t>競合他社には施設立入権限・収集許可・行政との信頼関係がない。</a:t>
            </a:r>
            <a:endParaRPr lang="en-US" sz="1150" dirty="0"/>
          </a:p>
          <a:p>
            <a:pPr indent="0" marL="0">
              <a:lnSpc>
                <a:spcPct val="150000"/>
              </a:lnSpc>
              <a:buNone/>
            </a:pPr>
            <a:r>
              <a:rPr lang="en-US" sz="1150" b="1" dirty="0">
                <a:solidFill>
                  <a:srgbClr val="333333"/>
                </a:solidFill>
                <a:latin typeface="Calibri" pitchFamily="34" charset="0"/>
                <a:ea typeface="Calibri" pitchFamily="34" charset="-122"/>
                <a:cs typeface="Calibri" pitchFamily="34" charset="-120"/>
              </a:rPr>
              <a:t>このデータは、サキュレにしか集められない。</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2</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事業①　廃棄物量データビジネス</a:t>
            </a:r>
            <a:endParaRPr lang="en-US" sz="1600" dirty="0"/>
          </a:p>
        </p:txBody>
      </p:sp>
      <p:sp>
        <p:nvSpPr>
          <p:cNvPr id="7" name="Shape 5"/>
          <p:cNvSpPr/>
          <p:nvPr/>
        </p:nvSpPr>
        <p:spPr>
          <a:xfrm>
            <a:off x="365760" y="749808"/>
            <a:ext cx="4041648" cy="1078992"/>
          </a:xfrm>
          <a:prstGeom prst="rect">
            <a:avLst/>
          </a:prstGeom>
          <a:solidFill>
            <a:srgbClr val="D9EAD3"/>
          </a:solidFill>
          <a:ln w="9525">
            <a:solidFill>
              <a:srgbClr val="CCCCCC"/>
            </a:solidFill>
            <a:prstDash val="solid"/>
          </a:ln>
        </p:spPr>
      </p:sp>
      <p:sp>
        <p:nvSpPr>
          <p:cNvPr id="8" name="Shape 6"/>
          <p:cNvSpPr/>
          <p:nvPr/>
        </p:nvSpPr>
        <p:spPr>
          <a:xfrm>
            <a:off x="365760" y="749808"/>
            <a:ext cx="4041648" cy="274320"/>
          </a:xfrm>
          <a:prstGeom prst="rect">
            <a:avLst/>
          </a:prstGeom>
          <a:solidFill>
            <a:srgbClr val="156818"/>
          </a:solidFill>
          <a:ln/>
        </p:spPr>
      </p:sp>
      <p:sp>
        <p:nvSpPr>
          <p:cNvPr id="9" name="Text 7"/>
          <p:cNvSpPr/>
          <p:nvPr/>
        </p:nvSpPr>
        <p:spPr>
          <a:xfrm>
            <a:off x="365760" y="749808"/>
            <a:ext cx="4041648"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なぜ廃棄物データに価値があるのか</a:t>
            </a:r>
            <a:endParaRPr lang="en-US" sz="900" dirty="0"/>
          </a:p>
        </p:txBody>
      </p:sp>
      <p:sp>
        <p:nvSpPr>
          <p:cNvPr id="10" name="Shape 8"/>
          <p:cNvSpPr/>
          <p:nvPr/>
        </p:nvSpPr>
        <p:spPr>
          <a:xfrm>
            <a:off x="512064" y="1133856"/>
            <a:ext cx="118872" cy="118872"/>
          </a:xfrm>
          <a:prstGeom prst="ellipse">
            <a:avLst/>
          </a:prstGeom>
          <a:solidFill>
            <a:srgbClr val="156818"/>
          </a:solidFill>
          <a:ln/>
        </p:spPr>
      </p:sp>
      <p:sp>
        <p:nvSpPr>
          <p:cNvPr id="11" name="Text 9"/>
          <p:cNvSpPr/>
          <p:nvPr/>
        </p:nvSpPr>
        <p:spPr>
          <a:xfrm>
            <a:off x="713232" y="1088136"/>
            <a:ext cx="3566160" cy="21945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廃棄物量は「見えない経済指標」として機能</a:t>
            </a:r>
            <a:endParaRPr lang="en-US" sz="1050" dirty="0"/>
          </a:p>
        </p:txBody>
      </p:sp>
      <p:sp>
        <p:nvSpPr>
          <p:cNvPr id="12" name="Shape 10"/>
          <p:cNvSpPr/>
          <p:nvPr/>
        </p:nvSpPr>
        <p:spPr>
          <a:xfrm>
            <a:off x="512064" y="1371600"/>
            <a:ext cx="118872" cy="118872"/>
          </a:xfrm>
          <a:prstGeom prst="ellipse">
            <a:avLst/>
          </a:prstGeom>
          <a:solidFill>
            <a:srgbClr val="156818"/>
          </a:solidFill>
          <a:ln/>
        </p:spPr>
      </p:sp>
      <p:sp>
        <p:nvSpPr>
          <p:cNvPr id="13" name="Text 11"/>
          <p:cNvSpPr/>
          <p:nvPr/>
        </p:nvSpPr>
        <p:spPr>
          <a:xfrm>
            <a:off x="713232" y="1325880"/>
            <a:ext cx="3566160" cy="21945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空港ゴミ量→来場者数、ホテルゴミ→稼働率など</a:t>
            </a:r>
            <a:endParaRPr lang="en-US" sz="1050" dirty="0"/>
          </a:p>
        </p:txBody>
      </p:sp>
      <p:sp>
        <p:nvSpPr>
          <p:cNvPr id="14" name="Shape 12"/>
          <p:cNvSpPr/>
          <p:nvPr/>
        </p:nvSpPr>
        <p:spPr>
          <a:xfrm>
            <a:off x="512064" y="1609344"/>
            <a:ext cx="118872" cy="118872"/>
          </a:xfrm>
          <a:prstGeom prst="ellipse">
            <a:avLst/>
          </a:prstGeom>
          <a:solidFill>
            <a:srgbClr val="156818"/>
          </a:solidFill>
          <a:ln/>
        </p:spPr>
      </p:sp>
      <p:sp>
        <p:nvSpPr>
          <p:cNvPr id="15" name="Text 13"/>
          <p:cNvSpPr/>
          <p:nvPr/>
        </p:nvSpPr>
        <p:spPr>
          <a:xfrm>
            <a:off x="713232" y="1563624"/>
            <a:ext cx="3566160" cy="21945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日本のESGデータ開示義務が2030年方向で拡大中</a:t>
            </a:r>
            <a:endParaRPr lang="en-US" sz="1050" dirty="0"/>
          </a:p>
        </p:txBody>
      </p:sp>
      <p:sp>
        <p:nvSpPr>
          <p:cNvPr id="16" name="Shape 14"/>
          <p:cNvSpPr/>
          <p:nvPr/>
        </p:nvSpPr>
        <p:spPr>
          <a:xfrm>
            <a:off x="365760" y="1920240"/>
            <a:ext cx="4041648" cy="1170432"/>
          </a:xfrm>
          <a:prstGeom prst="rect">
            <a:avLst/>
          </a:prstGeom>
          <a:solidFill>
            <a:srgbClr val="D9EAD3"/>
          </a:solidFill>
          <a:ln w="9525">
            <a:solidFill>
              <a:srgbClr val="CCCCCC"/>
            </a:solidFill>
            <a:prstDash val="solid"/>
          </a:ln>
        </p:spPr>
      </p:sp>
      <p:sp>
        <p:nvSpPr>
          <p:cNvPr id="17" name="Shape 15"/>
          <p:cNvSpPr/>
          <p:nvPr/>
        </p:nvSpPr>
        <p:spPr>
          <a:xfrm>
            <a:off x="365760" y="1920240"/>
            <a:ext cx="4041648" cy="274320"/>
          </a:xfrm>
          <a:prstGeom prst="rect">
            <a:avLst/>
          </a:prstGeom>
          <a:solidFill>
            <a:srgbClr val="115000"/>
          </a:solidFill>
          <a:ln/>
        </p:spPr>
      </p:sp>
      <p:sp>
        <p:nvSpPr>
          <p:cNvPr id="18" name="Text 16"/>
          <p:cNvSpPr/>
          <p:nvPr/>
        </p:nvSpPr>
        <p:spPr>
          <a:xfrm>
            <a:off x="365760" y="1920240"/>
            <a:ext cx="4041648"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サキュレが持つデータ</a:t>
            </a:r>
            <a:endParaRPr lang="en-US" sz="900" dirty="0"/>
          </a:p>
        </p:txBody>
      </p:sp>
      <p:sp>
        <p:nvSpPr>
          <p:cNvPr id="19" name="Shape 17"/>
          <p:cNvSpPr/>
          <p:nvPr/>
        </p:nvSpPr>
        <p:spPr>
          <a:xfrm>
            <a:off x="512064" y="2304288"/>
            <a:ext cx="118872" cy="118872"/>
          </a:xfrm>
          <a:prstGeom prst="ellipse">
            <a:avLst/>
          </a:prstGeom>
          <a:solidFill>
            <a:srgbClr val="115000"/>
          </a:solidFill>
          <a:ln/>
        </p:spPr>
      </p:sp>
      <p:sp>
        <p:nvSpPr>
          <p:cNvPr id="20" name="Text 18"/>
          <p:cNvSpPr/>
          <p:nvPr/>
        </p:nvSpPr>
        <p:spPr>
          <a:xfrm>
            <a:off x="713232" y="2258568"/>
            <a:ext cx="3566160" cy="20116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回収先250施設 × 月次収集量（品目別）</a:t>
            </a:r>
            <a:endParaRPr lang="en-US" sz="1000" dirty="0"/>
          </a:p>
        </p:txBody>
      </p:sp>
      <p:sp>
        <p:nvSpPr>
          <p:cNvPr id="21" name="Shape 19"/>
          <p:cNvSpPr/>
          <p:nvPr/>
        </p:nvSpPr>
        <p:spPr>
          <a:xfrm>
            <a:off x="512064" y="2523744"/>
            <a:ext cx="118872" cy="118872"/>
          </a:xfrm>
          <a:prstGeom prst="ellipse">
            <a:avLst/>
          </a:prstGeom>
          <a:solidFill>
            <a:srgbClr val="115000"/>
          </a:solidFill>
          <a:ln/>
        </p:spPr>
      </p:sp>
      <p:sp>
        <p:nvSpPr>
          <p:cNvPr id="22" name="Text 20"/>
          <p:cNvSpPr/>
          <p:nvPr/>
        </p:nvSpPr>
        <p:spPr>
          <a:xfrm>
            <a:off x="713232" y="2478024"/>
            <a:ext cx="3566160" cy="20116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過去累積データ（長期トレンド分析に活用可）</a:t>
            </a:r>
            <a:endParaRPr lang="en-US" sz="1000" dirty="0"/>
          </a:p>
        </p:txBody>
      </p:sp>
      <p:sp>
        <p:nvSpPr>
          <p:cNvPr id="23" name="Shape 21"/>
          <p:cNvSpPr/>
          <p:nvPr/>
        </p:nvSpPr>
        <p:spPr>
          <a:xfrm>
            <a:off x="512064" y="2743200"/>
            <a:ext cx="118872" cy="118872"/>
          </a:xfrm>
          <a:prstGeom prst="ellipse">
            <a:avLst/>
          </a:prstGeom>
          <a:solidFill>
            <a:srgbClr val="115000"/>
          </a:solidFill>
          <a:ln/>
        </p:spPr>
      </p:sp>
      <p:sp>
        <p:nvSpPr>
          <p:cNvPr id="24" name="Text 22"/>
          <p:cNvSpPr/>
          <p:nvPr/>
        </p:nvSpPr>
        <p:spPr>
          <a:xfrm>
            <a:off x="713232" y="2697480"/>
            <a:ext cx="3566160" cy="20116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曜日・季節・天候との相関分析が可能</a:t>
            </a:r>
            <a:endParaRPr lang="en-US" sz="1000" dirty="0"/>
          </a:p>
        </p:txBody>
      </p:sp>
      <p:sp>
        <p:nvSpPr>
          <p:cNvPr id="25" name="Shape 23"/>
          <p:cNvSpPr/>
          <p:nvPr/>
        </p:nvSpPr>
        <p:spPr>
          <a:xfrm>
            <a:off x="512064" y="2962656"/>
            <a:ext cx="118872" cy="118872"/>
          </a:xfrm>
          <a:prstGeom prst="ellipse">
            <a:avLst/>
          </a:prstGeom>
          <a:solidFill>
            <a:srgbClr val="115000"/>
          </a:solidFill>
          <a:ln/>
        </p:spPr>
      </p:sp>
      <p:sp>
        <p:nvSpPr>
          <p:cNvPr id="26" name="Text 24"/>
          <p:cNvSpPr/>
          <p:nvPr/>
        </p:nvSpPr>
        <p:spPr>
          <a:xfrm>
            <a:off x="713232" y="2916936"/>
            <a:ext cx="3566160" cy="20116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施設種別（飲食・医療・工場・商業）で分類済み</a:t>
            </a:r>
            <a:endParaRPr lang="en-US" sz="1000" dirty="0"/>
          </a:p>
        </p:txBody>
      </p:sp>
      <p:sp>
        <p:nvSpPr>
          <p:cNvPr id="27" name="Shape 25"/>
          <p:cNvSpPr/>
          <p:nvPr/>
        </p:nvSpPr>
        <p:spPr>
          <a:xfrm>
            <a:off x="4590288" y="749808"/>
            <a:ext cx="4187952" cy="274320"/>
          </a:xfrm>
          <a:prstGeom prst="rect">
            <a:avLst/>
          </a:prstGeom>
          <a:solidFill>
            <a:srgbClr val="DD7E6B"/>
          </a:solidFill>
          <a:ln/>
        </p:spPr>
      </p:sp>
      <p:sp>
        <p:nvSpPr>
          <p:cNvPr id="28" name="Text 26"/>
          <p:cNvSpPr/>
          <p:nvPr/>
        </p:nvSpPr>
        <p:spPr>
          <a:xfrm>
            <a:off x="4590288" y="749808"/>
            <a:ext cx="4187952"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顧客セグメント × 活用用途 × 想定単価</a:t>
            </a:r>
            <a:endParaRPr lang="en-US" sz="900" dirty="0"/>
          </a:p>
        </p:txBody>
      </p:sp>
      <p:sp>
        <p:nvSpPr>
          <p:cNvPr id="29" name="Shape 27"/>
          <p:cNvSpPr/>
          <p:nvPr/>
        </p:nvSpPr>
        <p:spPr>
          <a:xfrm>
            <a:off x="4590288" y="1060704"/>
            <a:ext cx="1280160" cy="256032"/>
          </a:xfrm>
          <a:prstGeom prst="rect">
            <a:avLst/>
          </a:prstGeom>
          <a:solidFill>
            <a:srgbClr val="333333"/>
          </a:solidFill>
          <a:ln/>
        </p:spPr>
      </p:sp>
      <p:sp>
        <p:nvSpPr>
          <p:cNvPr id="30" name="Text 28"/>
          <p:cNvSpPr/>
          <p:nvPr/>
        </p:nvSpPr>
        <p:spPr>
          <a:xfrm>
            <a:off x="4590288" y="1060704"/>
            <a:ext cx="128016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顧客</a:t>
            </a:r>
            <a:endParaRPr lang="en-US" sz="950" dirty="0"/>
          </a:p>
        </p:txBody>
      </p:sp>
      <p:sp>
        <p:nvSpPr>
          <p:cNvPr id="31" name="Shape 29"/>
          <p:cNvSpPr/>
          <p:nvPr/>
        </p:nvSpPr>
        <p:spPr>
          <a:xfrm>
            <a:off x="5870448" y="1060704"/>
            <a:ext cx="1993392" cy="256032"/>
          </a:xfrm>
          <a:prstGeom prst="rect">
            <a:avLst/>
          </a:prstGeom>
          <a:solidFill>
            <a:srgbClr val="333333"/>
          </a:solidFill>
          <a:ln/>
        </p:spPr>
      </p:sp>
      <p:sp>
        <p:nvSpPr>
          <p:cNvPr id="32" name="Text 30"/>
          <p:cNvSpPr/>
          <p:nvPr/>
        </p:nvSpPr>
        <p:spPr>
          <a:xfrm>
            <a:off x="5870448" y="1060704"/>
            <a:ext cx="1993392"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活用方法</a:t>
            </a:r>
            <a:endParaRPr lang="en-US" sz="950" dirty="0"/>
          </a:p>
        </p:txBody>
      </p:sp>
      <p:sp>
        <p:nvSpPr>
          <p:cNvPr id="33" name="Shape 31"/>
          <p:cNvSpPr/>
          <p:nvPr/>
        </p:nvSpPr>
        <p:spPr>
          <a:xfrm>
            <a:off x="7863840" y="1060704"/>
            <a:ext cx="914400" cy="256032"/>
          </a:xfrm>
          <a:prstGeom prst="rect">
            <a:avLst/>
          </a:prstGeom>
          <a:solidFill>
            <a:srgbClr val="333333"/>
          </a:solidFill>
          <a:ln/>
        </p:spPr>
      </p:sp>
      <p:sp>
        <p:nvSpPr>
          <p:cNvPr id="34" name="Text 32"/>
          <p:cNvSpPr/>
          <p:nvPr/>
        </p:nvSpPr>
        <p:spPr>
          <a:xfrm>
            <a:off x="7863840" y="1060704"/>
            <a:ext cx="9144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単価</a:t>
            </a:r>
            <a:endParaRPr lang="en-US" sz="950" dirty="0"/>
          </a:p>
        </p:txBody>
      </p:sp>
      <p:sp>
        <p:nvSpPr>
          <p:cNvPr id="35" name="Shape 33"/>
          <p:cNvSpPr/>
          <p:nvPr/>
        </p:nvSpPr>
        <p:spPr>
          <a:xfrm>
            <a:off x="4590288" y="1353312"/>
            <a:ext cx="1280160" cy="438912"/>
          </a:xfrm>
          <a:prstGeom prst="rect">
            <a:avLst/>
          </a:prstGeom>
          <a:solidFill>
            <a:srgbClr val="D9EAD3"/>
          </a:solidFill>
          <a:ln w="9525">
            <a:solidFill>
              <a:srgbClr val="CCCCCC"/>
            </a:solidFill>
            <a:prstDash val="solid"/>
          </a:ln>
        </p:spPr>
      </p:sp>
      <p:sp>
        <p:nvSpPr>
          <p:cNvPr id="36" name="Text 34"/>
          <p:cNvSpPr/>
          <p:nvPr/>
        </p:nvSpPr>
        <p:spPr>
          <a:xfrm>
            <a:off x="4645152" y="1371600"/>
            <a:ext cx="1170432"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ヘッジファンド</a:t>
            </a:r>
            <a:endParaRPr lang="en-US" sz="1000" dirty="0"/>
          </a:p>
        </p:txBody>
      </p:sp>
      <p:sp>
        <p:nvSpPr>
          <p:cNvPr id="37" name="Shape 35"/>
          <p:cNvSpPr/>
          <p:nvPr/>
        </p:nvSpPr>
        <p:spPr>
          <a:xfrm>
            <a:off x="5870448" y="1353312"/>
            <a:ext cx="1993392" cy="438912"/>
          </a:xfrm>
          <a:prstGeom prst="rect">
            <a:avLst/>
          </a:prstGeom>
          <a:solidFill>
            <a:srgbClr val="D9EAD3"/>
          </a:solidFill>
          <a:ln w="9525">
            <a:solidFill>
              <a:srgbClr val="CCCCCC"/>
            </a:solidFill>
            <a:prstDash val="solid"/>
          </a:ln>
        </p:spPr>
      </p:sp>
      <p:sp>
        <p:nvSpPr>
          <p:cNvPr id="38" name="Text 36"/>
          <p:cNvSpPr/>
          <p:nvPr/>
        </p:nvSpPr>
        <p:spPr>
          <a:xfrm>
            <a:off x="5925312" y="1371600"/>
            <a:ext cx="1883664"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景気先行指標として投資判断に活用</a:t>
            </a:r>
            <a:endParaRPr lang="en-US" sz="1000" dirty="0"/>
          </a:p>
        </p:txBody>
      </p:sp>
      <p:sp>
        <p:nvSpPr>
          <p:cNvPr id="39" name="Shape 37"/>
          <p:cNvSpPr/>
          <p:nvPr/>
        </p:nvSpPr>
        <p:spPr>
          <a:xfrm>
            <a:off x="7863840" y="1353312"/>
            <a:ext cx="914400" cy="438912"/>
          </a:xfrm>
          <a:prstGeom prst="rect">
            <a:avLst/>
          </a:prstGeom>
          <a:solidFill>
            <a:srgbClr val="D9EAD3"/>
          </a:solidFill>
          <a:ln w="9525">
            <a:solidFill>
              <a:srgbClr val="CCCCCC"/>
            </a:solidFill>
            <a:prstDash val="solid"/>
          </a:ln>
        </p:spPr>
      </p:sp>
      <p:sp>
        <p:nvSpPr>
          <p:cNvPr id="40" name="Text 38"/>
          <p:cNvSpPr/>
          <p:nvPr/>
        </p:nvSpPr>
        <p:spPr>
          <a:xfrm>
            <a:off x="7918704" y="1371600"/>
            <a:ext cx="804672" cy="402336"/>
          </a:xfrm>
          <a:prstGeom prst="rect">
            <a:avLst/>
          </a:prstGeom>
          <a:noFill/>
          <a:ln/>
        </p:spPr>
        <p:txBody>
          <a:bodyPr wrap="square" rtlCol="0" anchor="ctr"/>
          <a:lstStyle/>
          <a:p>
            <a:pPr indent="0" marL="0">
              <a:lnSpc>
                <a:spcPct val="120000"/>
              </a:lnSpc>
              <a:buNone/>
            </a:pPr>
            <a:r>
              <a:rPr lang="en-US" sz="1050" b="1" dirty="0">
                <a:solidFill>
                  <a:srgbClr val="156818"/>
                </a:solidFill>
                <a:latin typeface="Calibri" pitchFamily="34" charset="0"/>
                <a:ea typeface="Calibri" pitchFamily="34" charset="-122"/>
                <a:cs typeface="Calibri" pitchFamily="34" charset="-120"/>
              </a:rPr>
              <a:t>月50〜100万円</a:t>
            </a:r>
            <a:endParaRPr lang="en-US" sz="1050" dirty="0"/>
          </a:p>
        </p:txBody>
      </p:sp>
      <p:sp>
        <p:nvSpPr>
          <p:cNvPr id="41" name="Shape 39"/>
          <p:cNvSpPr/>
          <p:nvPr/>
        </p:nvSpPr>
        <p:spPr>
          <a:xfrm>
            <a:off x="4590288" y="1828800"/>
            <a:ext cx="1280160" cy="438912"/>
          </a:xfrm>
          <a:prstGeom prst="rect">
            <a:avLst/>
          </a:prstGeom>
          <a:solidFill>
            <a:srgbClr val="FFFFFF"/>
          </a:solidFill>
          <a:ln w="9525">
            <a:solidFill>
              <a:srgbClr val="CCCCCC"/>
            </a:solidFill>
            <a:prstDash val="solid"/>
          </a:ln>
        </p:spPr>
      </p:sp>
      <p:sp>
        <p:nvSpPr>
          <p:cNvPr id="42" name="Text 40"/>
          <p:cNvSpPr/>
          <p:nvPr/>
        </p:nvSpPr>
        <p:spPr>
          <a:xfrm>
            <a:off x="4645152" y="1847088"/>
            <a:ext cx="1170432"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調査会社</a:t>
            </a:r>
            <a:endParaRPr lang="en-US" sz="1000" dirty="0"/>
          </a:p>
        </p:txBody>
      </p:sp>
      <p:sp>
        <p:nvSpPr>
          <p:cNvPr id="43" name="Shape 41"/>
          <p:cNvSpPr/>
          <p:nvPr/>
        </p:nvSpPr>
        <p:spPr>
          <a:xfrm>
            <a:off x="5870448" y="1828800"/>
            <a:ext cx="1993392" cy="438912"/>
          </a:xfrm>
          <a:prstGeom prst="rect">
            <a:avLst/>
          </a:prstGeom>
          <a:solidFill>
            <a:srgbClr val="FFFFFF"/>
          </a:solidFill>
          <a:ln w="9525">
            <a:solidFill>
              <a:srgbClr val="CCCCCC"/>
            </a:solidFill>
            <a:prstDash val="solid"/>
          </a:ln>
        </p:spPr>
      </p:sp>
      <p:sp>
        <p:nvSpPr>
          <p:cNvPr id="44" name="Text 42"/>
          <p:cNvSpPr/>
          <p:nvPr/>
        </p:nvSpPr>
        <p:spPr>
          <a:xfrm>
            <a:off x="5925312" y="1847088"/>
            <a:ext cx="1883664"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消費・産業動向レポートへ組み込み販売</a:t>
            </a:r>
            <a:endParaRPr lang="en-US" sz="1000" dirty="0"/>
          </a:p>
        </p:txBody>
      </p:sp>
      <p:sp>
        <p:nvSpPr>
          <p:cNvPr id="45" name="Shape 43"/>
          <p:cNvSpPr/>
          <p:nvPr/>
        </p:nvSpPr>
        <p:spPr>
          <a:xfrm>
            <a:off x="7863840" y="1828800"/>
            <a:ext cx="914400" cy="438912"/>
          </a:xfrm>
          <a:prstGeom prst="rect">
            <a:avLst/>
          </a:prstGeom>
          <a:solidFill>
            <a:srgbClr val="FFFFFF"/>
          </a:solidFill>
          <a:ln w="9525">
            <a:solidFill>
              <a:srgbClr val="CCCCCC"/>
            </a:solidFill>
            <a:prstDash val="solid"/>
          </a:ln>
        </p:spPr>
      </p:sp>
      <p:sp>
        <p:nvSpPr>
          <p:cNvPr id="46" name="Text 44"/>
          <p:cNvSpPr/>
          <p:nvPr/>
        </p:nvSpPr>
        <p:spPr>
          <a:xfrm>
            <a:off x="7918704" y="1847088"/>
            <a:ext cx="804672" cy="402336"/>
          </a:xfrm>
          <a:prstGeom prst="rect">
            <a:avLst/>
          </a:prstGeom>
          <a:noFill/>
          <a:ln/>
        </p:spPr>
        <p:txBody>
          <a:bodyPr wrap="square" rtlCol="0" anchor="ctr"/>
          <a:lstStyle/>
          <a:p>
            <a:pPr indent="0" marL="0">
              <a:lnSpc>
                <a:spcPct val="120000"/>
              </a:lnSpc>
              <a:buNone/>
            </a:pPr>
            <a:r>
              <a:rPr lang="en-US" sz="1050" b="1" dirty="0">
                <a:solidFill>
                  <a:srgbClr val="156818"/>
                </a:solidFill>
                <a:latin typeface="Calibri" pitchFamily="34" charset="0"/>
                <a:ea typeface="Calibri" pitchFamily="34" charset="-122"/>
                <a:cs typeface="Calibri" pitchFamily="34" charset="-120"/>
              </a:rPr>
              <a:t>月10〜30万円</a:t>
            </a:r>
            <a:endParaRPr lang="en-US" sz="1050" dirty="0"/>
          </a:p>
        </p:txBody>
      </p:sp>
      <p:sp>
        <p:nvSpPr>
          <p:cNvPr id="47" name="Shape 45"/>
          <p:cNvSpPr/>
          <p:nvPr/>
        </p:nvSpPr>
        <p:spPr>
          <a:xfrm>
            <a:off x="4590288" y="2304288"/>
            <a:ext cx="1280160" cy="438912"/>
          </a:xfrm>
          <a:prstGeom prst="rect">
            <a:avLst/>
          </a:prstGeom>
          <a:solidFill>
            <a:srgbClr val="D9EAD3"/>
          </a:solidFill>
          <a:ln w="9525">
            <a:solidFill>
              <a:srgbClr val="CCCCCC"/>
            </a:solidFill>
            <a:prstDash val="solid"/>
          </a:ln>
        </p:spPr>
      </p:sp>
      <p:sp>
        <p:nvSpPr>
          <p:cNvPr id="48" name="Text 46"/>
          <p:cNvSpPr/>
          <p:nvPr/>
        </p:nvSpPr>
        <p:spPr>
          <a:xfrm>
            <a:off x="4645152" y="2322576"/>
            <a:ext cx="1170432"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大企業ESG部門</a:t>
            </a:r>
            <a:endParaRPr lang="en-US" sz="1000" dirty="0"/>
          </a:p>
        </p:txBody>
      </p:sp>
      <p:sp>
        <p:nvSpPr>
          <p:cNvPr id="49" name="Shape 47"/>
          <p:cNvSpPr/>
          <p:nvPr/>
        </p:nvSpPr>
        <p:spPr>
          <a:xfrm>
            <a:off x="5870448" y="2304288"/>
            <a:ext cx="1993392" cy="438912"/>
          </a:xfrm>
          <a:prstGeom prst="rect">
            <a:avLst/>
          </a:prstGeom>
          <a:solidFill>
            <a:srgbClr val="D9EAD3"/>
          </a:solidFill>
          <a:ln w="9525">
            <a:solidFill>
              <a:srgbClr val="CCCCCC"/>
            </a:solidFill>
            <a:prstDash val="solid"/>
          </a:ln>
        </p:spPr>
      </p:sp>
      <p:sp>
        <p:nvSpPr>
          <p:cNvPr id="50" name="Text 48"/>
          <p:cNvSpPr/>
          <p:nvPr/>
        </p:nvSpPr>
        <p:spPr>
          <a:xfrm>
            <a:off x="5925312" y="2322576"/>
            <a:ext cx="1883664"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廃棄物KPI開示データとして購入</a:t>
            </a:r>
            <a:endParaRPr lang="en-US" sz="1000" dirty="0"/>
          </a:p>
        </p:txBody>
      </p:sp>
      <p:sp>
        <p:nvSpPr>
          <p:cNvPr id="51" name="Shape 49"/>
          <p:cNvSpPr/>
          <p:nvPr/>
        </p:nvSpPr>
        <p:spPr>
          <a:xfrm>
            <a:off x="7863840" y="2304288"/>
            <a:ext cx="914400" cy="438912"/>
          </a:xfrm>
          <a:prstGeom prst="rect">
            <a:avLst/>
          </a:prstGeom>
          <a:solidFill>
            <a:srgbClr val="D9EAD3"/>
          </a:solidFill>
          <a:ln w="9525">
            <a:solidFill>
              <a:srgbClr val="CCCCCC"/>
            </a:solidFill>
            <a:prstDash val="solid"/>
          </a:ln>
        </p:spPr>
      </p:sp>
      <p:sp>
        <p:nvSpPr>
          <p:cNvPr id="52" name="Text 50"/>
          <p:cNvSpPr/>
          <p:nvPr/>
        </p:nvSpPr>
        <p:spPr>
          <a:xfrm>
            <a:off x="7918704" y="2322576"/>
            <a:ext cx="804672" cy="402336"/>
          </a:xfrm>
          <a:prstGeom prst="rect">
            <a:avLst/>
          </a:prstGeom>
          <a:noFill/>
          <a:ln/>
        </p:spPr>
        <p:txBody>
          <a:bodyPr wrap="square" rtlCol="0" anchor="ctr"/>
          <a:lstStyle/>
          <a:p>
            <a:pPr indent="0" marL="0">
              <a:lnSpc>
                <a:spcPct val="120000"/>
              </a:lnSpc>
              <a:buNone/>
            </a:pPr>
            <a:r>
              <a:rPr lang="en-US" sz="1050" b="1" dirty="0">
                <a:solidFill>
                  <a:srgbClr val="156818"/>
                </a:solidFill>
                <a:latin typeface="Calibri" pitchFamily="34" charset="0"/>
                <a:ea typeface="Calibri" pitchFamily="34" charset="-122"/>
                <a:cs typeface="Calibri" pitchFamily="34" charset="-120"/>
              </a:rPr>
              <a:t>月5〜15万円</a:t>
            </a:r>
            <a:endParaRPr lang="en-US" sz="1050" dirty="0"/>
          </a:p>
        </p:txBody>
      </p:sp>
      <p:sp>
        <p:nvSpPr>
          <p:cNvPr id="53" name="Shape 51"/>
          <p:cNvSpPr/>
          <p:nvPr/>
        </p:nvSpPr>
        <p:spPr>
          <a:xfrm>
            <a:off x="4590288" y="2779776"/>
            <a:ext cx="1280160" cy="438912"/>
          </a:xfrm>
          <a:prstGeom prst="rect">
            <a:avLst/>
          </a:prstGeom>
          <a:solidFill>
            <a:srgbClr val="FFFFFF"/>
          </a:solidFill>
          <a:ln w="9525">
            <a:solidFill>
              <a:srgbClr val="CCCCCC"/>
            </a:solidFill>
            <a:prstDash val="solid"/>
          </a:ln>
        </p:spPr>
      </p:sp>
      <p:sp>
        <p:nvSpPr>
          <p:cNvPr id="54" name="Text 52"/>
          <p:cNvSpPr/>
          <p:nvPr/>
        </p:nvSpPr>
        <p:spPr>
          <a:xfrm>
            <a:off x="4645152" y="2798064"/>
            <a:ext cx="1170432"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自治体・行政</a:t>
            </a:r>
            <a:endParaRPr lang="en-US" sz="1000" dirty="0"/>
          </a:p>
        </p:txBody>
      </p:sp>
      <p:sp>
        <p:nvSpPr>
          <p:cNvPr id="55" name="Shape 53"/>
          <p:cNvSpPr/>
          <p:nvPr/>
        </p:nvSpPr>
        <p:spPr>
          <a:xfrm>
            <a:off x="5870448" y="2779776"/>
            <a:ext cx="1993392" cy="438912"/>
          </a:xfrm>
          <a:prstGeom prst="rect">
            <a:avLst/>
          </a:prstGeom>
          <a:solidFill>
            <a:srgbClr val="FFFFFF"/>
          </a:solidFill>
          <a:ln w="9525">
            <a:solidFill>
              <a:srgbClr val="CCCCCC"/>
            </a:solidFill>
            <a:prstDash val="solid"/>
          </a:ln>
        </p:spPr>
      </p:sp>
      <p:sp>
        <p:nvSpPr>
          <p:cNvPr id="56" name="Text 54"/>
          <p:cNvSpPr/>
          <p:nvPr/>
        </p:nvSpPr>
        <p:spPr>
          <a:xfrm>
            <a:off x="5925312" y="2798064"/>
            <a:ext cx="1883664"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廃棄物量予測・政策立案・資源配分最適化</a:t>
            </a:r>
            <a:endParaRPr lang="en-US" sz="1000" dirty="0"/>
          </a:p>
        </p:txBody>
      </p:sp>
      <p:sp>
        <p:nvSpPr>
          <p:cNvPr id="57" name="Shape 55"/>
          <p:cNvSpPr/>
          <p:nvPr/>
        </p:nvSpPr>
        <p:spPr>
          <a:xfrm>
            <a:off x="7863840" y="2779776"/>
            <a:ext cx="914400" cy="438912"/>
          </a:xfrm>
          <a:prstGeom prst="rect">
            <a:avLst/>
          </a:prstGeom>
          <a:solidFill>
            <a:srgbClr val="FFFFFF"/>
          </a:solidFill>
          <a:ln w="9525">
            <a:solidFill>
              <a:srgbClr val="CCCCCC"/>
            </a:solidFill>
            <a:prstDash val="solid"/>
          </a:ln>
        </p:spPr>
      </p:sp>
      <p:sp>
        <p:nvSpPr>
          <p:cNvPr id="58" name="Text 56"/>
          <p:cNvSpPr/>
          <p:nvPr/>
        </p:nvSpPr>
        <p:spPr>
          <a:xfrm>
            <a:off x="7918704" y="2798064"/>
            <a:ext cx="804672" cy="402336"/>
          </a:xfrm>
          <a:prstGeom prst="rect">
            <a:avLst/>
          </a:prstGeom>
          <a:noFill/>
          <a:ln/>
        </p:spPr>
        <p:txBody>
          <a:bodyPr wrap="square" rtlCol="0" anchor="ctr"/>
          <a:lstStyle/>
          <a:p>
            <a:pPr indent="0" marL="0">
              <a:lnSpc>
                <a:spcPct val="120000"/>
              </a:lnSpc>
              <a:buNone/>
            </a:pPr>
            <a:r>
              <a:rPr lang="en-US" sz="1050" b="1" dirty="0">
                <a:solidFill>
                  <a:srgbClr val="156818"/>
                </a:solidFill>
                <a:latin typeface="Calibri" pitchFamily="34" charset="0"/>
                <a:ea typeface="Calibri" pitchFamily="34" charset="-122"/>
                <a:cs typeface="Calibri" pitchFamily="34" charset="-120"/>
              </a:rPr>
              <a:t>月5〜15万円</a:t>
            </a:r>
            <a:endParaRPr lang="en-US" sz="1050" dirty="0"/>
          </a:p>
        </p:txBody>
      </p:sp>
      <p:sp>
        <p:nvSpPr>
          <p:cNvPr id="59" name="Shape 57"/>
          <p:cNvSpPr/>
          <p:nvPr/>
        </p:nvSpPr>
        <p:spPr>
          <a:xfrm>
            <a:off x="4590288" y="3255264"/>
            <a:ext cx="1280160" cy="438912"/>
          </a:xfrm>
          <a:prstGeom prst="rect">
            <a:avLst/>
          </a:prstGeom>
          <a:solidFill>
            <a:srgbClr val="D9EAD3"/>
          </a:solidFill>
          <a:ln w="9525">
            <a:solidFill>
              <a:srgbClr val="CCCCCC"/>
            </a:solidFill>
            <a:prstDash val="solid"/>
          </a:ln>
        </p:spPr>
      </p:sp>
      <p:sp>
        <p:nvSpPr>
          <p:cNvPr id="60" name="Text 58"/>
          <p:cNvSpPr/>
          <p:nvPr/>
        </p:nvSpPr>
        <p:spPr>
          <a:xfrm>
            <a:off x="4645152" y="3273552"/>
            <a:ext cx="1170432"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不動産・REIT</a:t>
            </a:r>
            <a:endParaRPr lang="en-US" sz="1000" dirty="0"/>
          </a:p>
        </p:txBody>
      </p:sp>
      <p:sp>
        <p:nvSpPr>
          <p:cNvPr id="61" name="Shape 59"/>
          <p:cNvSpPr/>
          <p:nvPr/>
        </p:nvSpPr>
        <p:spPr>
          <a:xfrm>
            <a:off x="5870448" y="3255264"/>
            <a:ext cx="1993392" cy="438912"/>
          </a:xfrm>
          <a:prstGeom prst="rect">
            <a:avLst/>
          </a:prstGeom>
          <a:solidFill>
            <a:srgbClr val="D9EAD3"/>
          </a:solidFill>
          <a:ln w="9525">
            <a:solidFill>
              <a:srgbClr val="CCCCCC"/>
            </a:solidFill>
            <a:prstDash val="solid"/>
          </a:ln>
        </p:spPr>
      </p:sp>
      <p:sp>
        <p:nvSpPr>
          <p:cNvPr id="62" name="Text 60"/>
          <p:cNvSpPr/>
          <p:nvPr/>
        </p:nvSpPr>
        <p:spPr>
          <a:xfrm>
            <a:off x="5925312" y="3273552"/>
            <a:ext cx="1883664" cy="402336"/>
          </a:xfrm>
          <a:prstGeom prst="rect">
            <a:avLst/>
          </a:prstGeom>
          <a:noFill/>
          <a:ln/>
        </p:spPr>
        <p:txBody>
          <a:bodyPr wrap="square" rtlCol="0" anchor="ct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施設稼働率の代替指標として評価に活用</a:t>
            </a:r>
            <a:endParaRPr lang="en-US" sz="1000" dirty="0"/>
          </a:p>
        </p:txBody>
      </p:sp>
      <p:sp>
        <p:nvSpPr>
          <p:cNvPr id="63" name="Shape 61"/>
          <p:cNvSpPr/>
          <p:nvPr/>
        </p:nvSpPr>
        <p:spPr>
          <a:xfrm>
            <a:off x="7863840" y="3255264"/>
            <a:ext cx="914400" cy="438912"/>
          </a:xfrm>
          <a:prstGeom prst="rect">
            <a:avLst/>
          </a:prstGeom>
          <a:solidFill>
            <a:srgbClr val="D9EAD3"/>
          </a:solidFill>
          <a:ln w="9525">
            <a:solidFill>
              <a:srgbClr val="CCCCCC"/>
            </a:solidFill>
            <a:prstDash val="solid"/>
          </a:ln>
        </p:spPr>
      </p:sp>
      <p:sp>
        <p:nvSpPr>
          <p:cNvPr id="64" name="Text 62"/>
          <p:cNvSpPr/>
          <p:nvPr/>
        </p:nvSpPr>
        <p:spPr>
          <a:xfrm>
            <a:off x="7918704" y="3273552"/>
            <a:ext cx="804672" cy="402336"/>
          </a:xfrm>
          <a:prstGeom prst="rect">
            <a:avLst/>
          </a:prstGeom>
          <a:noFill/>
          <a:ln/>
        </p:spPr>
        <p:txBody>
          <a:bodyPr wrap="square" rtlCol="0" anchor="ctr"/>
          <a:lstStyle/>
          <a:p>
            <a:pPr indent="0" marL="0">
              <a:lnSpc>
                <a:spcPct val="120000"/>
              </a:lnSpc>
              <a:buNone/>
            </a:pPr>
            <a:r>
              <a:rPr lang="en-US" sz="1050" b="1" dirty="0">
                <a:solidFill>
                  <a:srgbClr val="156818"/>
                </a:solidFill>
                <a:latin typeface="Calibri" pitchFamily="34" charset="0"/>
                <a:ea typeface="Calibri" pitchFamily="34" charset="-122"/>
                <a:cs typeface="Calibri" pitchFamily="34" charset="-120"/>
              </a:rPr>
              <a:t>月3〜10万円</a:t>
            </a:r>
            <a:endParaRPr lang="en-US" sz="1050" dirty="0"/>
          </a:p>
        </p:txBody>
      </p:sp>
      <p:sp>
        <p:nvSpPr>
          <p:cNvPr id="65" name="Shape 63"/>
          <p:cNvSpPr/>
          <p:nvPr/>
        </p:nvSpPr>
        <p:spPr>
          <a:xfrm>
            <a:off x="365760" y="3182112"/>
            <a:ext cx="8412480" cy="512064"/>
          </a:xfrm>
          <a:prstGeom prst="rect">
            <a:avLst/>
          </a:prstGeom>
          <a:solidFill>
            <a:srgbClr val="F3F3F3"/>
          </a:solidFill>
          <a:ln w="9525">
            <a:solidFill>
              <a:srgbClr val="CCCCCC"/>
            </a:solidFill>
            <a:prstDash val="solid"/>
          </a:ln>
        </p:spPr>
      </p:sp>
      <p:sp>
        <p:nvSpPr>
          <p:cNvPr id="66" name="Text 64"/>
          <p:cNvSpPr/>
          <p:nvPr/>
        </p:nvSpPr>
        <p:spPr>
          <a:xfrm>
            <a:off x="512064" y="3200400"/>
            <a:ext cx="8138160" cy="475488"/>
          </a:xfrm>
          <a:prstGeom prst="rect">
            <a:avLst/>
          </a:prstGeom>
          <a:noFill/>
          <a:ln/>
        </p:spPr>
        <p:txBody>
          <a:bodyPr wrap="square" rtlCol="0" anchor="ctr"/>
          <a:lstStyle/>
          <a:p>
            <a:pPr indent="0" marL="0">
              <a:lnSpc>
                <a:spcPct val="140000"/>
              </a:lnSpc>
              <a:buNone/>
            </a:pPr>
            <a:r>
              <a:rPr lang="en-US" sz="1100" dirty="0">
                <a:solidFill>
                  <a:srgbClr val="333333"/>
                </a:solidFill>
                <a:latin typeface="Calibri" pitchFamily="34" charset="0"/>
                <a:ea typeface="Calibri" pitchFamily="34" charset="-122"/>
                <a:cs typeface="Calibri" pitchFamily="34" charset="-120"/>
              </a:rPr>
              <a:t>初期戦略：まず調査会社1〜2社に無償サンプル提供 → ニーズ確認後に有償化。ヘッジファンドは紹介経由でのアプローチを優先。</a:t>
            </a:r>
            <a:endParaRPr lang="en-US" sz="1100" dirty="0"/>
          </a:p>
        </p:txBody>
      </p:sp>
      <p:sp>
        <p:nvSpPr>
          <p:cNvPr id="67" name="Shape 65"/>
          <p:cNvSpPr/>
          <p:nvPr/>
        </p:nvSpPr>
        <p:spPr>
          <a:xfrm>
            <a:off x="365760" y="3785616"/>
            <a:ext cx="8412480" cy="256032"/>
          </a:xfrm>
          <a:prstGeom prst="rect">
            <a:avLst/>
          </a:prstGeom>
          <a:solidFill>
            <a:srgbClr val="156818"/>
          </a:solidFill>
          <a:ln/>
        </p:spPr>
      </p:sp>
      <p:sp>
        <p:nvSpPr>
          <p:cNvPr id="68" name="Text 66"/>
          <p:cNvSpPr/>
          <p:nvPr/>
        </p:nvSpPr>
        <p:spPr>
          <a:xfrm>
            <a:off x="365760" y="3785616"/>
            <a:ext cx="8412480" cy="256032"/>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データ収集フロー</a:t>
            </a:r>
            <a:endParaRPr lang="en-US" sz="900" dirty="0"/>
          </a:p>
        </p:txBody>
      </p:sp>
      <p:sp>
        <p:nvSpPr>
          <p:cNvPr id="69" name="Shape 67"/>
          <p:cNvSpPr/>
          <p:nvPr/>
        </p:nvSpPr>
        <p:spPr>
          <a:xfrm>
            <a:off x="365760" y="3931920"/>
            <a:ext cx="1975104" cy="1005840"/>
          </a:xfrm>
          <a:prstGeom prst="rect">
            <a:avLst/>
          </a:prstGeom>
          <a:solidFill>
            <a:srgbClr val="D9EAD3"/>
          </a:solidFill>
          <a:ln w="9525">
            <a:solidFill>
              <a:srgbClr val="CCCCCC"/>
            </a:solidFill>
            <a:prstDash val="solid"/>
          </a:ln>
        </p:spPr>
      </p:sp>
      <p:sp>
        <p:nvSpPr>
          <p:cNvPr id="70" name="Shape 68"/>
          <p:cNvSpPr/>
          <p:nvPr/>
        </p:nvSpPr>
        <p:spPr>
          <a:xfrm>
            <a:off x="1133856" y="3968496"/>
            <a:ext cx="438912" cy="438912"/>
          </a:xfrm>
          <a:prstGeom prst="ellipse">
            <a:avLst/>
          </a:prstGeom>
          <a:solidFill>
            <a:srgbClr val="156818"/>
          </a:solidFill>
          <a:ln/>
        </p:spPr>
      </p:sp>
      <p:sp>
        <p:nvSpPr>
          <p:cNvPr id="71" name="Text 69"/>
          <p:cNvSpPr/>
          <p:nvPr/>
        </p:nvSpPr>
        <p:spPr>
          <a:xfrm>
            <a:off x="1133856" y="3968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2" name="Text 70"/>
          <p:cNvSpPr/>
          <p:nvPr/>
        </p:nvSpPr>
        <p:spPr>
          <a:xfrm>
            <a:off x="420624" y="4443984"/>
            <a:ext cx="1865376" cy="402336"/>
          </a:xfrm>
          <a:prstGeom prst="rect">
            <a:avLst/>
          </a:prstGeom>
          <a:noFill/>
          <a:ln/>
        </p:spPr>
        <p:txBody>
          <a:bodyPr wrap="square" rtlCol="0" anchor="ctr"/>
          <a:lstStyle/>
          <a:p>
            <a:pPr algn="ctr" indent="0" marL="0">
              <a:lnSpc>
                <a:spcPct val="120000"/>
              </a:lnSpc>
              <a:buNone/>
            </a:pPr>
            <a:r>
              <a:rPr lang="en-US" sz="1000" dirty="0">
                <a:solidFill>
                  <a:srgbClr val="333333"/>
                </a:solidFill>
                <a:latin typeface="Calibri" pitchFamily="34" charset="0"/>
                <a:ea typeface="Calibri" pitchFamily="34" charset="-122"/>
                <a:cs typeface="Calibri" pitchFamily="34" charset="-120"/>
              </a:rPr>
              <a:t>施設で廃棄物収集</a:t>
            </a:r>
            <a:endParaRPr lang="en-US" sz="1000" dirty="0"/>
          </a:p>
        </p:txBody>
      </p:sp>
      <p:sp>
        <p:nvSpPr>
          <p:cNvPr id="73" name="Text 71"/>
          <p:cNvSpPr/>
          <p:nvPr/>
        </p:nvSpPr>
        <p:spPr>
          <a:xfrm>
            <a:off x="2340864" y="4279392"/>
            <a:ext cx="128016" cy="329184"/>
          </a:xfrm>
          <a:prstGeom prst="rect">
            <a:avLst/>
          </a:prstGeom>
          <a:noFill/>
          <a:ln/>
        </p:spPr>
        <p:txBody>
          <a:bodyPr wrap="square" rtlCol="0" anchor="ctr"/>
          <a:lstStyle/>
          <a:p>
            <a:pPr algn="ctr" indent="0" marL="0">
              <a:buNone/>
            </a:pPr>
            <a:r>
              <a:rPr lang="en-US" sz="1200" dirty="0">
                <a:solidFill>
                  <a:srgbClr val="156818"/>
                </a:solidFill>
                <a:latin typeface="Calibri" pitchFamily="34" charset="0"/>
                <a:ea typeface="Calibri" pitchFamily="34" charset="-122"/>
                <a:cs typeface="Calibri" pitchFamily="34" charset="-120"/>
              </a:rPr>
              <a:t>▶</a:t>
            </a:r>
            <a:endParaRPr lang="en-US" sz="1200" dirty="0"/>
          </a:p>
        </p:txBody>
      </p:sp>
      <p:sp>
        <p:nvSpPr>
          <p:cNvPr id="74" name="Shape 72"/>
          <p:cNvSpPr/>
          <p:nvPr/>
        </p:nvSpPr>
        <p:spPr>
          <a:xfrm>
            <a:off x="2468880" y="3931920"/>
            <a:ext cx="1975104" cy="1005840"/>
          </a:xfrm>
          <a:prstGeom prst="rect">
            <a:avLst/>
          </a:prstGeom>
          <a:solidFill>
            <a:srgbClr val="E8F5E9"/>
          </a:solidFill>
          <a:ln w="9525">
            <a:solidFill>
              <a:srgbClr val="CCCCCC"/>
            </a:solidFill>
            <a:prstDash val="solid"/>
          </a:ln>
        </p:spPr>
      </p:sp>
      <p:sp>
        <p:nvSpPr>
          <p:cNvPr id="75" name="Shape 73"/>
          <p:cNvSpPr/>
          <p:nvPr/>
        </p:nvSpPr>
        <p:spPr>
          <a:xfrm>
            <a:off x="3236976" y="3968496"/>
            <a:ext cx="438912" cy="438912"/>
          </a:xfrm>
          <a:prstGeom prst="ellipse">
            <a:avLst/>
          </a:prstGeom>
          <a:solidFill>
            <a:srgbClr val="156818"/>
          </a:solidFill>
          <a:ln/>
        </p:spPr>
      </p:sp>
      <p:sp>
        <p:nvSpPr>
          <p:cNvPr id="76" name="Text 74"/>
          <p:cNvSpPr/>
          <p:nvPr/>
        </p:nvSpPr>
        <p:spPr>
          <a:xfrm>
            <a:off x="3236976" y="3968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7" name="Text 75"/>
          <p:cNvSpPr/>
          <p:nvPr/>
        </p:nvSpPr>
        <p:spPr>
          <a:xfrm>
            <a:off x="2523744" y="4443984"/>
            <a:ext cx="1865376" cy="402336"/>
          </a:xfrm>
          <a:prstGeom prst="rect">
            <a:avLst/>
          </a:prstGeom>
          <a:noFill/>
          <a:ln/>
        </p:spPr>
        <p:txBody>
          <a:bodyPr wrap="square" rtlCol="0" anchor="ctr"/>
          <a:lstStyle/>
          <a:p>
            <a:pPr algn="ctr" indent="0" marL="0">
              <a:lnSpc>
                <a:spcPct val="120000"/>
              </a:lnSpc>
              <a:buNone/>
            </a:pPr>
            <a:r>
              <a:rPr lang="en-US" sz="1000" dirty="0">
                <a:solidFill>
                  <a:srgbClr val="333333"/>
                </a:solidFill>
                <a:latin typeface="Calibri" pitchFamily="34" charset="0"/>
                <a:ea typeface="Calibri" pitchFamily="34" charset="-122"/>
                <a:cs typeface="Calibri" pitchFamily="34" charset="-120"/>
              </a:rPr>
              <a:t>ラクハイに記録</a:t>
            </a:r>
            <a:endParaRPr lang="en-US" sz="1000" dirty="0"/>
          </a:p>
          <a:p>
            <a:pPr algn="ctr" indent="0" marL="0">
              <a:lnSpc>
                <a:spcPct val="120000"/>
              </a:lnSpc>
              <a:buNone/>
            </a:pPr>
            <a:r>
              <a:rPr lang="en-US" sz="1000" dirty="0">
                <a:solidFill>
                  <a:srgbClr val="333333"/>
                </a:solidFill>
                <a:latin typeface="Calibri" pitchFamily="34" charset="0"/>
                <a:ea typeface="Calibri" pitchFamily="34" charset="-122"/>
                <a:cs typeface="Calibri" pitchFamily="34" charset="-120"/>
              </a:rPr>
              <a:t>（品目・重量・施設）</a:t>
            </a:r>
            <a:endParaRPr lang="en-US" sz="1000" dirty="0"/>
          </a:p>
        </p:txBody>
      </p:sp>
      <p:sp>
        <p:nvSpPr>
          <p:cNvPr id="78" name="Text 76"/>
          <p:cNvSpPr/>
          <p:nvPr/>
        </p:nvSpPr>
        <p:spPr>
          <a:xfrm>
            <a:off x="4443984" y="4279392"/>
            <a:ext cx="128016" cy="329184"/>
          </a:xfrm>
          <a:prstGeom prst="rect">
            <a:avLst/>
          </a:prstGeom>
          <a:noFill/>
          <a:ln/>
        </p:spPr>
        <p:txBody>
          <a:bodyPr wrap="square" rtlCol="0" anchor="ctr"/>
          <a:lstStyle/>
          <a:p>
            <a:pPr algn="ctr" indent="0" marL="0">
              <a:buNone/>
            </a:pPr>
            <a:r>
              <a:rPr lang="en-US" sz="1200" dirty="0">
                <a:solidFill>
                  <a:srgbClr val="156818"/>
                </a:solidFill>
                <a:latin typeface="Calibri" pitchFamily="34" charset="0"/>
                <a:ea typeface="Calibri" pitchFamily="34" charset="-122"/>
                <a:cs typeface="Calibri" pitchFamily="34" charset="-120"/>
              </a:rPr>
              <a:t>▶</a:t>
            </a:r>
            <a:endParaRPr lang="en-US" sz="1200" dirty="0"/>
          </a:p>
        </p:txBody>
      </p:sp>
      <p:sp>
        <p:nvSpPr>
          <p:cNvPr id="79" name="Shape 77"/>
          <p:cNvSpPr/>
          <p:nvPr/>
        </p:nvSpPr>
        <p:spPr>
          <a:xfrm>
            <a:off x="4572000" y="3931920"/>
            <a:ext cx="1975104" cy="1005840"/>
          </a:xfrm>
          <a:prstGeom prst="rect">
            <a:avLst/>
          </a:prstGeom>
          <a:solidFill>
            <a:srgbClr val="D9EAD3"/>
          </a:solidFill>
          <a:ln w="9525">
            <a:solidFill>
              <a:srgbClr val="CCCCCC"/>
            </a:solidFill>
            <a:prstDash val="solid"/>
          </a:ln>
        </p:spPr>
      </p:sp>
      <p:sp>
        <p:nvSpPr>
          <p:cNvPr id="80" name="Shape 78"/>
          <p:cNvSpPr/>
          <p:nvPr/>
        </p:nvSpPr>
        <p:spPr>
          <a:xfrm>
            <a:off x="5340096" y="3968496"/>
            <a:ext cx="438912" cy="438912"/>
          </a:xfrm>
          <a:prstGeom prst="ellipse">
            <a:avLst/>
          </a:prstGeom>
          <a:solidFill>
            <a:srgbClr val="156818"/>
          </a:solidFill>
          <a:ln/>
        </p:spPr>
      </p:sp>
      <p:sp>
        <p:nvSpPr>
          <p:cNvPr id="81" name="Text 79"/>
          <p:cNvSpPr/>
          <p:nvPr/>
        </p:nvSpPr>
        <p:spPr>
          <a:xfrm>
            <a:off x="5340096" y="3968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82" name="Text 80"/>
          <p:cNvSpPr/>
          <p:nvPr/>
        </p:nvSpPr>
        <p:spPr>
          <a:xfrm>
            <a:off x="4626864" y="4443984"/>
            <a:ext cx="1865376" cy="402336"/>
          </a:xfrm>
          <a:prstGeom prst="rect">
            <a:avLst/>
          </a:prstGeom>
          <a:noFill/>
          <a:ln/>
        </p:spPr>
        <p:txBody>
          <a:bodyPr wrap="square" rtlCol="0" anchor="ctr"/>
          <a:lstStyle/>
          <a:p>
            <a:pPr algn="ctr" indent="0" marL="0">
              <a:lnSpc>
                <a:spcPct val="120000"/>
              </a:lnSpc>
              <a:buNone/>
            </a:pPr>
            <a:r>
              <a:rPr lang="en-US" sz="1000" dirty="0">
                <a:solidFill>
                  <a:srgbClr val="333333"/>
                </a:solidFill>
                <a:latin typeface="Calibri" pitchFamily="34" charset="0"/>
                <a:ea typeface="Calibri" pitchFamily="34" charset="-122"/>
                <a:cs typeface="Calibri" pitchFamily="34" charset="-120"/>
              </a:rPr>
              <a:t>DB蓄積・クレンジング</a:t>
            </a:r>
            <a:endParaRPr lang="en-US" sz="1000" dirty="0"/>
          </a:p>
        </p:txBody>
      </p:sp>
      <p:sp>
        <p:nvSpPr>
          <p:cNvPr id="83" name="Text 81"/>
          <p:cNvSpPr/>
          <p:nvPr/>
        </p:nvSpPr>
        <p:spPr>
          <a:xfrm>
            <a:off x="6547104" y="4279392"/>
            <a:ext cx="128016" cy="329184"/>
          </a:xfrm>
          <a:prstGeom prst="rect">
            <a:avLst/>
          </a:prstGeom>
          <a:noFill/>
          <a:ln/>
        </p:spPr>
        <p:txBody>
          <a:bodyPr wrap="square" rtlCol="0" anchor="ctr"/>
          <a:lstStyle/>
          <a:p>
            <a:pPr algn="ctr" indent="0" marL="0">
              <a:buNone/>
            </a:pPr>
            <a:r>
              <a:rPr lang="en-US" sz="1200" dirty="0">
                <a:solidFill>
                  <a:srgbClr val="156818"/>
                </a:solidFill>
                <a:latin typeface="Calibri" pitchFamily="34" charset="0"/>
                <a:ea typeface="Calibri" pitchFamily="34" charset="-122"/>
                <a:cs typeface="Calibri" pitchFamily="34" charset="-120"/>
              </a:rPr>
              <a:t>▶</a:t>
            </a:r>
            <a:endParaRPr lang="en-US" sz="1200" dirty="0"/>
          </a:p>
        </p:txBody>
      </p:sp>
      <p:sp>
        <p:nvSpPr>
          <p:cNvPr id="84" name="Shape 82"/>
          <p:cNvSpPr/>
          <p:nvPr/>
        </p:nvSpPr>
        <p:spPr>
          <a:xfrm>
            <a:off x="6675120" y="3931920"/>
            <a:ext cx="1975104" cy="1005840"/>
          </a:xfrm>
          <a:prstGeom prst="rect">
            <a:avLst/>
          </a:prstGeom>
          <a:solidFill>
            <a:srgbClr val="E8F5E9"/>
          </a:solidFill>
          <a:ln w="9525">
            <a:solidFill>
              <a:srgbClr val="CCCCCC"/>
            </a:solidFill>
            <a:prstDash val="solid"/>
          </a:ln>
        </p:spPr>
      </p:sp>
      <p:sp>
        <p:nvSpPr>
          <p:cNvPr id="85" name="Shape 83"/>
          <p:cNvSpPr/>
          <p:nvPr/>
        </p:nvSpPr>
        <p:spPr>
          <a:xfrm>
            <a:off x="7443216" y="3968496"/>
            <a:ext cx="438912" cy="438912"/>
          </a:xfrm>
          <a:prstGeom prst="ellipse">
            <a:avLst/>
          </a:prstGeom>
          <a:solidFill>
            <a:srgbClr val="156818"/>
          </a:solidFill>
          <a:ln/>
        </p:spPr>
      </p:sp>
      <p:sp>
        <p:nvSpPr>
          <p:cNvPr id="86" name="Text 84"/>
          <p:cNvSpPr/>
          <p:nvPr/>
        </p:nvSpPr>
        <p:spPr>
          <a:xfrm>
            <a:off x="7443216" y="3968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87" name="Text 85"/>
          <p:cNvSpPr/>
          <p:nvPr/>
        </p:nvSpPr>
        <p:spPr>
          <a:xfrm>
            <a:off x="6729984" y="4443984"/>
            <a:ext cx="1865376" cy="402336"/>
          </a:xfrm>
          <a:prstGeom prst="rect">
            <a:avLst/>
          </a:prstGeom>
          <a:noFill/>
          <a:ln/>
        </p:spPr>
        <p:txBody>
          <a:bodyPr wrap="square" rtlCol="0" anchor="ctr"/>
          <a:lstStyle/>
          <a:p>
            <a:pPr algn="ctr" indent="0" marL="0">
              <a:lnSpc>
                <a:spcPct val="120000"/>
              </a:lnSpc>
              <a:buNone/>
            </a:pPr>
            <a:r>
              <a:rPr lang="en-US" sz="1000" dirty="0">
                <a:solidFill>
                  <a:srgbClr val="333333"/>
                </a:solidFill>
                <a:latin typeface="Calibri" pitchFamily="34" charset="0"/>
                <a:ea typeface="Calibri" pitchFamily="34" charset="-122"/>
                <a:cs typeface="Calibri" pitchFamily="34" charset="-120"/>
              </a:rPr>
              <a:t>API / レポート販売</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3</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事業②　トラック走行・都市センシングデータ</a:t>
            </a:r>
            <a:endParaRPr lang="en-US" sz="1600" dirty="0"/>
          </a:p>
        </p:txBody>
      </p:sp>
      <p:sp>
        <p:nvSpPr>
          <p:cNvPr id="7" name="Shape 5"/>
          <p:cNvSpPr/>
          <p:nvPr/>
        </p:nvSpPr>
        <p:spPr>
          <a:xfrm>
            <a:off x="365760" y="749808"/>
            <a:ext cx="4041648" cy="2011680"/>
          </a:xfrm>
          <a:prstGeom prst="rect">
            <a:avLst/>
          </a:prstGeom>
          <a:solidFill>
            <a:srgbClr val="D0EFEF"/>
          </a:solidFill>
          <a:ln w="9525">
            <a:solidFill>
              <a:srgbClr val="CCCCCC"/>
            </a:solidFill>
            <a:prstDash val="solid"/>
          </a:ln>
        </p:spPr>
      </p:sp>
      <p:sp>
        <p:nvSpPr>
          <p:cNvPr id="8" name="Shape 6"/>
          <p:cNvSpPr/>
          <p:nvPr/>
        </p:nvSpPr>
        <p:spPr>
          <a:xfrm>
            <a:off x="365760" y="749808"/>
            <a:ext cx="4041648" cy="274320"/>
          </a:xfrm>
          <a:prstGeom prst="rect">
            <a:avLst/>
          </a:prstGeom>
          <a:solidFill>
            <a:srgbClr val="0D7480"/>
          </a:solidFill>
          <a:ln/>
        </p:spPr>
      </p:sp>
      <p:sp>
        <p:nvSpPr>
          <p:cNvPr id="9" name="Text 7"/>
          <p:cNvSpPr/>
          <p:nvPr/>
        </p:nvSpPr>
        <p:spPr>
          <a:xfrm>
            <a:off x="365760" y="749808"/>
            <a:ext cx="4041648"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センサー構成（搭載機器）</a:t>
            </a:r>
            <a:endParaRPr lang="en-US" sz="900" dirty="0"/>
          </a:p>
        </p:txBody>
      </p:sp>
      <p:sp>
        <p:nvSpPr>
          <p:cNvPr id="10" name="Shape 8"/>
          <p:cNvSpPr/>
          <p:nvPr/>
        </p:nvSpPr>
        <p:spPr>
          <a:xfrm>
            <a:off x="512064" y="1152144"/>
            <a:ext cx="310896" cy="310896"/>
          </a:xfrm>
          <a:prstGeom prst="ellipse">
            <a:avLst/>
          </a:prstGeom>
          <a:solidFill>
            <a:srgbClr val="0D7480"/>
          </a:solidFill>
          <a:ln/>
        </p:spPr>
      </p:sp>
      <p:sp>
        <p:nvSpPr>
          <p:cNvPr id="11" name="Text 9"/>
          <p:cNvSpPr/>
          <p:nvPr/>
        </p:nvSpPr>
        <p:spPr>
          <a:xfrm>
            <a:off x="512064" y="1152144"/>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録</a:t>
            </a:r>
            <a:endParaRPr lang="en-US" sz="1000" dirty="0"/>
          </a:p>
        </p:txBody>
      </p:sp>
      <p:sp>
        <p:nvSpPr>
          <p:cNvPr id="12" name="Text 10"/>
          <p:cNvSpPr/>
          <p:nvPr/>
        </p:nvSpPr>
        <p:spPr>
          <a:xfrm>
            <a:off x="914400" y="1133856"/>
            <a:ext cx="3291840" cy="182880"/>
          </a:xfrm>
          <a:prstGeom prst="rect">
            <a:avLst/>
          </a:prstGeom>
          <a:noFill/>
          <a:ln/>
        </p:spPr>
        <p:txBody>
          <a:bodyPr wrap="square" rtlCol="0" anchor="ctr"/>
          <a:lstStyle/>
          <a:p>
            <a:pPr indent="0" marL="0">
              <a:buNone/>
            </a:pPr>
            <a:r>
              <a:rPr lang="en-US" sz="1050" b="1" dirty="0">
                <a:solidFill>
                  <a:srgbClr val="0D7480"/>
                </a:solidFill>
                <a:latin typeface="Calibri" pitchFamily="34" charset="0"/>
                <a:ea typeface="Calibri" pitchFamily="34" charset="-122"/>
                <a:cs typeface="Calibri" pitchFamily="34" charset="-120"/>
              </a:rPr>
              <a:t>フロントカメラ（AI画像解析）</a:t>
            </a:r>
            <a:endParaRPr lang="en-US" sz="1050" dirty="0"/>
          </a:p>
        </p:txBody>
      </p:sp>
      <p:sp>
        <p:nvSpPr>
          <p:cNvPr id="13" name="Text 11"/>
          <p:cNvSpPr/>
          <p:nvPr/>
        </p:nvSpPr>
        <p:spPr>
          <a:xfrm>
            <a:off x="914400" y="1316736"/>
            <a:ext cx="3291840" cy="182880"/>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街路樹・落下物・損傷を自動検出</a:t>
            </a:r>
            <a:endParaRPr lang="en-US" sz="950" dirty="0"/>
          </a:p>
        </p:txBody>
      </p:sp>
      <p:sp>
        <p:nvSpPr>
          <p:cNvPr id="14" name="Shape 12"/>
          <p:cNvSpPr/>
          <p:nvPr/>
        </p:nvSpPr>
        <p:spPr>
          <a:xfrm>
            <a:off x="512064" y="1554480"/>
            <a:ext cx="310896" cy="310896"/>
          </a:xfrm>
          <a:prstGeom prst="ellipse">
            <a:avLst/>
          </a:prstGeom>
          <a:solidFill>
            <a:srgbClr val="0D7480"/>
          </a:solidFill>
          <a:ln/>
        </p:spPr>
      </p:sp>
      <p:sp>
        <p:nvSpPr>
          <p:cNvPr id="15" name="Text 13"/>
          <p:cNvSpPr/>
          <p:nvPr/>
        </p:nvSpPr>
        <p:spPr>
          <a:xfrm>
            <a:off x="512064" y="155448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震</a:t>
            </a:r>
            <a:endParaRPr lang="en-US" sz="1000" dirty="0"/>
          </a:p>
        </p:txBody>
      </p:sp>
      <p:sp>
        <p:nvSpPr>
          <p:cNvPr id="16" name="Text 14"/>
          <p:cNvSpPr/>
          <p:nvPr/>
        </p:nvSpPr>
        <p:spPr>
          <a:xfrm>
            <a:off x="914400" y="1536192"/>
            <a:ext cx="3291840" cy="182880"/>
          </a:xfrm>
          <a:prstGeom prst="rect">
            <a:avLst/>
          </a:prstGeom>
          <a:noFill/>
          <a:ln/>
        </p:spPr>
        <p:txBody>
          <a:bodyPr wrap="square" rtlCol="0" anchor="ctr"/>
          <a:lstStyle/>
          <a:p>
            <a:pPr indent="0" marL="0">
              <a:buNone/>
            </a:pPr>
            <a:r>
              <a:rPr lang="en-US" sz="1050" b="1" dirty="0">
                <a:solidFill>
                  <a:srgbClr val="0D7480"/>
                </a:solidFill>
                <a:latin typeface="Calibri" pitchFamily="34" charset="0"/>
                <a:ea typeface="Calibri" pitchFamily="34" charset="-122"/>
                <a:cs typeface="Calibri" pitchFamily="34" charset="-120"/>
              </a:rPr>
              <a:t>振動センサー</a:t>
            </a:r>
            <a:endParaRPr lang="en-US" sz="1050" dirty="0"/>
          </a:p>
        </p:txBody>
      </p:sp>
      <p:sp>
        <p:nvSpPr>
          <p:cNvPr id="17" name="Text 15"/>
          <p:cNvSpPr/>
          <p:nvPr/>
        </p:nvSpPr>
        <p:spPr>
          <a:xfrm>
            <a:off x="914400" y="1719072"/>
            <a:ext cx="3291840" cy="182880"/>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路面の凹凸・ポットホールを検知</a:t>
            </a:r>
            <a:endParaRPr lang="en-US" sz="950" dirty="0"/>
          </a:p>
        </p:txBody>
      </p:sp>
      <p:sp>
        <p:nvSpPr>
          <p:cNvPr id="18" name="Shape 16"/>
          <p:cNvSpPr/>
          <p:nvPr/>
        </p:nvSpPr>
        <p:spPr>
          <a:xfrm>
            <a:off x="512064" y="1956816"/>
            <a:ext cx="310896" cy="310896"/>
          </a:xfrm>
          <a:prstGeom prst="ellipse">
            <a:avLst/>
          </a:prstGeom>
          <a:solidFill>
            <a:srgbClr val="0D7480"/>
          </a:solidFill>
          <a:ln/>
        </p:spPr>
      </p:sp>
      <p:sp>
        <p:nvSpPr>
          <p:cNvPr id="19" name="Text 17"/>
          <p:cNvSpPr/>
          <p:nvPr/>
        </p:nvSpPr>
        <p:spPr>
          <a:xfrm>
            <a:off x="512064" y="1956816"/>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位</a:t>
            </a:r>
            <a:endParaRPr lang="en-US" sz="1000" dirty="0"/>
          </a:p>
        </p:txBody>
      </p:sp>
      <p:sp>
        <p:nvSpPr>
          <p:cNvPr id="20" name="Text 18"/>
          <p:cNvSpPr/>
          <p:nvPr/>
        </p:nvSpPr>
        <p:spPr>
          <a:xfrm>
            <a:off x="914400" y="1938528"/>
            <a:ext cx="3291840" cy="182880"/>
          </a:xfrm>
          <a:prstGeom prst="rect">
            <a:avLst/>
          </a:prstGeom>
          <a:noFill/>
          <a:ln/>
        </p:spPr>
        <p:txBody>
          <a:bodyPr wrap="square" rtlCol="0" anchor="ctr"/>
          <a:lstStyle/>
          <a:p>
            <a:pPr indent="0" marL="0">
              <a:buNone/>
            </a:pPr>
            <a:r>
              <a:rPr lang="en-US" sz="1050" b="1" dirty="0">
                <a:solidFill>
                  <a:srgbClr val="0D7480"/>
                </a:solidFill>
                <a:latin typeface="Calibri" pitchFamily="34" charset="0"/>
                <a:ea typeface="Calibri" pitchFamily="34" charset="-122"/>
                <a:cs typeface="Calibri" pitchFamily="34" charset="-120"/>
              </a:rPr>
              <a:t>GPS（既存）</a:t>
            </a:r>
            <a:endParaRPr lang="en-US" sz="1050" dirty="0"/>
          </a:p>
        </p:txBody>
      </p:sp>
      <p:sp>
        <p:nvSpPr>
          <p:cNvPr id="21" name="Text 19"/>
          <p:cNvSpPr/>
          <p:nvPr/>
        </p:nvSpPr>
        <p:spPr>
          <a:xfrm>
            <a:off x="914400" y="2121408"/>
            <a:ext cx="3291840" cy="182880"/>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走行ルート・速度・停車時間を記録</a:t>
            </a:r>
            <a:endParaRPr lang="en-US" sz="950" dirty="0"/>
          </a:p>
        </p:txBody>
      </p:sp>
      <p:sp>
        <p:nvSpPr>
          <p:cNvPr id="22" name="Shape 20"/>
          <p:cNvSpPr/>
          <p:nvPr/>
        </p:nvSpPr>
        <p:spPr>
          <a:xfrm>
            <a:off x="512064" y="2359152"/>
            <a:ext cx="310896" cy="310896"/>
          </a:xfrm>
          <a:prstGeom prst="ellipse">
            <a:avLst/>
          </a:prstGeom>
          <a:solidFill>
            <a:srgbClr val="0D7480"/>
          </a:solidFill>
          <a:ln/>
        </p:spPr>
      </p:sp>
      <p:sp>
        <p:nvSpPr>
          <p:cNvPr id="23" name="Text 21"/>
          <p:cNvSpPr/>
          <p:nvPr/>
        </p:nvSpPr>
        <p:spPr>
          <a:xfrm>
            <a:off x="512064" y="2359152"/>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通</a:t>
            </a:r>
            <a:endParaRPr lang="en-US" sz="1000" dirty="0"/>
          </a:p>
        </p:txBody>
      </p:sp>
      <p:sp>
        <p:nvSpPr>
          <p:cNvPr id="24" name="Text 22"/>
          <p:cNvSpPr/>
          <p:nvPr/>
        </p:nvSpPr>
        <p:spPr>
          <a:xfrm>
            <a:off x="914400" y="2340864"/>
            <a:ext cx="3291840" cy="182880"/>
          </a:xfrm>
          <a:prstGeom prst="rect">
            <a:avLst/>
          </a:prstGeom>
          <a:noFill/>
          <a:ln/>
        </p:spPr>
        <p:txBody>
          <a:bodyPr wrap="square" rtlCol="0" anchor="ctr"/>
          <a:lstStyle/>
          <a:p>
            <a:pPr indent="0" marL="0">
              <a:buNone/>
            </a:pPr>
            <a:r>
              <a:rPr lang="en-US" sz="1050" b="1" dirty="0">
                <a:solidFill>
                  <a:srgbClr val="0D7480"/>
                </a:solidFill>
                <a:latin typeface="Calibri" pitchFamily="34" charset="0"/>
                <a:ea typeface="Calibri" pitchFamily="34" charset="-122"/>
                <a:cs typeface="Calibri" pitchFamily="34" charset="-120"/>
              </a:rPr>
              <a:t>LTE通信モジュール</a:t>
            </a:r>
            <a:endParaRPr lang="en-US" sz="1050" dirty="0"/>
          </a:p>
        </p:txBody>
      </p:sp>
      <p:sp>
        <p:nvSpPr>
          <p:cNvPr id="25" name="Text 23"/>
          <p:cNvSpPr/>
          <p:nvPr/>
        </p:nvSpPr>
        <p:spPr>
          <a:xfrm>
            <a:off x="914400" y="2523744"/>
            <a:ext cx="3291840" cy="182880"/>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検知イベントをリアルタイム送信</a:t>
            </a:r>
            <a:endParaRPr lang="en-US" sz="950" dirty="0"/>
          </a:p>
        </p:txBody>
      </p:sp>
      <p:sp>
        <p:nvSpPr>
          <p:cNvPr id="26" name="Shape 24"/>
          <p:cNvSpPr/>
          <p:nvPr/>
        </p:nvSpPr>
        <p:spPr>
          <a:xfrm>
            <a:off x="4590288" y="749808"/>
            <a:ext cx="4187952" cy="274320"/>
          </a:xfrm>
          <a:prstGeom prst="rect">
            <a:avLst/>
          </a:prstGeom>
          <a:solidFill>
            <a:srgbClr val="0D7480"/>
          </a:solidFill>
          <a:ln/>
        </p:spPr>
      </p:sp>
      <p:sp>
        <p:nvSpPr>
          <p:cNvPr id="27" name="Text 25"/>
          <p:cNvSpPr/>
          <p:nvPr/>
        </p:nvSpPr>
        <p:spPr>
          <a:xfrm>
            <a:off x="4590288" y="749808"/>
            <a:ext cx="4187952"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検知対象データ × 活用用途</a:t>
            </a:r>
            <a:endParaRPr lang="en-US" sz="900" dirty="0"/>
          </a:p>
        </p:txBody>
      </p:sp>
      <p:sp>
        <p:nvSpPr>
          <p:cNvPr id="28" name="Shape 26"/>
          <p:cNvSpPr/>
          <p:nvPr/>
        </p:nvSpPr>
        <p:spPr>
          <a:xfrm>
            <a:off x="4590288" y="1078992"/>
            <a:ext cx="4187952" cy="365760"/>
          </a:xfrm>
          <a:prstGeom prst="rect">
            <a:avLst/>
          </a:prstGeom>
          <a:solidFill>
            <a:srgbClr val="F3F3F3"/>
          </a:solidFill>
          <a:ln w="9525">
            <a:solidFill>
              <a:srgbClr val="CCCCCC"/>
            </a:solidFill>
            <a:prstDash val="solid"/>
          </a:ln>
        </p:spPr>
      </p:sp>
      <p:sp>
        <p:nvSpPr>
          <p:cNvPr id="29" name="Shape 27"/>
          <p:cNvSpPr/>
          <p:nvPr/>
        </p:nvSpPr>
        <p:spPr>
          <a:xfrm>
            <a:off x="4590288" y="1078992"/>
            <a:ext cx="54864" cy="365760"/>
          </a:xfrm>
          <a:prstGeom prst="rect">
            <a:avLst/>
          </a:prstGeom>
          <a:solidFill>
            <a:srgbClr val="0D7480"/>
          </a:solidFill>
          <a:ln/>
        </p:spPr>
      </p:sp>
      <p:sp>
        <p:nvSpPr>
          <p:cNvPr id="30" name="Text 28"/>
          <p:cNvSpPr/>
          <p:nvPr/>
        </p:nvSpPr>
        <p:spPr>
          <a:xfrm>
            <a:off x="4700016" y="1097280"/>
            <a:ext cx="1828800" cy="164592"/>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街路樹の傾き・損傷</a:t>
            </a:r>
            <a:endParaRPr lang="en-US" sz="1050" dirty="0"/>
          </a:p>
        </p:txBody>
      </p:sp>
      <p:sp>
        <p:nvSpPr>
          <p:cNvPr id="31" name="Text 29"/>
          <p:cNvSpPr/>
          <p:nvPr/>
        </p:nvSpPr>
        <p:spPr>
          <a:xfrm>
            <a:off x="4700016" y="1271016"/>
            <a:ext cx="3986784" cy="164592"/>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自治体の樹木管理業務に代替</a:t>
            </a:r>
            <a:endParaRPr lang="en-US" sz="1000" dirty="0"/>
          </a:p>
        </p:txBody>
      </p:sp>
      <p:sp>
        <p:nvSpPr>
          <p:cNvPr id="32" name="Shape 30"/>
          <p:cNvSpPr/>
          <p:nvPr/>
        </p:nvSpPr>
        <p:spPr>
          <a:xfrm>
            <a:off x="4590288" y="1472184"/>
            <a:ext cx="4187952" cy="365760"/>
          </a:xfrm>
          <a:prstGeom prst="rect">
            <a:avLst/>
          </a:prstGeom>
          <a:solidFill>
            <a:srgbClr val="FFFFFF"/>
          </a:solidFill>
          <a:ln w="9525">
            <a:solidFill>
              <a:srgbClr val="CCCCCC"/>
            </a:solidFill>
            <a:prstDash val="solid"/>
          </a:ln>
        </p:spPr>
      </p:sp>
      <p:sp>
        <p:nvSpPr>
          <p:cNvPr id="33" name="Shape 31"/>
          <p:cNvSpPr/>
          <p:nvPr/>
        </p:nvSpPr>
        <p:spPr>
          <a:xfrm>
            <a:off x="4590288" y="1472184"/>
            <a:ext cx="54864" cy="365760"/>
          </a:xfrm>
          <a:prstGeom prst="rect">
            <a:avLst/>
          </a:prstGeom>
          <a:solidFill>
            <a:srgbClr val="DD7E6B"/>
          </a:solidFill>
          <a:ln/>
        </p:spPr>
      </p:sp>
      <p:sp>
        <p:nvSpPr>
          <p:cNvPr id="34" name="Text 32"/>
          <p:cNvSpPr/>
          <p:nvPr/>
        </p:nvSpPr>
        <p:spPr>
          <a:xfrm>
            <a:off x="4700016" y="1490472"/>
            <a:ext cx="1828800" cy="164592"/>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落下物・不法投棄</a:t>
            </a:r>
            <a:endParaRPr lang="en-US" sz="1050" dirty="0"/>
          </a:p>
        </p:txBody>
      </p:sp>
      <p:sp>
        <p:nvSpPr>
          <p:cNvPr id="35" name="Text 33"/>
          <p:cNvSpPr/>
          <p:nvPr/>
        </p:nvSpPr>
        <p:spPr>
          <a:xfrm>
            <a:off x="4700016" y="1664208"/>
            <a:ext cx="3986784" cy="164592"/>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即時通報システムとして提供</a:t>
            </a:r>
            <a:endParaRPr lang="en-US" sz="1000" dirty="0"/>
          </a:p>
        </p:txBody>
      </p:sp>
      <p:sp>
        <p:nvSpPr>
          <p:cNvPr id="36" name="Shape 34"/>
          <p:cNvSpPr/>
          <p:nvPr/>
        </p:nvSpPr>
        <p:spPr>
          <a:xfrm>
            <a:off x="4590288" y="1865376"/>
            <a:ext cx="4187952" cy="365760"/>
          </a:xfrm>
          <a:prstGeom prst="rect">
            <a:avLst/>
          </a:prstGeom>
          <a:solidFill>
            <a:srgbClr val="F3F3F3"/>
          </a:solidFill>
          <a:ln w="9525">
            <a:solidFill>
              <a:srgbClr val="CCCCCC"/>
            </a:solidFill>
            <a:prstDash val="solid"/>
          </a:ln>
        </p:spPr>
      </p:sp>
      <p:sp>
        <p:nvSpPr>
          <p:cNvPr id="37" name="Shape 35"/>
          <p:cNvSpPr/>
          <p:nvPr/>
        </p:nvSpPr>
        <p:spPr>
          <a:xfrm>
            <a:off x="4590288" y="1865376"/>
            <a:ext cx="54864" cy="365760"/>
          </a:xfrm>
          <a:prstGeom prst="rect">
            <a:avLst/>
          </a:prstGeom>
          <a:solidFill>
            <a:srgbClr val="156818"/>
          </a:solidFill>
          <a:ln/>
        </p:spPr>
      </p:sp>
      <p:sp>
        <p:nvSpPr>
          <p:cNvPr id="38" name="Text 36"/>
          <p:cNvSpPr/>
          <p:nvPr/>
        </p:nvSpPr>
        <p:spPr>
          <a:xfrm>
            <a:off x="4700016" y="1883664"/>
            <a:ext cx="1828800" cy="164592"/>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道路損傷・ひび割れ</a:t>
            </a:r>
            <a:endParaRPr lang="en-US" sz="1050" dirty="0"/>
          </a:p>
        </p:txBody>
      </p:sp>
      <p:sp>
        <p:nvSpPr>
          <p:cNvPr id="39" name="Text 37"/>
          <p:cNvSpPr/>
          <p:nvPr/>
        </p:nvSpPr>
        <p:spPr>
          <a:xfrm>
            <a:off x="4700016" y="2057400"/>
            <a:ext cx="3986784" cy="164592"/>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補修優先度の客観的評価に活用</a:t>
            </a:r>
            <a:endParaRPr lang="en-US" sz="1000" dirty="0"/>
          </a:p>
        </p:txBody>
      </p:sp>
      <p:sp>
        <p:nvSpPr>
          <p:cNvPr id="40" name="Shape 38"/>
          <p:cNvSpPr/>
          <p:nvPr/>
        </p:nvSpPr>
        <p:spPr>
          <a:xfrm>
            <a:off x="4590288" y="2258568"/>
            <a:ext cx="4187952" cy="365760"/>
          </a:xfrm>
          <a:prstGeom prst="rect">
            <a:avLst/>
          </a:prstGeom>
          <a:solidFill>
            <a:srgbClr val="FFFFFF"/>
          </a:solidFill>
          <a:ln w="9525">
            <a:solidFill>
              <a:srgbClr val="CCCCCC"/>
            </a:solidFill>
            <a:prstDash val="solid"/>
          </a:ln>
        </p:spPr>
      </p:sp>
      <p:sp>
        <p:nvSpPr>
          <p:cNvPr id="41" name="Shape 39"/>
          <p:cNvSpPr/>
          <p:nvPr/>
        </p:nvSpPr>
        <p:spPr>
          <a:xfrm>
            <a:off x="4590288" y="2258568"/>
            <a:ext cx="54864" cy="365760"/>
          </a:xfrm>
          <a:prstGeom prst="rect">
            <a:avLst/>
          </a:prstGeom>
          <a:solidFill>
            <a:srgbClr val="E65100"/>
          </a:solidFill>
          <a:ln/>
        </p:spPr>
      </p:sp>
      <p:sp>
        <p:nvSpPr>
          <p:cNvPr id="42" name="Text 40"/>
          <p:cNvSpPr/>
          <p:nvPr/>
        </p:nvSpPr>
        <p:spPr>
          <a:xfrm>
            <a:off x="4700016" y="2276856"/>
            <a:ext cx="1828800" cy="164592"/>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信号・標識の劣化</a:t>
            </a:r>
            <a:endParaRPr lang="en-US" sz="1050" dirty="0"/>
          </a:p>
        </p:txBody>
      </p:sp>
      <p:sp>
        <p:nvSpPr>
          <p:cNvPr id="43" name="Text 41"/>
          <p:cNvSpPr/>
          <p:nvPr/>
        </p:nvSpPr>
        <p:spPr>
          <a:xfrm>
            <a:off x="4700016" y="2450592"/>
            <a:ext cx="3986784" cy="164592"/>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老朽化インフラの定期点検補完</a:t>
            </a:r>
            <a:endParaRPr lang="en-US" sz="1000" dirty="0"/>
          </a:p>
        </p:txBody>
      </p:sp>
      <p:sp>
        <p:nvSpPr>
          <p:cNvPr id="44" name="Shape 42"/>
          <p:cNvSpPr/>
          <p:nvPr/>
        </p:nvSpPr>
        <p:spPr>
          <a:xfrm>
            <a:off x="4590288" y="2651760"/>
            <a:ext cx="4187952" cy="365760"/>
          </a:xfrm>
          <a:prstGeom prst="rect">
            <a:avLst/>
          </a:prstGeom>
          <a:solidFill>
            <a:srgbClr val="F3F3F3"/>
          </a:solidFill>
          <a:ln w="9525">
            <a:solidFill>
              <a:srgbClr val="CCCCCC"/>
            </a:solidFill>
            <a:prstDash val="solid"/>
          </a:ln>
        </p:spPr>
      </p:sp>
      <p:sp>
        <p:nvSpPr>
          <p:cNvPr id="45" name="Shape 43"/>
          <p:cNvSpPr/>
          <p:nvPr/>
        </p:nvSpPr>
        <p:spPr>
          <a:xfrm>
            <a:off x="4590288" y="2651760"/>
            <a:ext cx="54864" cy="365760"/>
          </a:xfrm>
          <a:prstGeom prst="rect">
            <a:avLst/>
          </a:prstGeom>
          <a:solidFill>
            <a:srgbClr val="1E3461"/>
          </a:solidFill>
          <a:ln/>
        </p:spPr>
      </p:sp>
      <p:sp>
        <p:nvSpPr>
          <p:cNvPr id="46" name="Text 44"/>
          <p:cNvSpPr/>
          <p:nvPr/>
        </p:nvSpPr>
        <p:spPr>
          <a:xfrm>
            <a:off x="4700016" y="2670048"/>
            <a:ext cx="1828800" cy="164592"/>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交通量・渋滞パターン</a:t>
            </a:r>
            <a:endParaRPr lang="en-US" sz="1050" dirty="0"/>
          </a:p>
        </p:txBody>
      </p:sp>
      <p:sp>
        <p:nvSpPr>
          <p:cNvPr id="47" name="Text 45"/>
          <p:cNvSpPr/>
          <p:nvPr/>
        </p:nvSpPr>
        <p:spPr>
          <a:xfrm>
            <a:off x="4700016" y="2843784"/>
            <a:ext cx="3986784" cy="164592"/>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都市計画・交通政策の基礎データ</a:t>
            </a:r>
            <a:endParaRPr lang="en-US" sz="1000" dirty="0"/>
          </a:p>
        </p:txBody>
      </p:sp>
      <p:sp>
        <p:nvSpPr>
          <p:cNvPr id="48" name="Shape 46"/>
          <p:cNvSpPr/>
          <p:nvPr/>
        </p:nvSpPr>
        <p:spPr>
          <a:xfrm>
            <a:off x="365760" y="2834640"/>
            <a:ext cx="4041648" cy="1609344"/>
          </a:xfrm>
          <a:prstGeom prst="rect">
            <a:avLst/>
          </a:prstGeom>
          <a:solidFill>
            <a:srgbClr val="F3F3F3"/>
          </a:solidFill>
          <a:ln w="9525">
            <a:solidFill>
              <a:srgbClr val="CCCCCC"/>
            </a:solidFill>
            <a:prstDash val="solid"/>
          </a:ln>
        </p:spPr>
      </p:sp>
      <p:sp>
        <p:nvSpPr>
          <p:cNvPr id="49" name="Shape 47"/>
          <p:cNvSpPr/>
          <p:nvPr/>
        </p:nvSpPr>
        <p:spPr>
          <a:xfrm>
            <a:off x="365760" y="2834640"/>
            <a:ext cx="4041648" cy="274320"/>
          </a:xfrm>
          <a:prstGeom prst="rect">
            <a:avLst/>
          </a:prstGeom>
          <a:solidFill>
            <a:srgbClr val="0D7480"/>
          </a:solidFill>
          <a:ln/>
        </p:spPr>
      </p:sp>
      <p:sp>
        <p:nvSpPr>
          <p:cNvPr id="50" name="Text 48"/>
          <p:cNvSpPr/>
          <p:nvPr/>
        </p:nvSpPr>
        <p:spPr>
          <a:xfrm>
            <a:off x="365760" y="2834640"/>
            <a:ext cx="4041648"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顧客セグメント</a:t>
            </a:r>
            <a:endParaRPr lang="en-US" sz="900" dirty="0"/>
          </a:p>
        </p:txBody>
      </p:sp>
      <p:sp>
        <p:nvSpPr>
          <p:cNvPr id="51" name="Shape 49"/>
          <p:cNvSpPr/>
          <p:nvPr/>
        </p:nvSpPr>
        <p:spPr>
          <a:xfrm>
            <a:off x="512064" y="3218688"/>
            <a:ext cx="118872" cy="118872"/>
          </a:xfrm>
          <a:prstGeom prst="ellipse">
            <a:avLst/>
          </a:prstGeom>
          <a:solidFill>
            <a:srgbClr val="0D7480"/>
          </a:solidFill>
          <a:ln/>
        </p:spPr>
      </p:sp>
      <p:sp>
        <p:nvSpPr>
          <p:cNvPr id="52" name="Text 50"/>
          <p:cNvSpPr/>
          <p:nvPr/>
        </p:nvSpPr>
        <p:spPr>
          <a:xfrm>
            <a:off x="713232" y="3172968"/>
            <a:ext cx="3657600" cy="182880"/>
          </a:xfrm>
          <a:prstGeom prst="rect">
            <a:avLst/>
          </a:prstGeom>
          <a:noFill/>
          <a:ln/>
        </p:spPr>
        <p:txBody>
          <a:bodyPr wrap="square" rtlCol="0" anchor="ctr"/>
          <a:lstStyle/>
          <a:p>
            <a:pPr indent="0" marL="0">
              <a:buNone/>
            </a:pPr>
            <a:r>
              <a:rPr lang="en-US" sz="1100" b="1" dirty="0">
                <a:solidFill>
                  <a:srgbClr val="0D7480"/>
                </a:solidFill>
                <a:latin typeface="Calibri" pitchFamily="34" charset="0"/>
                <a:ea typeface="Calibri" pitchFamily="34" charset="-122"/>
                <a:cs typeface="Calibri" pitchFamily="34" charset="-120"/>
              </a:rPr>
              <a:t>自治体（川崎市・横浜市等）</a:t>
            </a:r>
            <a:endParaRPr lang="en-US" sz="1100" dirty="0"/>
          </a:p>
        </p:txBody>
      </p:sp>
      <p:sp>
        <p:nvSpPr>
          <p:cNvPr id="53" name="Text 51"/>
          <p:cNvSpPr/>
          <p:nvPr/>
        </p:nvSpPr>
        <p:spPr>
          <a:xfrm>
            <a:off x="713232" y="3355848"/>
            <a:ext cx="3657600" cy="18288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インフラ管理部門。定額月次契約。</a:t>
            </a:r>
            <a:endParaRPr lang="en-US" sz="1000" dirty="0"/>
          </a:p>
        </p:txBody>
      </p:sp>
      <p:sp>
        <p:nvSpPr>
          <p:cNvPr id="54" name="Shape 52"/>
          <p:cNvSpPr/>
          <p:nvPr/>
        </p:nvSpPr>
        <p:spPr>
          <a:xfrm>
            <a:off x="512064" y="3621024"/>
            <a:ext cx="118872" cy="118872"/>
          </a:xfrm>
          <a:prstGeom prst="ellipse">
            <a:avLst/>
          </a:prstGeom>
          <a:solidFill>
            <a:srgbClr val="0D7480"/>
          </a:solidFill>
          <a:ln/>
        </p:spPr>
      </p:sp>
      <p:sp>
        <p:nvSpPr>
          <p:cNvPr id="55" name="Text 53"/>
          <p:cNvSpPr/>
          <p:nvPr/>
        </p:nvSpPr>
        <p:spPr>
          <a:xfrm>
            <a:off x="713232" y="3575304"/>
            <a:ext cx="3657600" cy="182880"/>
          </a:xfrm>
          <a:prstGeom prst="rect">
            <a:avLst/>
          </a:prstGeom>
          <a:noFill/>
          <a:ln/>
        </p:spPr>
        <p:txBody>
          <a:bodyPr wrap="square" rtlCol="0" anchor="ctr"/>
          <a:lstStyle/>
          <a:p>
            <a:pPr indent="0" marL="0">
              <a:buNone/>
            </a:pPr>
            <a:r>
              <a:rPr lang="en-US" sz="1100" b="1" dirty="0">
                <a:solidFill>
                  <a:srgbClr val="0D7480"/>
                </a:solidFill>
                <a:latin typeface="Calibri" pitchFamily="34" charset="0"/>
                <a:ea typeface="Calibri" pitchFamily="34" charset="-122"/>
                <a:cs typeface="Calibri" pitchFamily="34" charset="-120"/>
              </a:rPr>
              <a:t>道路維持管理会社</a:t>
            </a:r>
            <a:endParaRPr lang="en-US" sz="1100" dirty="0"/>
          </a:p>
        </p:txBody>
      </p:sp>
      <p:sp>
        <p:nvSpPr>
          <p:cNvPr id="56" name="Text 54"/>
          <p:cNvSpPr/>
          <p:nvPr/>
        </p:nvSpPr>
        <p:spPr>
          <a:xfrm>
            <a:off x="713232" y="3758184"/>
            <a:ext cx="3657600" cy="18288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データを活用した受注提案のツールとして。</a:t>
            </a:r>
            <a:endParaRPr lang="en-US" sz="1000" dirty="0"/>
          </a:p>
        </p:txBody>
      </p:sp>
      <p:sp>
        <p:nvSpPr>
          <p:cNvPr id="57" name="Shape 55"/>
          <p:cNvSpPr/>
          <p:nvPr/>
        </p:nvSpPr>
        <p:spPr>
          <a:xfrm>
            <a:off x="512064" y="4023360"/>
            <a:ext cx="118872" cy="118872"/>
          </a:xfrm>
          <a:prstGeom prst="ellipse">
            <a:avLst/>
          </a:prstGeom>
          <a:solidFill>
            <a:srgbClr val="0D7480"/>
          </a:solidFill>
          <a:ln/>
        </p:spPr>
      </p:sp>
      <p:sp>
        <p:nvSpPr>
          <p:cNvPr id="58" name="Text 56"/>
          <p:cNvSpPr/>
          <p:nvPr/>
        </p:nvSpPr>
        <p:spPr>
          <a:xfrm>
            <a:off x="713232" y="3977640"/>
            <a:ext cx="3657600" cy="182880"/>
          </a:xfrm>
          <a:prstGeom prst="rect">
            <a:avLst/>
          </a:prstGeom>
          <a:noFill/>
          <a:ln/>
        </p:spPr>
        <p:txBody>
          <a:bodyPr wrap="square" rtlCol="0" anchor="ctr"/>
          <a:lstStyle/>
          <a:p>
            <a:pPr indent="0" marL="0">
              <a:buNone/>
            </a:pPr>
            <a:r>
              <a:rPr lang="en-US" sz="1100" b="1" dirty="0">
                <a:solidFill>
                  <a:srgbClr val="0D7480"/>
                </a:solidFill>
                <a:latin typeface="Calibri" pitchFamily="34" charset="0"/>
                <a:ea typeface="Calibri" pitchFamily="34" charset="-122"/>
                <a:cs typeface="Calibri" pitchFamily="34" charset="-120"/>
              </a:rPr>
              <a:t>損害保険会社</a:t>
            </a:r>
            <a:endParaRPr lang="en-US" sz="1100" dirty="0"/>
          </a:p>
        </p:txBody>
      </p:sp>
      <p:sp>
        <p:nvSpPr>
          <p:cNvPr id="59" name="Text 57"/>
          <p:cNvSpPr/>
          <p:nvPr/>
        </p:nvSpPr>
        <p:spPr>
          <a:xfrm>
            <a:off x="713232" y="4160520"/>
            <a:ext cx="3657600" cy="18288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道路リスクマップの構築・料率算定に活用。</a:t>
            </a:r>
            <a:endParaRPr lang="en-US" sz="1000" dirty="0"/>
          </a:p>
        </p:txBody>
      </p:sp>
      <p:sp>
        <p:nvSpPr>
          <p:cNvPr id="60" name="Shape 58"/>
          <p:cNvSpPr/>
          <p:nvPr/>
        </p:nvSpPr>
        <p:spPr>
          <a:xfrm>
            <a:off x="4590288" y="3108960"/>
            <a:ext cx="4187952" cy="1371600"/>
          </a:xfrm>
          <a:prstGeom prst="rect">
            <a:avLst/>
          </a:prstGeom>
          <a:solidFill>
            <a:srgbClr val="D0EFEF"/>
          </a:solidFill>
          <a:ln w="9525">
            <a:solidFill>
              <a:srgbClr val="CCCCCC"/>
            </a:solidFill>
            <a:prstDash val="solid"/>
          </a:ln>
        </p:spPr>
      </p:sp>
      <p:sp>
        <p:nvSpPr>
          <p:cNvPr id="61" name="Shape 59"/>
          <p:cNvSpPr/>
          <p:nvPr/>
        </p:nvSpPr>
        <p:spPr>
          <a:xfrm>
            <a:off x="4590288" y="3108960"/>
            <a:ext cx="4187952" cy="274320"/>
          </a:xfrm>
          <a:prstGeom prst="rect">
            <a:avLst/>
          </a:prstGeom>
          <a:solidFill>
            <a:srgbClr val="0D7480"/>
          </a:solidFill>
          <a:ln/>
        </p:spPr>
      </p:sp>
      <p:sp>
        <p:nvSpPr>
          <p:cNvPr id="62" name="Text 60"/>
          <p:cNvSpPr/>
          <p:nvPr/>
        </p:nvSpPr>
        <p:spPr>
          <a:xfrm>
            <a:off x="4590288" y="3108960"/>
            <a:ext cx="4187952"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コスト試算（センサー搭載）</a:t>
            </a:r>
            <a:endParaRPr lang="en-US" sz="900" dirty="0"/>
          </a:p>
        </p:txBody>
      </p:sp>
      <p:sp>
        <p:nvSpPr>
          <p:cNvPr id="63" name="Shape 61"/>
          <p:cNvSpPr/>
          <p:nvPr/>
        </p:nvSpPr>
        <p:spPr>
          <a:xfrm>
            <a:off x="4736592" y="3474720"/>
            <a:ext cx="118872" cy="118872"/>
          </a:xfrm>
          <a:prstGeom prst="ellipse">
            <a:avLst/>
          </a:prstGeom>
          <a:solidFill>
            <a:srgbClr val="0D7480"/>
          </a:solidFill>
          <a:ln/>
        </p:spPr>
      </p:sp>
      <p:sp>
        <p:nvSpPr>
          <p:cNvPr id="64" name="Text 62"/>
          <p:cNvSpPr/>
          <p:nvPr/>
        </p:nvSpPr>
        <p:spPr>
          <a:xfrm>
            <a:off x="4937760" y="3456432"/>
            <a:ext cx="2011680" cy="24688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AIカメラ+センサー（1台）</a:t>
            </a:r>
            <a:endParaRPr lang="en-US" sz="1000" dirty="0"/>
          </a:p>
        </p:txBody>
      </p:sp>
      <p:sp>
        <p:nvSpPr>
          <p:cNvPr id="65" name="Text 63"/>
          <p:cNvSpPr/>
          <p:nvPr/>
        </p:nvSpPr>
        <p:spPr>
          <a:xfrm>
            <a:off x="7004304" y="3456432"/>
            <a:ext cx="1719072" cy="246888"/>
          </a:xfrm>
          <a:prstGeom prst="rect">
            <a:avLst/>
          </a:prstGeom>
          <a:noFill/>
          <a:ln/>
        </p:spPr>
        <p:txBody>
          <a:bodyPr wrap="square" rtlCol="0" anchor="ctr"/>
          <a:lstStyle/>
          <a:p>
            <a:pPr algn="r" indent="0" marL="0">
              <a:buNone/>
            </a:pPr>
            <a:r>
              <a:rPr lang="en-US" sz="1000" b="1" dirty="0">
                <a:solidFill>
                  <a:srgbClr val="0D7480"/>
                </a:solidFill>
                <a:latin typeface="Calibri" pitchFamily="34" charset="0"/>
                <a:ea typeface="Calibri" pitchFamily="34" charset="-122"/>
                <a:cs typeface="Calibri" pitchFamily="34" charset="-120"/>
              </a:rPr>
              <a:t>5〜8万円</a:t>
            </a:r>
            <a:endParaRPr lang="en-US" sz="1000" dirty="0"/>
          </a:p>
        </p:txBody>
      </p:sp>
      <p:sp>
        <p:nvSpPr>
          <p:cNvPr id="66" name="Shape 64"/>
          <p:cNvSpPr/>
          <p:nvPr/>
        </p:nvSpPr>
        <p:spPr>
          <a:xfrm>
            <a:off x="4736592" y="3739896"/>
            <a:ext cx="118872" cy="118872"/>
          </a:xfrm>
          <a:prstGeom prst="ellipse">
            <a:avLst/>
          </a:prstGeom>
          <a:solidFill>
            <a:srgbClr val="0D7480"/>
          </a:solidFill>
          <a:ln/>
        </p:spPr>
      </p:sp>
      <p:sp>
        <p:nvSpPr>
          <p:cNvPr id="67" name="Text 65"/>
          <p:cNvSpPr/>
          <p:nvPr/>
        </p:nvSpPr>
        <p:spPr>
          <a:xfrm>
            <a:off x="4937760" y="3721608"/>
            <a:ext cx="2011680" cy="24688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初期搭載（3台 PoC）</a:t>
            </a:r>
            <a:endParaRPr lang="en-US" sz="1000" dirty="0"/>
          </a:p>
        </p:txBody>
      </p:sp>
      <p:sp>
        <p:nvSpPr>
          <p:cNvPr id="68" name="Text 66"/>
          <p:cNvSpPr/>
          <p:nvPr/>
        </p:nvSpPr>
        <p:spPr>
          <a:xfrm>
            <a:off x="7004304" y="3721608"/>
            <a:ext cx="1719072" cy="246888"/>
          </a:xfrm>
          <a:prstGeom prst="rect">
            <a:avLst/>
          </a:prstGeom>
          <a:noFill/>
          <a:ln/>
        </p:spPr>
        <p:txBody>
          <a:bodyPr wrap="square" rtlCol="0" anchor="ctr"/>
          <a:lstStyle/>
          <a:p>
            <a:pPr algn="r" indent="0" marL="0">
              <a:buNone/>
            </a:pPr>
            <a:r>
              <a:rPr lang="en-US" sz="1000" b="1" dirty="0">
                <a:solidFill>
                  <a:srgbClr val="0D7480"/>
                </a:solidFill>
                <a:latin typeface="Calibri" pitchFamily="34" charset="0"/>
                <a:ea typeface="Calibri" pitchFamily="34" charset="-122"/>
                <a:cs typeface="Calibri" pitchFamily="34" charset="-120"/>
              </a:rPr>
              <a:t>15〜25万円</a:t>
            </a:r>
            <a:endParaRPr lang="en-US" sz="1000" dirty="0"/>
          </a:p>
        </p:txBody>
      </p:sp>
      <p:sp>
        <p:nvSpPr>
          <p:cNvPr id="69" name="Shape 67"/>
          <p:cNvSpPr/>
          <p:nvPr/>
        </p:nvSpPr>
        <p:spPr>
          <a:xfrm>
            <a:off x="4736592" y="4005072"/>
            <a:ext cx="118872" cy="118872"/>
          </a:xfrm>
          <a:prstGeom prst="ellipse">
            <a:avLst/>
          </a:prstGeom>
          <a:solidFill>
            <a:srgbClr val="0D7480"/>
          </a:solidFill>
          <a:ln/>
        </p:spPr>
      </p:sp>
      <p:sp>
        <p:nvSpPr>
          <p:cNvPr id="70" name="Text 68"/>
          <p:cNvSpPr/>
          <p:nvPr/>
        </p:nvSpPr>
        <p:spPr>
          <a:xfrm>
            <a:off x="4937760" y="3986784"/>
            <a:ext cx="2011680" cy="24688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全台搭載（200台）</a:t>
            </a:r>
            <a:endParaRPr lang="en-US" sz="1000" dirty="0"/>
          </a:p>
        </p:txBody>
      </p:sp>
      <p:sp>
        <p:nvSpPr>
          <p:cNvPr id="71" name="Text 69"/>
          <p:cNvSpPr/>
          <p:nvPr/>
        </p:nvSpPr>
        <p:spPr>
          <a:xfrm>
            <a:off x="7004304" y="3986784"/>
            <a:ext cx="1719072" cy="246888"/>
          </a:xfrm>
          <a:prstGeom prst="rect">
            <a:avLst/>
          </a:prstGeom>
          <a:noFill/>
          <a:ln/>
        </p:spPr>
        <p:txBody>
          <a:bodyPr wrap="square" rtlCol="0" anchor="ctr"/>
          <a:lstStyle/>
          <a:p>
            <a:pPr algn="r" indent="0" marL="0">
              <a:buNone/>
            </a:pPr>
            <a:r>
              <a:rPr lang="en-US" sz="1000" b="1" dirty="0">
                <a:solidFill>
                  <a:srgbClr val="0D7480"/>
                </a:solidFill>
                <a:latin typeface="Calibri" pitchFamily="34" charset="0"/>
                <a:ea typeface="Calibri" pitchFamily="34" charset="-122"/>
                <a:cs typeface="Calibri" pitchFamily="34" charset="-120"/>
              </a:rPr>
              <a:t>〜1,600万円</a:t>
            </a:r>
            <a:endParaRPr lang="en-US" sz="1000" dirty="0"/>
          </a:p>
        </p:txBody>
      </p:sp>
      <p:sp>
        <p:nvSpPr>
          <p:cNvPr id="72" name="Shape 70"/>
          <p:cNvSpPr/>
          <p:nvPr/>
        </p:nvSpPr>
        <p:spPr>
          <a:xfrm>
            <a:off x="4736592" y="4270248"/>
            <a:ext cx="118872" cy="118872"/>
          </a:xfrm>
          <a:prstGeom prst="ellipse">
            <a:avLst/>
          </a:prstGeom>
          <a:solidFill>
            <a:srgbClr val="0D7480"/>
          </a:solidFill>
          <a:ln/>
        </p:spPr>
      </p:sp>
      <p:sp>
        <p:nvSpPr>
          <p:cNvPr id="73" name="Text 71"/>
          <p:cNvSpPr/>
          <p:nvPr/>
        </p:nvSpPr>
        <p:spPr>
          <a:xfrm>
            <a:off x="4937760" y="4251960"/>
            <a:ext cx="2011680" cy="246888"/>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クラウド解析費（月次）</a:t>
            </a:r>
            <a:endParaRPr lang="en-US" sz="1000" dirty="0"/>
          </a:p>
        </p:txBody>
      </p:sp>
      <p:sp>
        <p:nvSpPr>
          <p:cNvPr id="74" name="Text 72"/>
          <p:cNvSpPr/>
          <p:nvPr/>
        </p:nvSpPr>
        <p:spPr>
          <a:xfrm>
            <a:off x="7004304" y="4251960"/>
            <a:ext cx="1719072" cy="246888"/>
          </a:xfrm>
          <a:prstGeom prst="rect">
            <a:avLst/>
          </a:prstGeom>
          <a:noFill/>
          <a:ln/>
        </p:spPr>
        <p:txBody>
          <a:bodyPr wrap="square" rtlCol="0" anchor="ctr"/>
          <a:lstStyle/>
          <a:p>
            <a:pPr algn="r" indent="0" marL="0">
              <a:buNone/>
            </a:pPr>
            <a:r>
              <a:rPr lang="en-US" sz="1000" b="1" dirty="0">
                <a:solidFill>
                  <a:srgbClr val="0D7480"/>
                </a:solidFill>
                <a:latin typeface="Calibri" pitchFamily="34" charset="0"/>
                <a:ea typeface="Calibri" pitchFamily="34" charset="-122"/>
                <a:cs typeface="Calibri" pitchFamily="34" charset="-120"/>
              </a:rPr>
              <a:t>10〜30万円/月</a:t>
            </a:r>
            <a:endParaRPr lang="en-US" sz="1000" dirty="0"/>
          </a:p>
        </p:txBody>
      </p:sp>
      <p:sp>
        <p:nvSpPr>
          <p:cNvPr id="75" name="Shape 73"/>
          <p:cNvSpPr/>
          <p:nvPr/>
        </p:nvSpPr>
        <p:spPr>
          <a:xfrm>
            <a:off x="365760" y="4535424"/>
            <a:ext cx="8412480" cy="420624"/>
          </a:xfrm>
          <a:prstGeom prst="rect">
            <a:avLst/>
          </a:prstGeom>
          <a:solidFill>
            <a:srgbClr val="DD7E6B"/>
          </a:solidFill>
          <a:ln/>
        </p:spPr>
      </p:sp>
      <p:sp>
        <p:nvSpPr>
          <p:cNvPr id="76" name="Text 74"/>
          <p:cNvSpPr/>
          <p:nvPr/>
        </p:nvSpPr>
        <p:spPr>
          <a:xfrm>
            <a:off x="365760" y="4535424"/>
            <a:ext cx="8412480" cy="42062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まず3〜5台で精度・費用対効果を検証（PoC）→ 自治体との実証契約を経て全台展開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4</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競合優位性・参入障壁</a:t>
            </a:r>
            <a:endParaRPr lang="en-US" sz="1600" dirty="0"/>
          </a:p>
        </p:txBody>
      </p:sp>
      <p:sp>
        <p:nvSpPr>
          <p:cNvPr id="7" name="Shape 5"/>
          <p:cNvSpPr/>
          <p:nvPr/>
        </p:nvSpPr>
        <p:spPr>
          <a:xfrm>
            <a:off x="365760" y="749808"/>
            <a:ext cx="8412480" cy="292608"/>
          </a:xfrm>
          <a:prstGeom prst="rect">
            <a:avLst/>
          </a:prstGeom>
          <a:solidFill>
            <a:srgbClr val="DD7E6B"/>
          </a:solidFill>
          <a:ln/>
        </p:spPr>
      </p:sp>
      <p:sp>
        <p:nvSpPr>
          <p:cNvPr id="8" name="Text 6"/>
          <p:cNvSpPr/>
          <p:nvPr/>
        </p:nvSpPr>
        <p:spPr>
          <a:xfrm>
            <a:off x="365760" y="749808"/>
            <a:ext cx="841248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サキュレにしかできない理由</a:t>
            </a:r>
            <a:endParaRPr lang="en-US" sz="900" dirty="0"/>
          </a:p>
        </p:txBody>
      </p:sp>
      <p:sp>
        <p:nvSpPr>
          <p:cNvPr id="9" name="Shape 7"/>
          <p:cNvSpPr/>
          <p:nvPr/>
        </p:nvSpPr>
        <p:spPr>
          <a:xfrm>
            <a:off x="365760" y="1152144"/>
            <a:ext cx="4160520" cy="1572768"/>
          </a:xfrm>
          <a:prstGeom prst="rect">
            <a:avLst/>
          </a:prstGeom>
          <a:solidFill>
            <a:srgbClr val="FFFFFF"/>
          </a:solidFill>
          <a:ln w="9525">
            <a:solidFill>
              <a:srgbClr val="CCCCCC"/>
            </a:solidFill>
            <a:prstDash val="solid"/>
          </a:ln>
        </p:spPr>
      </p:sp>
      <p:sp>
        <p:nvSpPr>
          <p:cNvPr id="10" name="Shape 8"/>
          <p:cNvSpPr/>
          <p:nvPr/>
        </p:nvSpPr>
        <p:spPr>
          <a:xfrm>
            <a:off x="365760" y="1152144"/>
            <a:ext cx="54864" cy="1572768"/>
          </a:xfrm>
          <a:prstGeom prst="rect">
            <a:avLst/>
          </a:prstGeom>
          <a:solidFill>
            <a:srgbClr val="156818"/>
          </a:solidFill>
          <a:ln/>
        </p:spPr>
      </p:sp>
      <p:sp>
        <p:nvSpPr>
          <p:cNvPr id="11" name="Shape 9"/>
          <p:cNvSpPr/>
          <p:nvPr/>
        </p:nvSpPr>
        <p:spPr>
          <a:xfrm>
            <a:off x="530352" y="1682496"/>
            <a:ext cx="438912" cy="438912"/>
          </a:xfrm>
          <a:prstGeom prst="ellipse">
            <a:avLst/>
          </a:prstGeom>
          <a:solidFill>
            <a:srgbClr val="156818"/>
          </a:solidFill>
          <a:ln/>
        </p:spPr>
      </p:sp>
      <p:sp>
        <p:nvSpPr>
          <p:cNvPr id="12" name="Text 10"/>
          <p:cNvSpPr/>
          <p:nvPr/>
        </p:nvSpPr>
        <p:spPr>
          <a:xfrm>
            <a:off x="530352" y="1682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078992" y="1280160"/>
            <a:ext cx="3346704" cy="34747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収集コスト = ほぼゼロ</a:t>
            </a:r>
            <a:endParaRPr lang="en-US" sz="1300" dirty="0"/>
          </a:p>
        </p:txBody>
      </p:sp>
      <p:sp>
        <p:nvSpPr>
          <p:cNvPr id="14" name="Shape 12"/>
          <p:cNvSpPr/>
          <p:nvPr/>
        </p:nvSpPr>
        <p:spPr>
          <a:xfrm>
            <a:off x="1078992" y="1682496"/>
            <a:ext cx="3108960" cy="0"/>
          </a:xfrm>
          <a:prstGeom prst="line">
            <a:avLst/>
          </a:prstGeom>
          <a:noFill/>
          <a:ln w="6350">
            <a:solidFill>
              <a:srgbClr val="CCCCCC"/>
            </a:solidFill>
            <a:prstDash val="solid"/>
          </a:ln>
        </p:spPr>
      </p:sp>
      <p:sp>
        <p:nvSpPr>
          <p:cNvPr id="15" name="Text 13"/>
          <p:cNvSpPr/>
          <p:nvPr/>
        </p:nvSpPr>
        <p:spPr>
          <a:xfrm>
            <a:off x="1078992" y="1773936"/>
            <a:ext cx="3346704" cy="877824"/>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廃棄物収集業務の副産物としてデータが発生する。専用要員・専用車両は不要。既存業務を行うだけでデータが蓄積される。</a:t>
            </a:r>
            <a:endParaRPr lang="en-US" sz="1100" dirty="0"/>
          </a:p>
        </p:txBody>
      </p:sp>
      <p:sp>
        <p:nvSpPr>
          <p:cNvPr id="16" name="Shape 14"/>
          <p:cNvSpPr/>
          <p:nvPr/>
        </p:nvSpPr>
        <p:spPr>
          <a:xfrm>
            <a:off x="365760" y="2852928"/>
            <a:ext cx="4160520" cy="1572768"/>
          </a:xfrm>
          <a:prstGeom prst="rect">
            <a:avLst/>
          </a:prstGeom>
          <a:solidFill>
            <a:srgbClr val="FFFFFF"/>
          </a:solidFill>
          <a:ln w="9525">
            <a:solidFill>
              <a:srgbClr val="CCCCCC"/>
            </a:solidFill>
            <a:prstDash val="solid"/>
          </a:ln>
        </p:spPr>
      </p:sp>
      <p:sp>
        <p:nvSpPr>
          <p:cNvPr id="17" name="Shape 15"/>
          <p:cNvSpPr/>
          <p:nvPr/>
        </p:nvSpPr>
        <p:spPr>
          <a:xfrm>
            <a:off x="365760" y="2852928"/>
            <a:ext cx="54864" cy="1572768"/>
          </a:xfrm>
          <a:prstGeom prst="rect">
            <a:avLst/>
          </a:prstGeom>
          <a:solidFill>
            <a:srgbClr val="0D7480"/>
          </a:solidFill>
          <a:ln/>
        </p:spPr>
      </p:sp>
      <p:sp>
        <p:nvSpPr>
          <p:cNvPr id="18" name="Shape 16"/>
          <p:cNvSpPr/>
          <p:nvPr/>
        </p:nvSpPr>
        <p:spPr>
          <a:xfrm>
            <a:off x="530352" y="3383280"/>
            <a:ext cx="438912" cy="438912"/>
          </a:xfrm>
          <a:prstGeom prst="ellipse">
            <a:avLst/>
          </a:prstGeom>
          <a:solidFill>
            <a:srgbClr val="0D7480"/>
          </a:solidFill>
          <a:ln/>
        </p:spPr>
      </p:sp>
      <p:sp>
        <p:nvSpPr>
          <p:cNvPr id="19" name="Text 17"/>
          <p:cNvSpPr/>
          <p:nvPr/>
        </p:nvSpPr>
        <p:spPr>
          <a:xfrm>
            <a:off x="530352" y="338328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1078992" y="2980944"/>
            <a:ext cx="3346704" cy="34747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許認可と施設立入権限</a:t>
            </a:r>
            <a:endParaRPr lang="en-US" sz="1300" dirty="0"/>
          </a:p>
        </p:txBody>
      </p:sp>
      <p:sp>
        <p:nvSpPr>
          <p:cNvPr id="21" name="Shape 19"/>
          <p:cNvSpPr/>
          <p:nvPr/>
        </p:nvSpPr>
        <p:spPr>
          <a:xfrm>
            <a:off x="1078992" y="3383280"/>
            <a:ext cx="3108960" cy="0"/>
          </a:xfrm>
          <a:prstGeom prst="line">
            <a:avLst/>
          </a:prstGeom>
          <a:noFill/>
          <a:ln w="6350">
            <a:solidFill>
              <a:srgbClr val="CCCCCC"/>
            </a:solidFill>
            <a:prstDash val="solid"/>
          </a:ln>
        </p:spPr>
      </p:sp>
      <p:sp>
        <p:nvSpPr>
          <p:cNvPr id="22" name="Text 20"/>
          <p:cNvSpPr/>
          <p:nvPr/>
        </p:nvSpPr>
        <p:spPr>
          <a:xfrm>
            <a:off x="1078992" y="3474720"/>
            <a:ext cx="3346704" cy="877824"/>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廃棄物収集許可を持つサキュレだけが施設内に定期的に立ち入れる。競合他社は許可なく施設内データを取得できない。</a:t>
            </a:r>
            <a:endParaRPr lang="en-US" sz="1100" dirty="0"/>
          </a:p>
        </p:txBody>
      </p:sp>
      <p:sp>
        <p:nvSpPr>
          <p:cNvPr id="23" name="Shape 21"/>
          <p:cNvSpPr/>
          <p:nvPr/>
        </p:nvSpPr>
        <p:spPr>
          <a:xfrm>
            <a:off x="4709160" y="1152144"/>
            <a:ext cx="4160520" cy="1572768"/>
          </a:xfrm>
          <a:prstGeom prst="rect">
            <a:avLst/>
          </a:prstGeom>
          <a:solidFill>
            <a:srgbClr val="FFFFFF"/>
          </a:solidFill>
          <a:ln w="9525">
            <a:solidFill>
              <a:srgbClr val="CCCCCC"/>
            </a:solidFill>
            <a:prstDash val="solid"/>
          </a:ln>
        </p:spPr>
      </p:sp>
      <p:sp>
        <p:nvSpPr>
          <p:cNvPr id="24" name="Shape 22"/>
          <p:cNvSpPr/>
          <p:nvPr/>
        </p:nvSpPr>
        <p:spPr>
          <a:xfrm>
            <a:off x="4709160" y="1152144"/>
            <a:ext cx="54864" cy="1572768"/>
          </a:xfrm>
          <a:prstGeom prst="rect">
            <a:avLst/>
          </a:prstGeom>
          <a:solidFill>
            <a:srgbClr val="DD7E6B"/>
          </a:solidFill>
          <a:ln/>
        </p:spPr>
      </p:sp>
      <p:sp>
        <p:nvSpPr>
          <p:cNvPr id="25" name="Shape 23"/>
          <p:cNvSpPr/>
          <p:nvPr/>
        </p:nvSpPr>
        <p:spPr>
          <a:xfrm>
            <a:off x="4873752" y="1682496"/>
            <a:ext cx="438912" cy="438912"/>
          </a:xfrm>
          <a:prstGeom prst="ellipse">
            <a:avLst/>
          </a:prstGeom>
          <a:solidFill>
            <a:srgbClr val="DD7E6B"/>
          </a:solidFill>
          <a:ln/>
        </p:spPr>
      </p:sp>
      <p:sp>
        <p:nvSpPr>
          <p:cNvPr id="26" name="Text 24"/>
          <p:cNvSpPr/>
          <p:nvPr/>
        </p:nvSpPr>
        <p:spPr>
          <a:xfrm>
            <a:off x="4873752" y="168249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5422392" y="1280160"/>
            <a:ext cx="3346704" cy="34747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200台・都市圏の密なカバレッジ</a:t>
            </a:r>
            <a:endParaRPr lang="en-US" sz="1300" dirty="0"/>
          </a:p>
        </p:txBody>
      </p:sp>
      <p:sp>
        <p:nvSpPr>
          <p:cNvPr id="28" name="Shape 26"/>
          <p:cNvSpPr/>
          <p:nvPr/>
        </p:nvSpPr>
        <p:spPr>
          <a:xfrm>
            <a:off x="5422392" y="1682496"/>
            <a:ext cx="3108960" cy="0"/>
          </a:xfrm>
          <a:prstGeom prst="line">
            <a:avLst/>
          </a:prstGeom>
          <a:noFill/>
          <a:ln w="6350">
            <a:solidFill>
              <a:srgbClr val="CCCCCC"/>
            </a:solidFill>
            <a:prstDash val="solid"/>
          </a:ln>
        </p:spPr>
      </p:sp>
      <p:sp>
        <p:nvSpPr>
          <p:cNvPr id="29" name="Text 27"/>
          <p:cNvSpPr/>
          <p:nvPr/>
        </p:nvSpPr>
        <p:spPr>
          <a:xfrm>
            <a:off x="5422392" y="1773936"/>
            <a:ext cx="3346704" cy="877824"/>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東京・神奈川エリアで200台以上が毎日走行。センサー密度が高いほど検知精度が上がり、単台数の競合が追いつけない。</a:t>
            </a:r>
            <a:endParaRPr lang="en-US" sz="1100" dirty="0"/>
          </a:p>
        </p:txBody>
      </p:sp>
      <p:sp>
        <p:nvSpPr>
          <p:cNvPr id="30" name="Shape 28"/>
          <p:cNvSpPr/>
          <p:nvPr/>
        </p:nvSpPr>
        <p:spPr>
          <a:xfrm>
            <a:off x="4709160" y="2852928"/>
            <a:ext cx="4160520" cy="1572768"/>
          </a:xfrm>
          <a:prstGeom prst="rect">
            <a:avLst/>
          </a:prstGeom>
          <a:solidFill>
            <a:srgbClr val="FFFFFF"/>
          </a:solidFill>
          <a:ln w="9525">
            <a:solidFill>
              <a:srgbClr val="CCCCCC"/>
            </a:solidFill>
            <a:prstDash val="solid"/>
          </a:ln>
        </p:spPr>
      </p:sp>
      <p:sp>
        <p:nvSpPr>
          <p:cNvPr id="31" name="Shape 29"/>
          <p:cNvSpPr/>
          <p:nvPr/>
        </p:nvSpPr>
        <p:spPr>
          <a:xfrm>
            <a:off x="4709160" y="2852928"/>
            <a:ext cx="54864" cy="1572768"/>
          </a:xfrm>
          <a:prstGeom prst="rect">
            <a:avLst/>
          </a:prstGeom>
          <a:solidFill>
            <a:srgbClr val="E65100"/>
          </a:solidFill>
          <a:ln/>
        </p:spPr>
      </p:sp>
      <p:sp>
        <p:nvSpPr>
          <p:cNvPr id="32" name="Shape 30"/>
          <p:cNvSpPr/>
          <p:nvPr/>
        </p:nvSpPr>
        <p:spPr>
          <a:xfrm>
            <a:off x="4873752" y="3383280"/>
            <a:ext cx="438912" cy="438912"/>
          </a:xfrm>
          <a:prstGeom prst="ellipse">
            <a:avLst/>
          </a:prstGeom>
          <a:solidFill>
            <a:srgbClr val="E65100"/>
          </a:solidFill>
          <a:ln/>
        </p:spPr>
      </p:sp>
      <p:sp>
        <p:nvSpPr>
          <p:cNvPr id="33" name="Text 31"/>
          <p:cNvSpPr/>
          <p:nvPr/>
        </p:nvSpPr>
        <p:spPr>
          <a:xfrm>
            <a:off x="4873752" y="338328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5422392" y="2980944"/>
            <a:ext cx="3346704" cy="34747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蓄積データの歴史的価値</a:t>
            </a:r>
            <a:endParaRPr lang="en-US" sz="1300" dirty="0"/>
          </a:p>
        </p:txBody>
      </p:sp>
      <p:sp>
        <p:nvSpPr>
          <p:cNvPr id="35" name="Shape 33"/>
          <p:cNvSpPr/>
          <p:nvPr/>
        </p:nvSpPr>
        <p:spPr>
          <a:xfrm>
            <a:off x="5422392" y="3383280"/>
            <a:ext cx="3108960" cy="0"/>
          </a:xfrm>
          <a:prstGeom prst="line">
            <a:avLst/>
          </a:prstGeom>
          <a:noFill/>
          <a:ln w="6350">
            <a:solidFill>
              <a:srgbClr val="CCCCCC"/>
            </a:solidFill>
            <a:prstDash val="solid"/>
          </a:ln>
        </p:spPr>
      </p:sp>
      <p:sp>
        <p:nvSpPr>
          <p:cNvPr id="36" name="Text 34"/>
          <p:cNvSpPr/>
          <p:nvPr/>
        </p:nvSpPr>
        <p:spPr>
          <a:xfrm>
            <a:off x="5422392" y="3474720"/>
            <a:ext cx="3346704" cy="877824"/>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数年分の過去データを保有。トレンド分析・季節調整に必要な歴史的データは後発他社が短期間で揃えることができない。</a:t>
            </a:r>
            <a:endParaRPr lang="en-US" sz="1100" dirty="0"/>
          </a:p>
        </p:txBody>
      </p:sp>
      <p:sp>
        <p:nvSpPr>
          <p:cNvPr id="37" name="Shape 35"/>
          <p:cNvSpPr/>
          <p:nvPr/>
        </p:nvSpPr>
        <p:spPr>
          <a:xfrm>
            <a:off x="365760" y="4572000"/>
            <a:ext cx="8412480" cy="402336"/>
          </a:xfrm>
          <a:prstGeom prst="rect">
            <a:avLst/>
          </a:prstGeom>
          <a:solidFill>
            <a:srgbClr val="D9EAD3"/>
          </a:solidFill>
          <a:ln w="9525">
            <a:solidFill>
              <a:srgbClr val="CCCCCC"/>
            </a:solidFill>
            <a:prstDash val="solid"/>
          </a:ln>
        </p:spPr>
      </p:sp>
      <p:sp>
        <p:nvSpPr>
          <p:cNvPr id="38" name="Shape 36"/>
          <p:cNvSpPr/>
          <p:nvPr/>
        </p:nvSpPr>
        <p:spPr>
          <a:xfrm>
            <a:off x="365760" y="4572000"/>
            <a:ext cx="54864" cy="402336"/>
          </a:xfrm>
          <a:prstGeom prst="rect">
            <a:avLst/>
          </a:prstGeom>
          <a:solidFill>
            <a:srgbClr val="156818"/>
          </a:solidFill>
          <a:ln/>
        </p:spPr>
      </p:sp>
      <p:sp>
        <p:nvSpPr>
          <p:cNvPr id="39" name="Text 37"/>
          <p:cNvSpPr/>
          <p:nvPr/>
        </p:nvSpPr>
        <p:spPr>
          <a:xfrm>
            <a:off x="512064" y="4572000"/>
            <a:ext cx="8229600" cy="402336"/>
          </a:xfrm>
          <a:prstGeom prst="rect">
            <a:avLst/>
          </a:prstGeom>
          <a:noFill/>
          <a:ln/>
        </p:spPr>
        <p:txBody>
          <a:bodyPr wrap="square" rtlCol="0" anchor="ctr"/>
          <a:lstStyle/>
          <a:p>
            <a:pPr indent="0" marL="0">
              <a:buNone/>
            </a:pPr>
            <a:r>
              <a:rPr lang="en-US" sz="1100" b="1" dirty="0">
                <a:solidFill>
                  <a:srgbClr val="156818"/>
                </a:solidFill>
                <a:latin typeface="Calibri" pitchFamily="34" charset="0"/>
                <a:ea typeface="Calibri" pitchFamily="34" charset="-122"/>
                <a:cs typeface="Calibri" pitchFamily="34" charset="-120"/>
              </a:rPr>
              <a:t>参入障壁のまとめ：許認可 × 既存施設アクセス × 過去蓄積データ × 台数規模の4条件が揃うのはサキュレのみ</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5</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収益モデル・料金設計</a:t>
            </a:r>
            <a:endParaRPr lang="en-US" sz="1600" dirty="0"/>
          </a:p>
        </p:txBody>
      </p:sp>
      <p:sp>
        <p:nvSpPr>
          <p:cNvPr id="7" name="Shape 5"/>
          <p:cNvSpPr/>
          <p:nvPr/>
        </p:nvSpPr>
        <p:spPr>
          <a:xfrm>
            <a:off x="365760" y="749808"/>
            <a:ext cx="4041648" cy="274320"/>
          </a:xfrm>
          <a:prstGeom prst="rect">
            <a:avLst/>
          </a:prstGeom>
          <a:solidFill>
            <a:srgbClr val="156818"/>
          </a:solidFill>
          <a:ln/>
        </p:spPr>
      </p:sp>
      <p:sp>
        <p:nvSpPr>
          <p:cNvPr id="8" name="Text 6"/>
          <p:cNvSpPr/>
          <p:nvPr/>
        </p:nvSpPr>
        <p:spPr>
          <a:xfrm>
            <a:off x="365760" y="749808"/>
            <a:ext cx="4041648"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事業①　廃棄物データ</a:t>
            </a:r>
            <a:endParaRPr lang="en-US" sz="900" dirty="0"/>
          </a:p>
        </p:txBody>
      </p:sp>
      <p:sp>
        <p:nvSpPr>
          <p:cNvPr id="9" name="Shape 7"/>
          <p:cNvSpPr/>
          <p:nvPr/>
        </p:nvSpPr>
        <p:spPr>
          <a:xfrm>
            <a:off x="365760" y="1078992"/>
            <a:ext cx="4041648" cy="438912"/>
          </a:xfrm>
          <a:prstGeom prst="rect">
            <a:avLst/>
          </a:prstGeom>
          <a:solidFill>
            <a:srgbClr val="D9EAD3"/>
          </a:solidFill>
          <a:ln w="9525">
            <a:solidFill>
              <a:srgbClr val="CCCCCC"/>
            </a:solidFill>
            <a:prstDash val="solid"/>
          </a:ln>
        </p:spPr>
      </p:sp>
      <p:sp>
        <p:nvSpPr>
          <p:cNvPr id="10" name="Shape 8"/>
          <p:cNvSpPr/>
          <p:nvPr/>
        </p:nvSpPr>
        <p:spPr>
          <a:xfrm>
            <a:off x="365760" y="1078992"/>
            <a:ext cx="54864" cy="438912"/>
          </a:xfrm>
          <a:prstGeom prst="rect">
            <a:avLst/>
          </a:prstGeom>
          <a:solidFill>
            <a:srgbClr val="156818"/>
          </a:solidFill>
          <a:ln/>
        </p:spPr>
      </p:sp>
      <p:sp>
        <p:nvSpPr>
          <p:cNvPr id="11" name="Text 9"/>
          <p:cNvSpPr/>
          <p:nvPr/>
        </p:nvSpPr>
        <p:spPr>
          <a:xfrm>
            <a:off x="512064" y="1115568"/>
            <a:ext cx="1828800"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データAPI 月額契約</a:t>
            </a:r>
            <a:endParaRPr lang="en-US" sz="1050" dirty="0"/>
          </a:p>
        </p:txBody>
      </p:sp>
      <p:sp>
        <p:nvSpPr>
          <p:cNvPr id="12" name="Text 10"/>
          <p:cNvSpPr/>
          <p:nvPr/>
        </p:nvSpPr>
        <p:spPr>
          <a:xfrm>
            <a:off x="512064" y="1316736"/>
            <a:ext cx="1828800"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ヘッジファンド・調査会社</a:t>
            </a:r>
            <a:endParaRPr lang="en-US" sz="950" dirty="0"/>
          </a:p>
        </p:txBody>
      </p:sp>
      <p:sp>
        <p:nvSpPr>
          <p:cNvPr id="13" name="Text 11"/>
          <p:cNvSpPr/>
          <p:nvPr/>
        </p:nvSpPr>
        <p:spPr>
          <a:xfrm>
            <a:off x="2395728" y="1152144"/>
            <a:ext cx="1920240" cy="292608"/>
          </a:xfrm>
          <a:prstGeom prst="rect">
            <a:avLst/>
          </a:prstGeom>
          <a:noFill/>
          <a:ln/>
        </p:spPr>
        <p:txBody>
          <a:bodyPr wrap="square" rtlCol="0" anchor="ctr"/>
          <a:lstStyle/>
          <a:p>
            <a:pPr algn="ctr" indent="0" marL="0">
              <a:buNone/>
            </a:pPr>
            <a:r>
              <a:rPr lang="en-US" sz="1150" b="1" dirty="0">
                <a:solidFill>
                  <a:srgbClr val="156818"/>
                </a:solidFill>
                <a:latin typeface="Calibri" pitchFamily="34" charset="0"/>
                <a:ea typeface="Calibri" pitchFamily="34" charset="-122"/>
                <a:cs typeface="Calibri" pitchFamily="34" charset="-120"/>
              </a:rPr>
              <a:t>5〜100万円/月</a:t>
            </a:r>
            <a:endParaRPr lang="en-US" sz="1150" dirty="0"/>
          </a:p>
        </p:txBody>
      </p:sp>
      <p:sp>
        <p:nvSpPr>
          <p:cNvPr id="14" name="Shape 12"/>
          <p:cNvSpPr/>
          <p:nvPr/>
        </p:nvSpPr>
        <p:spPr>
          <a:xfrm>
            <a:off x="365760" y="1554480"/>
            <a:ext cx="4041648" cy="438912"/>
          </a:xfrm>
          <a:prstGeom prst="rect">
            <a:avLst/>
          </a:prstGeom>
          <a:solidFill>
            <a:srgbClr val="FFFFFF"/>
          </a:solidFill>
          <a:ln w="9525">
            <a:solidFill>
              <a:srgbClr val="CCCCCC"/>
            </a:solidFill>
            <a:prstDash val="solid"/>
          </a:ln>
        </p:spPr>
      </p:sp>
      <p:sp>
        <p:nvSpPr>
          <p:cNvPr id="15" name="Shape 13"/>
          <p:cNvSpPr/>
          <p:nvPr/>
        </p:nvSpPr>
        <p:spPr>
          <a:xfrm>
            <a:off x="365760" y="1554480"/>
            <a:ext cx="54864" cy="438912"/>
          </a:xfrm>
          <a:prstGeom prst="rect">
            <a:avLst/>
          </a:prstGeom>
          <a:solidFill>
            <a:srgbClr val="156818"/>
          </a:solidFill>
          <a:ln/>
        </p:spPr>
      </p:sp>
      <p:sp>
        <p:nvSpPr>
          <p:cNvPr id="16" name="Text 14"/>
          <p:cNvSpPr/>
          <p:nvPr/>
        </p:nvSpPr>
        <p:spPr>
          <a:xfrm>
            <a:off x="512064" y="1591056"/>
            <a:ext cx="1828800"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ESGデータレポート</a:t>
            </a:r>
            <a:endParaRPr lang="en-US" sz="1050" dirty="0"/>
          </a:p>
        </p:txBody>
      </p:sp>
      <p:sp>
        <p:nvSpPr>
          <p:cNvPr id="17" name="Text 15"/>
          <p:cNvSpPr/>
          <p:nvPr/>
        </p:nvSpPr>
        <p:spPr>
          <a:xfrm>
            <a:off x="512064" y="1792224"/>
            <a:ext cx="1828800"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大企業・REIT向け年次開示</a:t>
            </a:r>
            <a:endParaRPr lang="en-US" sz="950" dirty="0"/>
          </a:p>
        </p:txBody>
      </p:sp>
      <p:sp>
        <p:nvSpPr>
          <p:cNvPr id="18" name="Text 16"/>
          <p:cNvSpPr/>
          <p:nvPr/>
        </p:nvSpPr>
        <p:spPr>
          <a:xfrm>
            <a:off x="2395728" y="1627632"/>
            <a:ext cx="1920240" cy="292608"/>
          </a:xfrm>
          <a:prstGeom prst="rect">
            <a:avLst/>
          </a:prstGeom>
          <a:noFill/>
          <a:ln/>
        </p:spPr>
        <p:txBody>
          <a:bodyPr wrap="square" rtlCol="0" anchor="ctr"/>
          <a:lstStyle/>
          <a:p>
            <a:pPr algn="ctr" indent="0" marL="0">
              <a:buNone/>
            </a:pPr>
            <a:r>
              <a:rPr lang="en-US" sz="1150" b="1" dirty="0">
                <a:solidFill>
                  <a:srgbClr val="156818"/>
                </a:solidFill>
                <a:latin typeface="Calibri" pitchFamily="34" charset="0"/>
                <a:ea typeface="Calibri" pitchFamily="34" charset="-122"/>
                <a:cs typeface="Calibri" pitchFamily="34" charset="-120"/>
              </a:rPr>
              <a:t>30〜100万円/件</a:t>
            </a:r>
            <a:endParaRPr lang="en-US" sz="1150" dirty="0"/>
          </a:p>
        </p:txBody>
      </p:sp>
      <p:sp>
        <p:nvSpPr>
          <p:cNvPr id="19" name="Shape 17"/>
          <p:cNvSpPr/>
          <p:nvPr/>
        </p:nvSpPr>
        <p:spPr>
          <a:xfrm>
            <a:off x="365760" y="2029968"/>
            <a:ext cx="4041648" cy="438912"/>
          </a:xfrm>
          <a:prstGeom prst="rect">
            <a:avLst/>
          </a:prstGeom>
          <a:solidFill>
            <a:srgbClr val="D9EAD3"/>
          </a:solidFill>
          <a:ln w="9525">
            <a:solidFill>
              <a:srgbClr val="CCCCCC"/>
            </a:solidFill>
            <a:prstDash val="solid"/>
          </a:ln>
        </p:spPr>
      </p:sp>
      <p:sp>
        <p:nvSpPr>
          <p:cNvPr id="20" name="Shape 18"/>
          <p:cNvSpPr/>
          <p:nvPr/>
        </p:nvSpPr>
        <p:spPr>
          <a:xfrm>
            <a:off x="365760" y="2029968"/>
            <a:ext cx="54864" cy="438912"/>
          </a:xfrm>
          <a:prstGeom prst="rect">
            <a:avLst/>
          </a:prstGeom>
          <a:solidFill>
            <a:srgbClr val="156818"/>
          </a:solidFill>
          <a:ln/>
        </p:spPr>
      </p:sp>
      <p:sp>
        <p:nvSpPr>
          <p:cNvPr id="21" name="Text 19"/>
          <p:cNvSpPr/>
          <p:nvPr/>
        </p:nvSpPr>
        <p:spPr>
          <a:xfrm>
            <a:off x="512064" y="2066544"/>
            <a:ext cx="1828800"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自治体向け分析契約</a:t>
            </a:r>
            <a:endParaRPr lang="en-US" sz="1050" dirty="0"/>
          </a:p>
        </p:txBody>
      </p:sp>
      <p:sp>
        <p:nvSpPr>
          <p:cNvPr id="22" name="Text 20"/>
          <p:cNvSpPr/>
          <p:nvPr/>
        </p:nvSpPr>
        <p:spPr>
          <a:xfrm>
            <a:off x="512064" y="2267712"/>
            <a:ext cx="1828800"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廃棄物量予測・政策立案用</a:t>
            </a:r>
            <a:endParaRPr lang="en-US" sz="950" dirty="0"/>
          </a:p>
        </p:txBody>
      </p:sp>
      <p:sp>
        <p:nvSpPr>
          <p:cNvPr id="23" name="Text 21"/>
          <p:cNvSpPr/>
          <p:nvPr/>
        </p:nvSpPr>
        <p:spPr>
          <a:xfrm>
            <a:off x="2395728" y="2103120"/>
            <a:ext cx="1920240" cy="292608"/>
          </a:xfrm>
          <a:prstGeom prst="rect">
            <a:avLst/>
          </a:prstGeom>
          <a:noFill/>
          <a:ln/>
        </p:spPr>
        <p:txBody>
          <a:bodyPr wrap="square" rtlCol="0" anchor="ctr"/>
          <a:lstStyle/>
          <a:p>
            <a:pPr algn="ctr" indent="0" marL="0">
              <a:buNone/>
            </a:pPr>
            <a:r>
              <a:rPr lang="en-US" sz="1150" b="1" dirty="0">
                <a:solidFill>
                  <a:srgbClr val="156818"/>
                </a:solidFill>
                <a:latin typeface="Calibri" pitchFamily="34" charset="0"/>
                <a:ea typeface="Calibri" pitchFamily="34" charset="-122"/>
                <a:cs typeface="Calibri" pitchFamily="34" charset="-120"/>
              </a:rPr>
              <a:t>5〜20万円/月</a:t>
            </a:r>
            <a:endParaRPr lang="en-US" sz="1150" dirty="0"/>
          </a:p>
        </p:txBody>
      </p:sp>
      <p:sp>
        <p:nvSpPr>
          <p:cNvPr id="24" name="Shape 22"/>
          <p:cNvSpPr/>
          <p:nvPr/>
        </p:nvSpPr>
        <p:spPr>
          <a:xfrm>
            <a:off x="365760" y="2505456"/>
            <a:ext cx="4041648" cy="438912"/>
          </a:xfrm>
          <a:prstGeom prst="rect">
            <a:avLst/>
          </a:prstGeom>
          <a:solidFill>
            <a:srgbClr val="FFFFFF"/>
          </a:solidFill>
          <a:ln w="9525">
            <a:solidFill>
              <a:srgbClr val="CCCCCC"/>
            </a:solidFill>
            <a:prstDash val="solid"/>
          </a:ln>
        </p:spPr>
      </p:sp>
      <p:sp>
        <p:nvSpPr>
          <p:cNvPr id="25" name="Shape 23"/>
          <p:cNvSpPr/>
          <p:nvPr/>
        </p:nvSpPr>
        <p:spPr>
          <a:xfrm>
            <a:off x="365760" y="2505456"/>
            <a:ext cx="54864" cy="438912"/>
          </a:xfrm>
          <a:prstGeom prst="rect">
            <a:avLst/>
          </a:prstGeom>
          <a:solidFill>
            <a:srgbClr val="156818"/>
          </a:solidFill>
          <a:ln/>
        </p:spPr>
      </p:sp>
      <p:sp>
        <p:nvSpPr>
          <p:cNvPr id="26" name="Text 24"/>
          <p:cNvSpPr/>
          <p:nvPr/>
        </p:nvSpPr>
        <p:spPr>
          <a:xfrm>
            <a:off x="512064" y="2542032"/>
            <a:ext cx="1828800"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カスタム調査レポート</a:t>
            </a:r>
            <a:endParaRPr lang="en-US" sz="1050" dirty="0"/>
          </a:p>
        </p:txBody>
      </p:sp>
      <p:sp>
        <p:nvSpPr>
          <p:cNvPr id="27" name="Text 25"/>
          <p:cNvSpPr/>
          <p:nvPr/>
        </p:nvSpPr>
        <p:spPr>
          <a:xfrm>
            <a:off x="512064" y="2743200"/>
            <a:ext cx="1828800"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特定施設・エリアの詳細分析</a:t>
            </a:r>
            <a:endParaRPr lang="en-US" sz="950" dirty="0"/>
          </a:p>
        </p:txBody>
      </p:sp>
      <p:sp>
        <p:nvSpPr>
          <p:cNvPr id="28" name="Text 26"/>
          <p:cNvSpPr/>
          <p:nvPr/>
        </p:nvSpPr>
        <p:spPr>
          <a:xfrm>
            <a:off x="2395728" y="2578608"/>
            <a:ext cx="1920240" cy="292608"/>
          </a:xfrm>
          <a:prstGeom prst="rect">
            <a:avLst/>
          </a:prstGeom>
          <a:noFill/>
          <a:ln/>
        </p:spPr>
        <p:txBody>
          <a:bodyPr wrap="square" rtlCol="0" anchor="ctr"/>
          <a:lstStyle/>
          <a:p>
            <a:pPr algn="ctr" indent="0" marL="0">
              <a:buNone/>
            </a:pPr>
            <a:r>
              <a:rPr lang="en-US" sz="1150" b="1" dirty="0">
                <a:solidFill>
                  <a:srgbClr val="156818"/>
                </a:solidFill>
                <a:latin typeface="Calibri" pitchFamily="34" charset="0"/>
                <a:ea typeface="Calibri" pitchFamily="34" charset="-122"/>
                <a:cs typeface="Calibri" pitchFamily="34" charset="-120"/>
              </a:rPr>
              <a:t>50〜200万円/件</a:t>
            </a:r>
            <a:endParaRPr lang="en-US" sz="1150" dirty="0"/>
          </a:p>
        </p:txBody>
      </p:sp>
      <p:sp>
        <p:nvSpPr>
          <p:cNvPr id="29" name="Shape 27"/>
          <p:cNvSpPr/>
          <p:nvPr/>
        </p:nvSpPr>
        <p:spPr>
          <a:xfrm>
            <a:off x="365760" y="2999232"/>
            <a:ext cx="4041648" cy="457200"/>
          </a:xfrm>
          <a:prstGeom prst="rect">
            <a:avLst/>
          </a:prstGeom>
          <a:solidFill>
            <a:srgbClr val="D9EAD3"/>
          </a:solidFill>
          <a:ln w="9525">
            <a:solidFill>
              <a:srgbClr val="CCCCCC"/>
            </a:solidFill>
            <a:prstDash val="solid"/>
          </a:ln>
        </p:spPr>
      </p:sp>
      <p:sp>
        <p:nvSpPr>
          <p:cNvPr id="30" name="Text 28"/>
          <p:cNvSpPr/>
          <p:nvPr/>
        </p:nvSpPr>
        <p:spPr>
          <a:xfrm>
            <a:off x="512064" y="3035808"/>
            <a:ext cx="3895344" cy="384048"/>
          </a:xfrm>
          <a:prstGeom prst="rect">
            <a:avLst/>
          </a:prstGeom>
          <a:noFill/>
          <a:ln/>
        </p:spPr>
        <p:txBody>
          <a:bodyPr wrap="square" rtlCol="0" anchor="ctr"/>
          <a:lstStyle/>
          <a:p>
            <a:pPr indent="0" marL="0">
              <a:buNone/>
            </a:pPr>
            <a:r>
              <a:rPr lang="en-US" sz="1100" b="1" dirty="0">
                <a:solidFill>
                  <a:srgbClr val="156818"/>
                </a:solidFill>
                <a:latin typeface="Calibri" pitchFamily="34" charset="0"/>
                <a:ea typeface="Calibri" pitchFamily="34" charset="-122"/>
                <a:cs typeface="Calibri" pitchFamily="34" charset="-120"/>
              </a:rPr>
              <a:t>1年目目標：年間収入500万円（月均41万円）</a:t>
            </a:r>
            <a:endParaRPr lang="en-US" sz="1100" dirty="0"/>
          </a:p>
        </p:txBody>
      </p:sp>
      <p:sp>
        <p:nvSpPr>
          <p:cNvPr id="31" name="Shape 29"/>
          <p:cNvSpPr/>
          <p:nvPr/>
        </p:nvSpPr>
        <p:spPr>
          <a:xfrm>
            <a:off x="4590288" y="749808"/>
            <a:ext cx="4187952" cy="274320"/>
          </a:xfrm>
          <a:prstGeom prst="rect">
            <a:avLst/>
          </a:prstGeom>
          <a:solidFill>
            <a:srgbClr val="0D7480"/>
          </a:solidFill>
          <a:ln/>
        </p:spPr>
      </p:sp>
      <p:sp>
        <p:nvSpPr>
          <p:cNvPr id="32" name="Text 30"/>
          <p:cNvSpPr/>
          <p:nvPr/>
        </p:nvSpPr>
        <p:spPr>
          <a:xfrm>
            <a:off x="4590288" y="749808"/>
            <a:ext cx="4187952"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事業②　走行センサーデータ</a:t>
            </a:r>
            <a:endParaRPr lang="en-US" sz="900" dirty="0"/>
          </a:p>
        </p:txBody>
      </p:sp>
      <p:sp>
        <p:nvSpPr>
          <p:cNvPr id="33" name="Shape 31"/>
          <p:cNvSpPr/>
          <p:nvPr/>
        </p:nvSpPr>
        <p:spPr>
          <a:xfrm>
            <a:off x="4590288" y="1078992"/>
            <a:ext cx="4187952" cy="438912"/>
          </a:xfrm>
          <a:prstGeom prst="rect">
            <a:avLst/>
          </a:prstGeom>
          <a:solidFill>
            <a:srgbClr val="D0EFEF"/>
          </a:solidFill>
          <a:ln w="9525">
            <a:solidFill>
              <a:srgbClr val="CCCCCC"/>
            </a:solidFill>
            <a:prstDash val="solid"/>
          </a:ln>
        </p:spPr>
      </p:sp>
      <p:sp>
        <p:nvSpPr>
          <p:cNvPr id="34" name="Shape 32"/>
          <p:cNvSpPr/>
          <p:nvPr/>
        </p:nvSpPr>
        <p:spPr>
          <a:xfrm>
            <a:off x="4590288" y="1078992"/>
            <a:ext cx="54864" cy="438912"/>
          </a:xfrm>
          <a:prstGeom prst="rect">
            <a:avLst/>
          </a:prstGeom>
          <a:solidFill>
            <a:srgbClr val="0D7480"/>
          </a:solidFill>
          <a:ln/>
        </p:spPr>
      </p:sp>
      <p:sp>
        <p:nvSpPr>
          <p:cNvPr id="35" name="Text 33"/>
          <p:cNvSpPr/>
          <p:nvPr/>
        </p:nvSpPr>
        <p:spPr>
          <a:xfrm>
            <a:off x="4736592" y="1115568"/>
            <a:ext cx="1901952"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自治体 定額月次契約</a:t>
            </a:r>
            <a:endParaRPr lang="en-US" sz="1050" dirty="0"/>
          </a:p>
        </p:txBody>
      </p:sp>
      <p:sp>
        <p:nvSpPr>
          <p:cNvPr id="36" name="Text 34"/>
          <p:cNvSpPr/>
          <p:nvPr/>
        </p:nvSpPr>
        <p:spPr>
          <a:xfrm>
            <a:off x="4736592" y="1316736"/>
            <a:ext cx="1901952"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道路・インフラ管理部門</a:t>
            </a:r>
            <a:endParaRPr lang="en-US" sz="950" dirty="0"/>
          </a:p>
        </p:txBody>
      </p:sp>
      <p:sp>
        <p:nvSpPr>
          <p:cNvPr id="37" name="Text 35"/>
          <p:cNvSpPr/>
          <p:nvPr/>
        </p:nvSpPr>
        <p:spPr>
          <a:xfrm>
            <a:off x="6693408" y="1152144"/>
            <a:ext cx="1993392" cy="292608"/>
          </a:xfrm>
          <a:prstGeom prst="rect">
            <a:avLst/>
          </a:prstGeom>
          <a:noFill/>
          <a:ln/>
        </p:spPr>
        <p:txBody>
          <a:bodyPr wrap="square" rtlCol="0" anchor="ctr"/>
          <a:lstStyle/>
          <a:p>
            <a:pPr algn="ctr" indent="0" marL="0">
              <a:buNone/>
            </a:pPr>
            <a:r>
              <a:rPr lang="en-US" sz="1150" b="1" dirty="0">
                <a:solidFill>
                  <a:srgbClr val="0D7480"/>
                </a:solidFill>
                <a:latin typeface="Calibri" pitchFamily="34" charset="0"/>
                <a:ea typeface="Calibri" pitchFamily="34" charset="-122"/>
                <a:cs typeface="Calibri" pitchFamily="34" charset="-120"/>
              </a:rPr>
              <a:t>10〜50万円/月</a:t>
            </a:r>
            <a:endParaRPr lang="en-US" sz="1150" dirty="0"/>
          </a:p>
        </p:txBody>
      </p:sp>
      <p:sp>
        <p:nvSpPr>
          <p:cNvPr id="38" name="Shape 36"/>
          <p:cNvSpPr/>
          <p:nvPr/>
        </p:nvSpPr>
        <p:spPr>
          <a:xfrm>
            <a:off x="4590288" y="1554480"/>
            <a:ext cx="4187952" cy="438912"/>
          </a:xfrm>
          <a:prstGeom prst="rect">
            <a:avLst/>
          </a:prstGeom>
          <a:solidFill>
            <a:srgbClr val="FFFFFF"/>
          </a:solidFill>
          <a:ln w="9525">
            <a:solidFill>
              <a:srgbClr val="CCCCCC"/>
            </a:solidFill>
            <a:prstDash val="solid"/>
          </a:ln>
        </p:spPr>
      </p:sp>
      <p:sp>
        <p:nvSpPr>
          <p:cNvPr id="39" name="Shape 37"/>
          <p:cNvSpPr/>
          <p:nvPr/>
        </p:nvSpPr>
        <p:spPr>
          <a:xfrm>
            <a:off x="4590288" y="1554480"/>
            <a:ext cx="54864" cy="438912"/>
          </a:xfrm>
          <a:prstGeom prst="rect">
            <a:avLst/>
          </a:prstGeom>
          <a:solidFill>
            <a:srgbClr val="0D7480"/>
          </a:solidFill>
          <a:ln/>
        </p:spPr>
      </p:sp>
      <p:sp>
        <p:nvSpPr>
          <p:cNvPr id="40" name="Text 38"/>
          <p:cNvSpPr/>
          <p:nvPr/>
        </p:nvSpPr>
        <p:spPr>
          <a:xfrm>
            <a:off x="4736592" y="1591056"/>
            <a:ext cx="1901952"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データ解析レポート</a:t>
            </a:r>
            <a:endParaRPr lang="en-US" sz="1050" dirty="0"/>
          </a:p>
        </p:txBody>
      </p:sp>
      <p:sp>
        <p:nvSpPr>
          <p:cNvPr id="41" name="Text 39"/>
          <p:cNvSpPr/>
          <p:nvPr/>
        </p:nvSpPr>
        <p:spPr>
          <a:xfrm>
            <a:off x="4736592" y="1792224"/>
            <a:ext cx="1901952"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損傷箇所一覧・優先度マップ</a:t>
            </a:r>
            <a:endParaRPr lang="en-US" sz="950" dirty="0"/>
          </a:p>
        </p:txBody>
      </p:sp>
      <p:sp>
        <p:nvSpPr>
          <p:cNvPr id="42" name="Text 40"/>
          <p:cNvSpPr/>
          <p:nvPr/>
        </p:nvSpPr>
        <p:spPr>
          <a:xfrm>
            <a:off x="6693408" y="1627632"/>
            <a:ext cx="1993392" cy="292608"/>
          </a:xfrm>
          <a:prstGeom prst="rect">
            <a:avLst/>
          </a:prstGeom>
          <a:noFill/>
          <a:ln/>
        </p:spPr>
        <p:txBody>
          <a:bodyPr wrap="square" rtlCol="0" anchor="ctr"/>
          <a:lstStyle/>
          <a:p>
            <a:pPr algn="ctr" indent="0" marL="0">
              <a:buNone/>
            </a:pPr>
            <a:r>
              <a:rPr lang="en-US" sz="1150" b="1" dirty="0">
                <a:solidFill>
                  <a:srgbClr val="0D7480"/>
                </a:solidFill>
                <a:latin typeface="Calibri" pitchFamily="34" charset="0"/>
                <a:ea typeface="Calibri" pitchFamily="34" charset="-122"/>
                <a:cs typeface="Calibri" pitchFamily="34" charset="-120"/>
              </a:rPr>
              <a:t>50〜200万円/件</a:t>
            </a:r>
            <a:endParaRPr lang="en-US" sz="1150" dirty="0"/>
          </a:p>
        </p:txBody>
      </p:sp>
      <p:sp>
        <p:nvSpPr>
          <p:cNvPr id="43" name="Shape 41"/>
          <p:cNvSpPr/>
          <p:nvPr/>
        </p:nvSpPr>
        <p:spPr>
          <a:xfrm>
            <a:off x="4590288" y="2029968"/>
            <a:ext cx="4187952" cy="438912"/>
          </a:xfrm>
          <a:prstGeom prst="rect">
            <a:avLst/>
          </a:prstGeom>
          <a:solidFill>
            <a:srgbClr val="D0EFEF"/>
          </a:solidFill>
          <a:ln w="9525">
            <a:solidFill>
              <a:srgbClr val="CCCCCC"/>
            </a:solidFill>
            <a:prstDash val="solid"/>
          </a:ln>
        </p:spPr>
      </p:sp>
      <p:sp>
        <p:nvSpPr>
          <p:cNvPr id="44" name="Shape 42"/>
          <p:cNvSpPr/>
          <p:nvPr/>
        </p:nvSpPr>
        <p:spPr>
          <a:xfrm>
            <a:off x="4590288" y="2029968"/>
            <a:ext cx="54864" cy="438912"/>
          </a:xfrm>
          <a:prstGeom prst="rect">
            <a:avLst/>
          </a:prstGeom>
          <a:solidFill>
            <a:srgbClr val="0D7480"/>
          </a:solidFill>
          <a:ln/>
        </p:spPr>
      </p:sp>
      <p:sp>
        <p:nvSpPr>
          <p:cNvPr id="45" name="Text 43"/>
          <p:cNvSpPr/>
          <p:nvPr/>
        </p:nvSpPr>
        <p:spPr>
          <a:xfrm>
            <a:off x="4736592" y="2066544"/>
            <a:ext cx="1901952"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損害保険会社向け</a:t>
            </a:r>
            <a:endParaRPr lang="en-US" sz="1050" dirty="0"/>
          </a:p>
        </p:txBody>
      </p:sp>
      <p:sp>
        <p:nvSpPr>
          <p:cNvPr id="46" name="Text 44"/>
          <p:cNvSpPr/>
          <p:nvPr/>
        </p:nvSpPr>
        <p:spPr>
          <a:xfrm>
            <a:off x="4736592" y="2267712"/>
            <a:ext cx="1901952"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道路リスクマップ提供</a:t>
            </a:r>
            <a:endParaRPr lang="en-US" sz="950" dirty="0"/>
          </a:p>
        </p:txBody>
      </p:sp>
      <p:sp>
        <p:nvSpPr>
          <p:cNvPr id="47" name="Text 45"/>
          <p:cNvSpPr/>
          <p:nvPr/>
        </p:nvSpPr>
        <p:spPr>
          <a:xfrm>
            <a:off x="6693408" y="2103120"/>
            <a:ext cx="1993392" cy="292608"/>
          </a:xfrm>
          <a:prstGeom prst="rect">
            <a:avLst/>
          </a:prstGeom>
          <a:noFill/>
          <a:ln/>
        </p:spPr>
        <p:txBody>
          <a:bodyPr wrap="square" rtlCol="0" anchor="ctr"/>
          <a:lstStyle/>
          <a:p>
            <a:pPr algn="ctr" indent="0" marL="0">
              <a:buNone/>
            </a:pPr>
            <a:r>
              <a:rPr lang="en-US" sz="1150" b="1" dirty="0">
                <a:solidFill>
                  <a:srgbClr val="0D7480"/>
                </a:solidFill>
                <a:latin typeface="Calibri" pitchFamily="34" charset="0"/>
                <a:ea typeface="Calibri" pitchFamily="34" charset="-122"/>
                <a:cs typeface="Calibri" pitchFamily="34" charset="-120"/>
              </a:rPr>
              <a:t>20〜80万円/月</a:t>
            </a:r>
            <a:endParaRPr lang="en-US" sz="1150" dirty="0"/>
          </a:p>
        </p:txBody>
      </p:sp>
      <p:sp>
        <p:nvSpPr>
          <p:cNvPr id="48" name="Shape 46"/>
          <p:cNvSpPr/>
          <p:nvPr/>
        </p:nvSpPr>
        <p:spPr>
          <a:xfrm>
            <a:off x="4590288" y="2505456"/>
            <a:ext cx="4187952" cy="438912"/>
          </a:xfrm>
          <a:prstGeom prst="rect">
            <a:avLst/>
          </a:prstGeom>
          <a:solidFill>
            <a:srgbClr val="FFFFFF"/>
          </a:solidFill>
          <a:ln w="9525">
            <a:solidFill>
              <a:srgbClr val="CCCCCC"/>
            </a:solidFill>
            <a:prstDash val="solid"/>
          </a:ln>
        </p:spPr>
      </p:sp>
      <p:sp>
        <p:nvSpPr>
          <p:cNvPr id="49" name="Shape 47"/>
          <p:cNvSpPr/>
          <p:nvPr/>
        </p:nvSpPr>
        <p:spPr>
          <a:xfrm>
            <a:off x="4590288" y="2505456"/>
            <a:ext cx="54864" cy="438912"/>
          </a:xfrm>
          <a:prstGeom prst="rect">
            <a:avLst/>
          </a:prstGeom>
          <a:solidFill>
            <a:srgbClr val="0D7480"/>
          </a:solidFill>
          <a:ln/>
        </p:spPr>
      </p:sp>
      <p:sp>
        <p:nvSpPr>
          <p:cNvPr id="50" name="Text 48"/>
          <p:cNvSpPr/>
          <p:nvPr/>
        </p:nvSpPr>
        <p:spPr>
          <a:xfrm>
            <a:off x="4736592" y="2542032"/>
            <a:ext cx="1901952" cy="18288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道路管理会社向け</a:t>
            </a:r>
            <a:endParaRPr lang="en-US" sz="1050" dirty="0"/>
          </a:p>
        </p:txBody>
      </p:sp>
      <p:sp>
        <p:nvSpPr>
          <p:cNvPr id="51" name="Text 49"/>
          <p:cNvSpPr/>
          <p:nvPr/>
        </p:nvSpPr>
        <p:spPr>
          <a:xfrm>
            <a:off x="4736592" y="2743200"/>
            <a:ext cx="1901952" cy="164592"/>
          </a:xfrm>
          <a:prstGeom prst="rect">
            <a:avLst/>
          </a:prstGeom>
          <a:noFill/>
          <a:ln/>
        </p:spPr>
        <p:txBody>
          <a:bodyPr wrap="square" rtlCol="0" anchor="ctr"/>
          <a:lstStyle/>
          <a:p>
            <a:pPr indent="0" marL="0">
              <a:buNone/>
            </a:pPr>
            <a:r>
              <a:rPr lang="en-US" sz="950" dirty="0">
                <a:solidFill>
                  <a:srgbClr val="595959"/>
                </a:solidFill>
                <a:latin typeface="Calibri" pitchFamily="34" charset="0"/>
                <a:ea typeface="Calibri" pitchFamily="34" charset="-122"/>
                <a:cs typeface="Calibri" pitchFamily="34" charset="-120"/>
              </a:rPr>
              <a:t>点検代替・受注補完ツール</a:t>
            </a:r>
            <a:endParaRPr lang="en-US" sz="950" dirty="0"/>
          </a:p>
        </p:txBody>
      </p:sp>
      <p:sp>
        <p:nvSpPr>
          <p:cNvPr id="52" name="Text 50"/>
          <p:cNvSpPr/>
          <p:nvPr/>
        </p:nvSpPr>
        <p:spPr>
          <a:xfrm>
            <a:off x="6693408" y="2578608"/>
            <a:ext cx="1993392" cy="292608"/>
          </a:xfrm>
          <a:prstGeom prst="rect">
            <a:avLst/>
          </a:prstGeom>
          <a:noFill/>
          <a:ln/>
        </p:spPr>
        <p:txBody>
          <a:bodyPr wrap="square" rtlCol="0" anchor="ctr"/>
          <a:lstStyle/>
          <a:p>
            <a:pPr algn="ctr" indent="0" marL="0">
              <a:buNone/>
            </a:pPr>
            <a:r>
              <a:rPr lang="en-US" sz="1150" b="1" dirty="0">
                <a:solidFill>
                  <a:srgbClr val="0D7480"/>
                </a:solidFill>
                <a:latin typeface="Calibri" pitchFamily="34" charset="0"/>
                <a:ea typeface="Calibri" pitchFamily="34" charset="-122"/>
                <a:cs typeface="Calibri" pitchFamily="34" charset="-120"/>
              </a:rPr>
              <a:t>5〜20万円/月</a:t>
            </a:r>
            <a:endParaRPr lang="en-US" sz="1150" dirty="0"/>
          </a:p>
        </p:txBody>
      </p:sp>
      <p:sp>
        <p:nvSpPr>
          <p:cNvPr id="53" name="Shape 51"/>
          <p:cNvSpPr/>
          <p:nvPr/>
        </p:nvSpPr>
        <p:spPr>
          <a:xfrm>
            <a:off x="4590288" y="2999232"/>
            <a:ext cx="4187952" cy="457200"/>
          </a:xfrm>
          <a:prstGeom prst="rect">
            <a:avLst/>
          </a:prstGeom>
          <a:solidFill>
            <a:srgbClr val="D0EFEF"/>
          </a:solidFill>
          <a:ln w="9525">
            <a:solidFill>
              <a:srgbClr val="CCCCCC"/>
            </a:solidFill>
            <a:prstDash val="solid"/>
          </a:ln>
        </p:spPr>
      </p:sp>
      <p:sp>
        <p:nvSpPr>
          <p:cNvPr id="54" name="Text 52"/>
          <p:cNvSpPr/>
          <p:nvPr/>
        </p:nvSpPr>
        <p:spPr>
          <a:xfrm>
            <a:off x="4736592" y="3035808"/>
            <a:ext cx="4041648" cy="384048"/>
          </a:xfrm>
          <a:prstGeom prst="rect">
            <a:avLst/>
          </a:prstGeom>
          <a:noFill/>
          <a:ln/>
        </p:spPr>
        <p:txBody>
          <a:bodyPr wrap="square" rtlCol="0" anchor="ctr"/>
          <a:lstStyle/>
          <a:p>
            <a:pPr indent="0" marL="0">
              <a:buNone/>
            </a:pPr>
            <a:r>
              <a:rPr lang="en-US" sz="1100" b="1" dirty="0">
                <a:solidFill>
                  <a:srgbClr val="0D7480"/>
                </a:solidFill>
                <a:latin typeface="Calibri" pitchFamily="34" charset="0"/>
                <a:ea typeface="Calibri" pitchFamily="34" charset="-122"/>
                <a:cs typeface="Calibri" pitchFamily="34" charset="-120"/>
              </a:rPr>
              <a:t>1年目目標：年間収入300万円（PoC後の本格化）</a:t>
            </a:r>
            <a:endParaRPr lang="en-US" sz="1100" dirty="0"/>
          </a:p>
        </p:txBody>
      </p:sp>
      <p:sp>
        <p:nvSpPr>
          <p:cNvPr id="55" name="Shape 53"/>
          <p:cNvSpPr/>
          <p:nvPr/>
        </p:nvSpPr>
        <p:spPr>
          <a:xfrm>
            <a:off x="365760" y="3566160"/>
            <a:ext cx="8412480" cy="475488"/>
          </a:xfrm>
          <a:prstGeom prst="rect">
            <a:avLst/>
          </a:prstGeom>
          <a:solidFill>
            <a:srgbClr val="DD7E6B"/>
          </a:solidFill>
          <a:ln/>
        </p:spPr>
      </p:sp>
      <p:sp>
        <p:nvSpPr>
          <p:cNvPr id="56" name="Text 54"/>
          <p:cNvSpPr/>
          <p:nvPr/>
        </p:nvSpPr>
        <p:spPr>
          <a:xfrm>
            <a:off x="365760" y="3566160"/>
            <a:ext cx="841248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2事業合計　1年目：800万円　2年目：1,500万円　3年目：3,000万円</a:t>
            </a:r>
            <a:endParaRPr lang="en-US" sz="1400" dirty="0"/>
          </a:p>
        </p:txBody>
      </p:sp>
      <p:sp>
        <p:nvSpPr>
          <p:cNvPr id="57" name="Text 55"/>
          <p:cNvSpPr/>
          <p:nvPr/>
        </p:nvSpPr>
        <p:spPr>
          <a:xfrm>
            <a:off x="365760" y="4114800"/>
            <a:ext cx="8412480" cy="274320"/>
          </a:xfrm>
          <a:prstGeom prst="rect">
            <a:avLst/>
          </a:prstGeom>
          <a:noFill/>
          <a:ln/>
        </p:spPr>
        <p:txBody>
          <a:bodyPr wrap="square" rtlCol="0" anchor="ctr"/>
          <a:lstStyle/>
          <a:p>
            <a:pPr indent="0" marL="0">
              <a:buNone/>
            </a:pPr>
            <a:r>
              <a:rPr lang="en-US" sz="950" dirty="0">
                <a:solidFill>
                  <a:srgbClr val="999999"/>
                </a:solidFill>
                <a:latin typeface="Calibri" pitchFamily="34" charset="0"/>
                <a:ea typeface="Calibri" pitchFamily="34" charset="-122"/>
                <a:cs typeface="Calibri" pitchFamily="34" charset="-120"/>
              </a:rPr>
              <a:t>※ 初期は無償PoC → 有償化の順で進める。契約更新率の維持が安定収益の鍵。</a:t>
            </a:r>
            <a:endParaRPr lang="en-US" sz="950" dirty="0"/>
          </a:p>
        </p:txBody>
      </p:sp>
      <p:sp>
        <p:nvSpPr>
          <p:cNvPr id="58" name="Shape 56"/>
          <p:cNvSpPr/>
          <p:nvPr/>
        </p:nvSpPr>
        <p:spPr>
          <a:xfrm>
            <a:off x="365760" y="4407408"/>
            <a:ext cx="4041648" cy="585216"/>
          </a:xfrm>
          <a:prstGeom prst="rect">
            <a:avLst/>
          </a:prstGeom>
          <a:solidFill>
            <a:srgbClr val="D9EAD3"/>
          </a:solidFill>
          <a:ln w="9525">
            <a:solidFill>
              <a:srgbClr val="CCCCCC"/>
            </a:solidFill>
            <a:prstDash val="solid"/>
          </a:ln>
        </p:spPr>
      </p:sp>
      <p:sp>
        <p:nvSpPr>
          <p:cNvPr id="59" name="Text 57"/>
          <p:cNvSpPr/>
          <p:nvPr/>
        </p:nvSpPr>
        <p:spPr>
          <a:xfrm>
            <a:off x="512064" y="4425696"/>
            <a:ext cx="3858768" cy="548640"/>
          </a:xfrm>
          <a:prstGeom prst="rect">
            <a:avLst/>
          </a:prstGeom>
          <a:noFill/>
          <a:ln/>
        </p:spPr>
        <p:txBody>
          <a:bodyPr wrap="square" rtlCol="0" anchor="ctr"/>
          <a:lstStyle/>
          <a:p>
            <a:pPr indent="0" marL="0">
              <a:lnSpc>
                <a:spcPct val="150000"/>
              </a:lnSpc>
              <a:buNone/>
            </a:pPr>
            <a:r>
              <a:rPr lang="en-US" sz="1050" dirty="0">
                <a:solidFill>
                  <a:srgbClr val="156818"/>
                </a:solidFill>
                <a:latin typeface="Calibri" pitchFamily="34" charset="0"/>
                <a:ea typeface="Calibri" pitchFamily="34" charset="-122"/>
                <a:cs typeface="Calibri" pitchFamily="34" charset="-120"/>
              </a:rPr>
              <a:t>廃棄物データ初年度見込み</a:t>
            </a:r>
            <a:endParaRPr lang="en-US" sz="1050" dirty="0"/>
          </a:p>
          <a:p>
            <a:pPr indent="0" marL="0">
              <a:lnSpc>
                <a:spcPct val="150000"/>
              </a:lnSpc>
              <a:buNone/>
            </a:pPr>
            <a:r>
              <a:rPr lang="en-US" sz="1050" dirty="0">
                <a:solidFill>
                  <a:srgbClr val="156818"/>
                </a:solidFill>
                <a:latin typeface="Calibri" pitchFamily="34" charset="0"/>
                <a:ea typeface="Calibri" pitchFamily="34" charset="-122"/>
                <a:cs typeface="Calibri" pitchFamily="34" charset="-120"/>
              </a:rPr>
              <a:t>顧客5社 × 平均8万円/月 → 年間480万円</a:t>
            </a:r>
            <a:endParaRPr lang="en-US" sz="1050" dirty="0"/>
          </a:p>
        </p:txBody>
      </p:sp>
      <p:sp>
        <p:nvSpPr>
          <p:cNvPr id="60" name="Shape 58"/>
          <p:cNvSpPr/>
          <p:nvPr/>
        </p:nvSpPr>
        <p:spPr>
          <a:xfrm>
            <a:off x="4590288" y="4407408"/>
            <a:ext cx="4187952" cy="585216"/>
          </a:xfrm>
          <a:prstGeom prst="rect">
            <a:avLst/>
          </a:prstGeom>
          <a:solidFill>
            <a:srgbClr val="D0EFEF"/>
          </a:solidFill>
          <a:ln w="9525">
            <a:solidFill>
              <a:srgbClr val="CCCCCC"/>
            </a:solidFill>
            <a:prstDash val="solid"/>
          </a:ln>
        </p:spPr>
      </p:sp>
      <p:sp>
        <p:nvSpPr>
          <p:cNvPr id="61" name="Text 59"/>
          <p:cNvSpPr/>
          <p:nvPr/>
        </p:nvSpPr>
        <p:spPr>
          <a:xfrm>
            <a:off x="4736592" y="4425696"/>
            <a:ext cx="4005072" cy="548640"/>
          </a:xfrm>
          <a:prstGeom prst="rect">
            <a:avLst/>
          </a:prstGeom>
          <a:noFill/>
          <a:ln/>
        </p:spPr>
        <p:txBody>
          <a:bodyPr wrap="square" rtlCol="0" anchor="ctr"/>
          <a:lstStyle/>
          <a:p>
            <a:pPr indent="0" marL="0">
              <a:lnSpc>
                <a:spcPct val="150000"/>
              </a:lnSpc>
              <a:buNone/>
            </a:pPr>
            <a:r>
              <a:rPr lang="en-US" sz="1050" dirty="0">
                <a:solidFill>
                  <a:srgbClr val="0D7480"/>
                </a:solidFill>
                <a:latin typeface="Calibri" pitchFamily="34" charset="0"/>
                <a:ea typeface="Calibri" pitchFamily="34" charset="-122"/>
                <a:cs typeface="Calibri" pitchFamily="34" charset="-120"/>
              </a:rPr>
              <a:t>走行データ初年度見込み</a:t>
            </a:r>
            <a:endParaRPr lang="en-US" sz="1050" dirty="0"/>
          </a:p>
          <a:p>
            <a:pPr indent="0" marL="0">
              <a:lnSpc>
                <a:spcPct val="150000"/>
              </a:lnSpc>
              <a:buNone/>
            </a:pPr>
            <a:r>
              <a:rPr lang="en-US" sz="1050" dirty="0">
                <a:solidFill>
                  <a:srgbClr val="0D7480"/>
                </a:solidFill>
                <a:latin typeface="Calibri" pitchFamily="34" charset="0"/>
                <a:ea typeface="Calibri" pitchFamily="34" charset="-122"/>
                <a:cs typeface="Calibri" pitchFamily="34" charset="-120"/>
              </a:rPr>
              <a:t>PoC2〜3件 → 有償移行で年間240〜360万円</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6</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KGI / KPI・マイルストーン</a:t>
            </a:r>
            <a:endParaRPr lang="en-US" sz="1600" dirty="0"/>
          </a:p>
        </p:txBody>
      </p:sp>
      <p:sp>
        <p:nvSpPr>
          <p:cNvPr id="7" name="Shape 5"/>
          <p:cNvSpPr/>
          <p:nvPr/>
        </p:nvSpPr>
        <p:spPr>
          <a:xfrm>
            <a:off x="365760" y="768096"/>
            <a:ext cx="2706624" cy="713232"/>
          </a:xfrm>
          <a:prstGeom prst="rect">
            <a:avLst/>
          </a:prstGeom>
          <a:solidFill>
            <a:srgbClr val="DD7E6B"/>
          </a:solidFill>
          <a:ln/>
        </p:spPr>
      </p:sp>
      <p:sp>
        <p:nvSpPr>
          <p:cNvPr id="8" name="Text 6"/>
          <p:cNvSpPr/>
          <p:nvPr/>
        </p:nvSpPr>
        <p:spPr>
          <a:xfrm>
            <a:off x="475488" y="804672"/>
            <a:ext cx="2487168"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1年目</a:t>
            </a:r>
            <a:endParaRPr lang="en-US" sz="1000" dirty="0"/>
          </a:p>
        </p:txBody>
      </p:sp>
      <p:sp>
        <p:nvSpPr>
          <p:cNvPr id="9" name="Text 7"/>
          <p:cNvSpPr/>
          <p:nvPr/>
        </p:nvSpPr>
        <p:spPr>
          <a:xfrm>
            <a:off x="365760" y="996696"/>
            <a:ext cx="2706624"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年間売上800万円</a:t>
            </a:r>
            <a:endParaRPr lang="en-US" sz="1300" dirty="0"/>
          </a:p>
        </p:txBody>
      </p:sp>
      <p:sp>
        <p:nvSpPr>
          <p:cNvPr id="10" name="Text 8"/>
          <p:cNvSpPr/>
          <p:nvPr/>
        </p:nvSpPr>
        <p:spPr>
          <a:xfrm>
            <a:off x="365760" y="1307592"/>
            <a:ext cx="2706624" cy="164592"/>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廃棄物データ5社・走行PoC3件達成</a:t>
            </a:r>
            <a:endParaRPr lang="en-US" sz="900" dirty="0"/>
          </a:p>
        </p:txBody>
      </p:sp>
      <p:sp>
        <p:nvSpPr>
          <p:cNvPr id="11" name="Shape 9"/>
          <p:cNvSpPr/>
          <p:nvPr/>
        </p:nvSpPr>
        <p:spPr>
          <a:xfrm>
            <a:off x="3172968" y="768096"/>
            <a:ext cx="2706624" cy="713232"/>
          </a:xfrm>
          <a:prstGeom prst="rect">
            <a:avLst/>
          </a:prstGeom>
          <a:solidFill>
            <a:srgbClr val="156818"/>
          </a:solidFill>
          <a:ln/>
        </p:spPr>
      </p:sp>
      <p:sp>
        <p:nvSpPr>
          <p:cNvPr id="12" name="Text 10"/>
          <p:cNvSpPr/>
          <p:nvPr/>
        </p:nvSpPr>
        <p:spPr>
          <a:xfrm>
            <a:off x="3282696" y="804672"/>
            <a:ext cx="2487168"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2年目</a:t>
            </a:r>
            <a:endParaRPr lang="en-US" sz="1000" dirty="0"/>
          </a:p>
        </p:txBody>
      </p:sp>
      <p:sp>
        <p:nvSpPr>
          <p:cNvPr id="13" name="Text 11"/>
          <p:cNvSpPr/>
          <p:nvPr/>
        </p:nvSpPr>
        <p:spPr>
          <a:xfrm>
            <a:off x="3172968" y="996696"/>
            <a:ext cx="2706624"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年間売上1,500万円</a:t>
            </a:r>
            <a:endParaRPr lang="en-US" sz="1300" dirty="0"/>
          </a:p>
        </p:txBody>
      </p:sp>
      <p:sp>
        <p:nvSpPr>
          <p:cNvPr id="14" name="Text 12"/>
          <p:cNvSpPr/>
          <p:nvPr/>
        </p:nvSpPr>
        <p:spPr>
          <a:xfrm>
            <a:off x="3172968" y="1307592"/>
            <a:ext cx="2706624" cy="164592"/>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センサー50台・データ顧客15社</a:t>
            </a:r>
            <a:endParaRPr lang="en-US" sz="900" dirty="0"/>
          </a:p>
        </p:txBody>
      </p:sp>
      <p:sp>
        <p:nvSpPr>
          <p:cNvPr id="15" name="Shape 13"/>
          <p:cNvSpPr/>
          <p:nvPr/>
        </p:nvSpPr>
        <p:spPr>
          <a:xfrm>
            <a:off x="5980176" y="768096"/>
            <a:ext cx="2706624" cy="713232"/>
          </a:xfrm>
          <a:prstGeom prst="rect">
            <a:avLst/>
          </a:prstGeom>
          <a:solidFill>
            <a:srgbClr val="115000"/>
          </a:solidFill>
          <a:ln/>
        </p:spPr>
      </p:sp>
      <p:sp>
        <p:nvSpPr>
          <p:cNvPr id="16" name="Text 14"/>
          <p:cNvSpPr/>
          <p:nvPr/>
        </p:nvSpPr>
        <p:spPr>
          <a:xfrm>
            <a:off x="6089904" y="804672"/>
            <a:ext cx="2487168" cy="21945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3年目</a:t>
            </a:r>
            <a:endParaRPr lang="en-US" sz="1000" dirty="0"/>
          </a:p>
        </p:txBody>
      </p:sp>
      <p:sp>
        <p:nvSpPr>
          <p:cNvPr id="17" name="Text 15"/>
          <p:cNvSpPr/>
          <p:nvPr/>
        </p:nvSpPr>
        <p:spPr>
          <a:xfrm>
            <a:off x="5980176" y="996696"/>
            <a:ext cx="2706624"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年間売上3,000万円</a:t>
            </a:r>
            <a:endParaRPr lang="en-US" sz="1300" dirty="0"/>
          </a:p>
        </p:txBody>
      </p:sp>
      <p:sp>
        <p:nvSpPr>
          <p:cNvPr id="18" name="Text 16"/>
          <p:cNvSpPr/>
          <p:nvPr/>
        </p:nvSpPr>
        <p:spPr>
          <a:xfrm>
            <a:off x="5980176" y="1307592"/>
            <a:ext cx="2706624" cy="164592"/>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単年度黒字・第二収益柱確立</a:t>
            </a:r>
            <a:endParaRPr lang="en-US" sz="900" dirty="0"/>
          </a:p>
        </p:txBody>
      </p:sp>
      <p:sp>
        <p:nvSpPr>
          <p:cNvPr id="19" name="Shape 17"/>
          <p:cNvSpPr/>
          <p:nvPr/>
        </p:nvSpPr>
        <p:spPr>
          <a:xfrm>
            <a:off x="365760" y="1609344"/>
            <a:ext cx="8412480" cy="274320"/>
          </a:xfrm>
          <a:prstGeom prst="rect">
            <a:avLst/>
          </a:prstGeom>
          <a:solidFill>
            <a:srgbClr val="DD7E6B"/>
          </a:solidFill>
          <a:ln/>
        </p:spPr>
      </p:sp>
      <p:sp>
        <p:nvSpPr>
          <p:cNvPr id="20" name="Text 18"/>
          <p:cNvSpPr/>
          <p:nvPr/>
        </p:nvSpPr>
        <p:spPr>
          <a:xfrm>
            <a:off x="365760" y="1609344"/>
            <a:ext cx="841248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KPI管理指標</a:t>
            </a:r>
            <a:endParaRPr lang="en-US" sz="900" dirty="0"/>
          </a:p>
        </p:txBody>
      </p:sp>
      <p:sp>
        <p:nvSpPr>
          <p:cNvPr id="21" name="Shape 19"/>
          <p:cNvSpPr/>
          <p:nvPr/>
        </p:nvSpPr>
        <p:spPr>
          <a:xfrm>
            <a:off x="365760" y="1920240"/>
            <a:ext cx="3986784" cy="292608"/>
          </a:xfrm>
          <a:prstGeom prst="rect">
            <a:avLst/>
          </a:prstGeom>
          <a:solidFill>
            <a:srgbClr val="333333"/>
          </a:solidFill>
          <a:ln/>
        </p:spPr>
      </p:sp>
      <p:sp>
        <p:nvSpPr>
          <p:cNvPr id="22" name="Text 20"/>
          <p:cNvSpPr/>
          <p:nvPr/>
        </p:nvSpPr>
        <p:spPr>
          <a:xfrm>
            <a:off x="365760" y="1920240"/>
            <a:ext cx="3986784"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KPI</a:t>
            </a:r>
            <a:endParaRPr lang="en-US" sz="1000" dirty="0"/>
          </a:p>
        </p:txBody>
      </p:sp>
      <p:sp>
        <p:nvSpPr>
          <p:cNvPr id="23" name="Shape 21"/>
          <p:cNvSpPr/>
          <p:nvPr/>
        </p:nvSpPr>
        <p:spPr>
          <a:xfrm>
            <a:off x="4407408" y="1920240"/>
            <a:ext cx="1481328" cy="292608"/>
          </a:xfrm>
          <a:prstGeom prst="rect">
            <a:avLst/>
          </a:prstGeom>
          <a:solidFill>
            <a:srgbClr val="333333"/>
          </a:solidFill>
          <a:ln/>
        </p:spPr>
      </p:sp>
      <p:sp>
        <p:nvSpPr>
          <p:cNvPr id="24" name="Text 22"/>
          <p:cNvSpPr/>
          <p:nvPr/>
        </p:nvSpPr>
        <p:spPr>
          <a:xfrm>
            <a:off x="4407408" y="1920240"/>
            <a:ext cx="148132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1年目</a:t>
            </a:r>
            <a:endParaRPr lang="en-US" sz="1000" dirty="0"/>
          </a:p>
        </p:txBody>
      </p:sp>
      <p:sp>
        <p:nvSpPr>
          <p:cNvPr id="25" name="Shape 23"/>
          <p:cNvSpPr/>
          <p:nvPr/>
        </p:nvSpPr>
        <p:spPr>
          <a:xfrm>
            <a:off x="5943600" y="1920240"/>
            <a:ext cx="1481328" cy="292608"/>
          </a:xfrm>
          <a:prstGeom prst="rect">
            <a:avLst/>
          </a:prstGeom>
          <a:solidFill>
            <a:srgbClr val="333333"/>
          </a:solidFill>
          <a:ln/>
        </p:spPr>
      </p:sp>
      <p:sp>
        <p:nvSpPr>
          <p:cNvPr id="26" name="Text 24"/>
          <p:cNvSpPr/>
          <p:nvPr/>
        </p:nvSpPr>
        <p:spPr>
          <a:xfrm>
            <a:off x="5943600" y="1920240"/>
            <a:ext cx="148132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2年目</a:t>
            </a:r>
            <a:endParaRPr lang="en-US" sz="1000" dirty="0"/>
          </a:p>
        </p:txBody>
      </p:sp>
      <p:sp>
        <p:nvSpPr>
          <p:cNvPr id="27" name="Shape 25"/>
          <p:cNvSpPr/>
          <p:nvPr/>
        </p:nvSpPr>
        <p:spPr>
          <a:xfrm>
            <a:off x="7479792" y="1920240"/>
            <a:ext cx="1481328" cy="292608"/>
          </a:xfrm>
          <a:prstGeom prst="rect">
            <a:avLst/>
          </a:prstGeom>
          <a:solidFill>
            <a:srgbClr val="333333"/>
          </a:solidFill>
          <a:ln/>
        </p:spPr>
      </p:sp>
      <p:sp>
        <p:nvSpPr>
          <p:cNvPr id="28" name="Text 26"/>
          <p:cNvSpPr/>
          <p:nvPr/>
        </p:nvSpPr>
        <p:spPr>
          <a:xfrm>
            <a:off x="7479792" y="1920240"/>
            <a:ext cx="148132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3年目</a:t>
            </a:r>
            <a:endParaRPr lang="en-US" sz="1000" dirty="0"/>
          </a:p>
        </p:txBody>
      </p:sp>
      <p:sp>
        <p:nvSpPr>
          <p:cNvPr id="29" name="Shape 27"/>
          <p:cNvSpPr/>
          <p:nvPr/>
        </p:nvSpPr>
        <p:spPr>
          <a:xfrm>
            <a:off x="365760" y="2249424"/>
            <a:ext cx="3986784" cy="402336"/>
          </a:xfrm>
          <a:prstGeom prst="rect">
            <a:avLst/>
          </a:prstGeom>
          <a:solidFill>
            <a:srgbClr val="F3F3F3"/>
          </a:solidFill>
          <a:ln/>
        </p:spPr>
      </p:sp>
      <p:sp>
        <p:nvSpPr>
          <p:cNvPr id="30" name="Text 28"/>
          <p:cNvSpPr/>
          <p:nvPr/>
        </p:nvSpPr>
        <p:spPr>
          <a:xfrm>
            <a:off x="493776" y="2249424"/>
            <a:ext cx="3803904" cy="402336"/>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廃棄物データ　有償顧客数</a:t>
            </a:r>
            <a:endParaRPr lang="en-US" sz="1100" dirty="0"/>
          </a:p>
        </p:txBody>
      </p:sp>
      <p:sp>
        <p:nvSpPr>
          <p:cNvPr id="31" name="Shape 29"/>
          <p:cNvSpPr/>
          <p:nvPr/>
        </p:nvSpPr>
        <p:spPr>
          <a:xfrm>
            <a:off x="4407408" y="2249424"/>
            <a:ext cx="1481328" cy="402336"/>
          </a:xfrm>
          <a:prstGeom prst="rect">
            <a:avLst/>
          </a:prstGeom>
          <a:solidFill>
            <a:srgbClr val="F3F3F3"/>
          </a:solidFill>
          <a:ln w="9525">
            <a:solidFill>
              <a:srgbClr val="CCCCCC"/>
            </a:solidFill>
            <a:prstDash val="solid"/>
          </a:ln>
        </p:spPr>
      </p:sp>
      <p:sp>
        <p:nvSpPr>
          <p:cNvPr id="32" name="Text 30"/>
          <p:cNvSpPr/>
          <p:nvPr/>
        </p:nvSpPr>
        <p:spPr>
          <a:xfrm>
            <a:off x="4407408" y="2249424"/>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5社</a:t>
            </a:r>
            <a:endParaRPr lang="en-US" sz="1100" dirty="0"/>
          </a:p>
        </p:txBody>
      </p:sp>
      <p:sp>
        <p:nvSpPr>
          <p:cNvPr id="33" name="Shape 31"/>
          <p:cNvSpPr/>
          <p:nvPr/>
        </p:nvSpPr>
        <p:spPr>
          <a:xfrm>
            <a:off x="5943600" y="2249424"/>
            <a:ext cx="1481328" cy="402336"/>
          </a:xfrm>
          <a:prstGeom prst="rect">
            <a:avLst/>
          </a:prstGeom>
          <a:solidFill>
            <a:srgbClr val="F3F3F3"/>
          </a:solidFill>
          <a:ln w="9525">
            <a:solidFill>
              <a:srgbClr val="CCCCCC"/>
            </a:solidFill>
            <a:prstDash val="solid"/>
          </a:ln>
        </p:spPr>
      </p:sp>
      <p:sp>
        <p:nvSpPr>
          <p:cNvPr id="34" name="Text 32"/>
          <p:cNvSpPr/>
          <p:nvPr/>
        </p:nvSpPr>
        <p:spPr>
          <a:xfrm>
            <a:off x="5943600" y="2249424"/>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15社</a:t>
            </a:r>
            <a:endParaRPr lang="en-US" sz="1100" dirty="0"/>
          </a:p>
        </p:txBody>
      </p:sp>
      <p:sp>
        <p:nvSpPr>
          <p:cNvPr id="35" name="Shape 33"/>
          <p:cNvSpPr/>
          <p:nvPr/>
        </p:nvSpPr>
        <p:spPr>
          <a:xfrm>
            <a:off x="7479792" y="2249424"/>
            <a:ext cx="1481328" cy="402336"/>
          </a:xfrm>
          <a:prstGeom prst="rect">
            <a:avLst/>
          </a:prstGeom>
          <a:solidFill>
            <a:srgbClr val="F3F3F3"/>
          </a:solidFill>
          <a:ln w="9525">
            <a:solidFill>
              <a:srgbClr val="CCCCCC"/>
            </a:solidFill>
            <a:prstDash val="solid"/>
          </a:ln>
        </p:spPr>
      </p:sp>
      <p:sp>
        <p:nvSpPr>
          <p:cNvPr id="36" name="Text 34"/>
          <p:cNvSpPr/>
          <p:nvPr/>
        </p:nvSpPr>
        <p:spPr>
          <a:xfrm>
            <a:off x="7479792" y="2249424"/>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30社以上</a:t>
            </a:r>
            <a:endParaRPr lang="en-US" sz="1100" dirty="0"/>
          </a:p>
        </p:txBody>
      </p:sp>
      <p:sp>
        <p:nvSpPr>
          <p:cNvPr id="37" name="Shape 35"/>
          <p:cNvSpPr/>
          <p:nvPr/>
        </p:nvSpPr>
        <p:spPr>
          <a:xfrm>
            <a:off x="365760" y="2651760"/>
            <a:ext cx="8595360" cy="0"/>
          </a:xfrm>
          <a:prstGeom prst="line">
            <a:avLst/>
          </a:prstGeom>
          <a:noFill/>
          <a:ln w="6350">
            <a:solidFill>
              <a:srgbClr val="CCCCCC"/>
            </a:solidFill>
            <a:prstDash val="solid"/>
          </a:ln>
        </p:spPr>
      </p:sp>
      <p:sp>
        <p:nvSpPr>
          <p:cNvPr id="38" name="Shape 36"/>
          <p:cNvSpPr/>
          <p:nvPr/>
        </p:nvSpPr>
        <p:spPr>
          <a:xfrm>
            <a:off x="365760" y="2688336"/>
            <a:ext cx="3986784" cy="402336"/>
          </a:xfrm>
          <a:prstGeom prst="rect">
            <a:avLst/>
          </a:prstGeom>
          <a:solidFill>
            <a:srgbClr val="FFFFFF"/>
          </a:solidFill>
          <a:ln/>
        </p:spPr>
      </p:sp>
      <p:sp>
        <p:nvSpPr>
          <p:cNvPr id="39" name="Text 37"/>
          <p:cNvSpPr/>
          <p:nvPr/>
        </p:nvSpPr>
        <p:spPr>
          <a:xfrm>
            <a:off x="493776" y="2688336"/>
            <a:ext cx="3803904" cy="402336"/>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廃棄物データ　月間API件数</a:t>
            </a:r>
            <a:endParaRPr lang="en-US" sz="1100" dirty="0"/>
          </a:p>
        </p:txBody>
      </p:sp>
      <p:sp>
        <p:nvSpPr>
          <p:cNvPr id="40" name="Shape 38"/>
          <p:cNvSpPr/>
          <p:nvPr/>
        </p:nvSpPr>
        <p:spPr>
          <a:xfrm>
            <a:off x="4407408" y="2688336"/>
            <a:ext cx="1481328" cy="402336"/>
          </a:xfrm>
          <a:prstGeom prst="rect">
            <a:avLst/>
          </a:prstGeom>
          <a:solidFill>
            <a:srgbClr val="FFFFFF"/>
          </a:solidFill>
          <a:ln w="9525">
            <a:solidFill>
              <a:srgbClr val="CCCCCC"/>
            </a:solidFill>
            <a:prstDash val="solid"/>
          </a:ln>
        </p:spPr>
      </p:sp>
      <p:sp>
        <p:nvSpPr>
          <p:cNvPr id="41" name="Text 39"/>
          <p:cNvSpPr/>
          <p:nvPr/>
        </p:nvSpPr>
        <p:spPr>
          <a:xfrm>
            <a:off x="4407408" y="2688336"/>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試験運用</a:t>
            </a:r>
            <a:endParaRPr lang="en-US" sz="1100" dirty="0"/>
          </a:p>
        </p:txBody>
      </p:sp>
      <p:sp>
        <p:nvSpPr>
          <p:cNvPr id="42" name="Shape 40"/>
          <p:cNvSpPr/>
          <p:nvPr/>
        </p:nvSpPr>
        <p:spPr>
          <a:xfrm>
            <a:off x="5943600" y="2688336"/>
            <a:ext cx="1481328" cy="402336"/>
          </a:xfrm>
          <a:prstGeom prst="rect">
            <a:avLst/>
          </a:prstGeom>
          <a:solidFill>
            <a:srgbClr val="FFFFFF"/>
          </a:solidFill>
          <a:ln w="9525">
            <a:solidFill>
              <a:srgbClr val="CCCCCC"/>
            </a:solidFill>
            <a:prstDash val="solid"/>
          </a:ln>
        </p:spPr>
      </p:sp>
      <p:sp>
        <p:nvSpPr>
          <p:cNvPr id="43" name="Text 41"/>
          <p:cNvSpPr/>
          <p:nvPr/>
        </p:nvSpPr>
        <p:spPr>
          <a:xfrm>
            <a:off x="5943600" y="2688336"/>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50件/月</a:t>
            </a:r>
            <a:endParaRPr lang="en-US" sz="1100" dirty="0"/>
          </a:p>
        </p:txBody>
      </p:sp>
      <p:sp>
        <p:nvSpPr>
          <p:cNvPr id="44" name="Shape 42"/>
          <p:cNvSpPr/>
          <p:nvPr/>
        </p:nvSpPr>
        <p:spPr>
          <a:xfrm>
            <a:off x="7479792" y="2688336"/>
            <a:ext cx="1481328" cy="402336"/>
          </a:xfrm>
          <a:prstGeom prst="rect">
            <a:avLst/>
          </a:prstGeom>
          <a:solidFill>
            <a:srgbClr val="FFFFFF"/>
          </a:solidFill>
          <a:ln w="9525">
            <a:solidFill>
              <a:srgbClr val="CCCCCC"/>
            </a:solidFill>
            <a:prstDash val="solid"/>
          </a:ln>
        </p:spPr>
      </p:sp>
      <p:sp>
        <p:nvSpPr>
          <p:cNvPr id="45" name="Text 43"/>
          <p:cNvSpPr/>
          <p:nvPr/>
        </p:nvSpPr>
        <p:spPr>
          <a:xfrm>
            <a:off x="7479792" y="2688336"/>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200件/月</a:t>
            </a:r>
            <a:endParaRPr lang="en-US" sz="1100" dirty="0"/>
          </a:p>
        </p:txBody>
      </p:sp>
      <p:sp>
        <p:nvSpPr>
          <p:cNvPr id="46" name="Shape 44"/>
          <p:cNvSpPr/>
          <p:nvPr/>
        </p:nvSpPr>
        <p:spPr>
          <a:xfrm>
            <a:off x="365760" y="3090672"/>
            <a:ext cx="8595360" cy="0"/>
          </a:xfrm>
          <a:prstGeom prst="line">
            <a:avLst/>
          </a:prstGeom>
          <a:noFill/>
          <a:ln w="6350">
            <a:solidFill>
              <a:srgbClr val="CCCCCC"/>
            </a:solidFill>
            <a:prstDash val="solid"/>
          </a:ln>
        </p:spPr>
      </p:sp>
      <p:sp>
        <p:nvSpPr>
          <p:cNvPr id="47" name="Shape 45"/>
          <p:cNvSpPr/>
          <p:nvPr/>
        </p:nvSpPr>
        <p:spPr>
          <a:xfrm>
            <a:off x="365760" y="3127248"/>
            <a:ext cx="3986784" cy="402336"/>
          </a:xfrm>
          <a:prstGeom prst="rect">
            <a:avLst/>
          </a:prstGeom>
          <a:solidFill>
            <a:srgbClr val="F3F3F3"/>
          </a:solidFill>
          <a:ln/>
        </p:spPr>
      </p:sp>
      <p:sp>
        <p:nvSpPr>
          <p:cNvPr id="48" name="Text 46"/>
          <p:cNvSpPr/>
          <p:nvPr/>
        </p:nvSpPr>
        <p:spPr>
          <a:xfrm>
            <a:off x="493776" y="3127248"/>
            <a:ext cx="3803904" cy="402336"/>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センサー搭載台数</a:t>
            </a:r>
            <a:endParaRPr lang="en-US" sz="1100" dirty="0"/>
          </a:p>
        </p:txBody>
      </p:sp>
      <p:sp>
        <p:nvSpPr>
          <p:cNvPr id="49" name="Shape 47"/>
          <p:cNvSpPr/>
          <p:nvPr/>
        </p:nvSpPr>
        <p:spPr>
          <a:xfrm>
            <a:off x="4407408" y="3127248"/>
            <a:ext cx="1481328" cy="402336"/>
          </a:xfrm>
          <a:prstGeom prst="rect">
            <a:avLst/>
          </a:prstGeom>
          <a:solidFill>
            <a:srgbClr val="F3F3F3"/>
          </a:solidFill>
          <a:ln w="9525">
            <a:solidFill>
              <a:srgbClr val="CCCCCC"/>
            </a:solidFill>
            <a:prstDash val="solid"/>
          </a:ln>
        </p:spPr>
      </p:sp>
      <p:sp>
        <p:nvSpPr>
          <p:cNvPr id="50" name="Text 48"/>
          <p:cNvSpPr/>
          <p:nvPr/>
        </p:nvSpPr>
        <p:spPr>
          <a:xfrm>
            <a:off x="4407408" y="3127248"/>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3〜5台（PoC）</a:t>
            </a:r>
            <a:endParaRPr lang="en-US" sz="1100" dirty="0"/>
          </a:p>
        </p:txBody>
      </p:sp>
      <p:sp>
        <p:nvSpPr>
          <p:cNvPr id="51" name="Shape 49"/>
          <p:cNvSpPr/>
          <p:nvPr/>
        </p:nvSpPr>
        <p:spPr>
          <a:xfrm>
            <a:off x="5943600" y="3127248"/>
            <a:ext cx="1481328" cy="402336"/>
          </a:xfrm>
          <a:prstGeom prst="rect">
            <a:avLst/>
          </a:prstGeom>
          <a:solidFill>
            <a:srgbClr val="F3F3F3"/>
          </a:solidFill>
          <a:ln w="9525">
            <a:solidFill>
              <a:srgbClr val="CCCCCC"/>
            </a:solidFill>
            <a:prstDash val="solid"/>
          </a:ln>
        </p:spPr>
      </p:sp>
      <p:sp>
        <p:nvSpPr>
          <p:cNvPr id="52" name="Text 50"/>
          <p:cNvSpPr/>
          <p:nvPr/>
        </p:nvSpPr>
        <p:spPr>
          <a:xfrm>
            <a:off x="5943600" y="3127248"/>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50台</a:t>
            </a:r>
            <a:endParaRPr lang="en-US" sz="1100" dirty="0"/>
          </a:p>
        </p:txBody>
      </p:sp>
      <p:sp>
        <p:nvSpPr>
          <p:cNvPr id="53" name="Shape 51"/>
          <p:cNvSpPr/>
          <p:nvPr/>
        </p:nvSpPr>
        <p:spPr>
          <a:xfrm>
            <a:off x="7479792" y="3127248"/>
            <a:ext cx="1481328" cy="402336"/>
          </a:xfrm>
          <a:prstGeom prst="rect">
            <a:avLst/>
          </a:prstGeom>
          <a:solidFill>
            <a:srgbClr val="F3F3F3"/>
          </a:solidFill>
          <a:ln w="9525">
            <a:solidFill>
              <a:srgbClr val="CCCCCC"/>
            </a:solidFill>
            <a:prstDash val="solid"/>
          </a:ln>
        </p:spPr>
      </p:sp>
      <p:sp>
        <p:nvSpPr>
          <p:cNvPr id="54" name="Text 52"/>
          <p:cNvSpPr/>
          <p:nvPr/>
        </p:nvSpPr>
        <p:spPr>
          <a:xfrm>
            <a:off x="7479792" y="3127248"/>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200台（全台）</a:t>
            </a:r>
            <a:endParaRPr lang="en-US" sz="1100" dirty="0"/>
          </a:p>
        </p:txBody>
      </p:sp>
      <p:sp>
        <p:nvSpPr>
          <p:cNvPr id="55" name="Shape 53"/>
          <p:cNvSpPr/>
          <p:nvPr/>
        </p:nvSpPr>
        <p:spPr>
          <a:xfrm>
            <a:off x="365760" y="3529584"/>
            <a:ext cx="8595360" cy="0"/>
          </a:xfrm>
          <a:prstGeom prst="line">
            <a:avLst/>
          </a:prstGeom>
          <a:noFill/>
          <a:ln w="6350">
            <a:solidFill>
              <a:srgbClr val="CCCCCC"/>
            </a:solidFill>
            <a:prstDash val="solid"/>
          </a:ln>
        </p:spPr>
      </p:sp>
      <p:sp>
        <p:nvSpPr>
          <p:cNvPr id="56" name="Shape 54"/>
          <p:cNvSpPr/>
          <p:nvPr/>
        </p:nvSpPr>
        <p:spPr>
          <a:xfrm>
            <a:off x="365760" y="3566160"/>
            <a:ext cx="3986784" cy="402336"/>
          </a:xfrm>
          <a:prstGeom prst="rect">
            <a:avLst/>
          </a:prstGeom>
          <a:solidFill>
            <a:srgbClr val="FFFFFF"/>
          </a:solidFill>
          <a:ln/>
        </p:spPr>
      </p:sp>
      <p:sp>
        <p:nvSpPr>
          <p:cNvPr id="57" name="Text 55"/>
          <p:cNvSpPr/>
          <p:nvPr/>
        </p:nvSpPr>
        <p:spPr>
          <a:xfrm>
            <a:off x="493776" y="3566160"/>
            <a:ext cx="3803904" cy="402336"/>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走行データ　顧客数（自治体等）</a:t>
            </a:r>
            <a:endParaRPr lang="en-US" sz="1100" dirty="0"/>
          </a:p>
        </p:txBody>
      </p:sp>
      <p:sp>
        <p:nvSpPr>
          <p:cNvPr id="58" name="Shape 56"/>
          <p:cNvSpPr/>
          <p:nvPr/>
        </p:nvSpPr>
        <p:spPr>
          <a:xfrm>
            <a:off x="4407408" y="3566160"/>
            <a:ext cx="1481328" cy="402336"/>
          </a:xfrm>
          <a:prstGeom prst="rect">
            <a:avLst/>
          </a:prstGeom>
          <a:solidFill>
            <a:srgbClr val="FFFFFF"/>
          </a:solidFill>
          <a:ln w="9525">
            <a:solidFill>
              <a:srgbClr val="CCCCCC"/>
            </a:solidFill>
            <a:prstDash val="solid"/>
          </a:ln>
        </p:spPr>
      </p:sp>
      <p:sp>
        <p:nvSpPr>
          <p:cNvPr id="59" name="Text 57"/>
          <p:cNvSpPr/>
          <p:nvPr/>
        </p:nvSpPr>
        <p:spPr>
          <a:xfrm>
            <a:off x="4407408" y="3566160"/>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2〜3件</a:t>
            </a:r>
            <a:endParaRPr lang="en-US" sz="1100" dirty="0"/>
          </a:p>
        </p:txBody>
      </p:sp>
      <p:sp>
        <p:nvSpPr>
          <p:cNvPr id="60" name="Shape 58"/>
          <p:cNvSpPr/>
          <p:nvPr/>
        </p:nvSpPr>
        <p:spPr>
          <a:xfrm>
            <a:off x="5943600" y="3566160"/>
            <a:ext cx="1481328" cy="402336"/>
          </a:xfrm>
          <a:prstGeom prst="rect">
            <a:avLst/>
          </a:prstGeom>
          <a:solidFill>
            <a:srgbClr val="FFFFFF"/>
          </a:solidFill>
          <a:ln w="9525">
            <a:solidFill>
              <a:srgbClr val="CCCCCC"/>
            </a:solidFill>
            <a:prstDash val="solid"/>
          </a:ln>
        </p:spPr>
      </p:sp>
      <p:sp>
        <p:nvSpPr>
          <p:cNvPr id="61" name="Text 59"/>
          <p:cNvSpPr/>
          <p:nvPr/>
        </p:nvSpPr>
        <p:spPr>
          <a:xfrm>
            <a:off x="5943600" y="3566160"/>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8〜10件</a:t>
            </a:r>
            <a:endParaRPr lang="en-US" sz="1100" dirty="0"/>
          </a:p>
        </p:txBody>
      </p:sp>
      <p:sp>
        <p:nvSpPr>
          <p:cNvPr id="62" name="Shape 60"/>
          <p:cNvSpPr/>
          <p:nvPr/>
        </p:nvSpPr>
        <p:spPr>
          <a:xfrm>
            <a:off x="7479792" y="3566160"/>
            <a:ext cx="1481328" cy="402336"/>
          </a:xfrm>
          <a:prstGeom prst="rect">
            <a:avLst/>
          </a:prstGeom>
          <a:solidFill>
            <a:srgbClr val="FFFFFF"/>
          </a:solidFill>
          <a:ln w="9525">
            <a:solidFill>
              <a:srgbClr val="CCCCCC"/>
            </a:solidFill>
            <a:prstDash val="solid"/>
          </a:ln>
        </p:spPr>
      </p:sp>
      <p:sp>
        <p:nvSpPr>
          <p:cNvPr id="63" name="Text 61"/>
          <p:cNvSpPr/>
          <p:nvPr/>
        </p:nvSpPr>
        <p:spPr>
          <a:xfrm>
            <a:off x="7479792" y="3566160"/>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20件以上</a:t>
            </a:r>
            <a:endParaRPr lang="en-US" sz="1100" dirty="0"/>
          </a:p>
        </p:txBody>
      </p:sp>
      <p:sp>
        <p:nvSpPr>
          <p:cNvPr id="64" name="Shape 62"/>
          <p:cNvSpPr/>
          <p:nvPr/>
        </p:nvSpPr>
        <p:spPr>
          <a:xfrm>
            <a:off x="365760" y="3968496"/>
            <a:ext cx="8595360" cy="0"/>
          </a:xfrm>
          <a:prstGeom prst="line">
            <a:avLst/>
          </a:prstGeom>
          <a:noFill/>
          <a:ln w="6350">
            <a:solidFill>
              <a:srgbClr val="CCCCCC"/>
            </a:solidFill>
            <a:prstDash val="solid"/>
          </a:ln>
        </p:spPr>
      </p:sp>
      <p:sp>
        <p:nvSpPr>
          <p:cNvPr id="65" name="Shape 63"/>
          <p:cNvSpPr/>
          <p:nvPr/>
        </p:nvSpPr>
        <p:spPr>
          <a:xfrm>
            <a:off x="365760" y="4005072"/>
            <a:ext cx="3986784" cy="402336"/>
          </a:xfrm>
          <a:prstGeom prst="rect">
            <a:avLst/>
          </a:prstGeom>
          <a:solidFill>
            <a:srgbClr val="F3F3F3"/>
          </a:solidFill>
          <a:ln/>
        </p:spPr>
      </p:sp>
      <p:sp>
        <p:nvSpPr>
          <p:cNvPr id="66" name="Text 64"/>
          <p:cNvSpPr/>
          <p:nvPr/>
        </p:nvSpPr>
        <p:spPr>
          <a:xfrm>
            <a:off x="493776" y="4005072"/>
            <a:ext cx="3803904" cy="402336"/>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顧客継続率（年次更新）</a:t>
            </a:r>
            <a:endParaRPr lang="en-US" sz="1100" dirty="0"/>
          </a:p>
        </p:txBody>
      </p:sp>
      <p:sp>
        <p:nvSpPr>
          <p:cNvPr id="67" name="Shape 65"/>
          <p:cNvSpPr/>
          <p:nvPr/>
        </p:nvSpPr>
        <p:spPr>
          <a:xfrm>
            <a:off x="4407408" y="4005072"/>
            <a:ext cx="1481328" cy="402336"/>
          </a:xfrm>
          <a:prstGeom prst="rect">
            <a:avLst/>
          </a:prstGeom>
          <a:solidFill>
            <a:srgbClr val="F3F3F3"/>
          </a:solidFill>
          <a:ln w="9525">
            <a:solidFill>
              <a:srgbClr val="CCCCCC"/>
            </a:solidFill>
            <a:prstDash val="solid"/>
          </a:ln>
        </p:spPr>
      </p:sp>
      <p:sp>
        <p:nvSpPr>
          <p:cNvPr id="68" name="Text 66"/>
          <p:cNvSpPr/>
          <p:nvPr/>
        </p:nvSpPr>
        <p:spPr>
          <a:xfrm>
            <a:off x="4407408" y="4005072"/>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5943600" y="4005072"/>
            <a:ext cx="1481328" cy="402336"/>
          </a:xfrm>
          <a:prstGeom prst="rect">
            <a:avLst/>
          </a:prstGeom>
          <a:solidFill>
            <a:srgbClr val="F3F3F3"/>
          </a:solidFill>
          <a:ln w="9525">
            <a:solidFill>
              <a:srgbClr val="CCCCCC"/>
            </a:solidFill>
            <a:prstDash val="solid"/>
          </a:ln>
        </p:spPr>
      </p:sp>
      <p:sp>
        <p:nvSpPr>
          <p:cNvPr id="70" name="Text 68"/>
          <p:cNvSpPr/>
          <p:nvPr/>
        </p:nvSpPr>
        <p:spPr>
          <a:xfrm>
            <a:off x="5943600" y="4005072"/>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85%以上</a:t>
            </a:r>
            <a:endParaRPr lang="en-US" sz="1100" dirty="0"/>
          </a:p>
        </p:txBody>
      </p:sp>
      <p:sp>
        <p:nvSpPr>
          <p:cNvPr id="71" name="Shape 69"/>
          <p:cNvSpPr/>
          <p:nvPr/>
        </p:nvSpPr>
        <p:spPr>
          <a:xfrm>
            <a:off x="7479792" y="4005072"/>
            <a:ext cx="1481328" cy="402336"/>
          </a:xfrm>
          <a:prstGeom prst="rect">
            <a:avLst/>
          </a:prstGeom>
          <a:solidFill>
            <a:srgbClr val="F3F3F3"/>
          </a:solidFill>
          <a:ln w="9525">
            <a:solidFill>
              <a:srgbClr val="CCCCCC"/>
            </a:solidFill>
            <a:prstDash val="solid"/>
          </a:ln>
        </p:spPr>
      </p:sp>
      <p:sp>
        <p:nvSpPr>
          <p:cNvPr id="72" name="Text 70"/>
          <p:cNvSpPr/>
          <p:nvPr/>
        </p:nvSpPr>
        <p:spPr>
          <a:xfrm>
            <a:off x="7479792" y="4005072"/>
            <a:ext cx="1481328" cy="402336"/>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90%以上</a:t>
            </a:r>
            <a:endParaRPr lang="en-US" sz="1100" dirty="0"/>
          </a:p>
        </p:txBody>
      </p:sp>
      <p:sp>
        <p:nvSpPr>
          <p:cNvPr id="73" name="Shape 71"/>
          <p:cNvSpPr/>
          <p:nvPr/>
        </p:nvSpPr>
        <p:spPr>
          <a:xfrm>
            <a:off x="365760" y="4407408"/>
            <a:ext cx="8595360" cy="0"/>
          </a:xfrm>
          <a:prstGeom prst="line">
            <a:avLst/>
          </a:prstGeom>
          <a:noFill/>
          <a:ln w="6350">
            <a:solidFill>
              <a:srgbClr val="CCCCCC"/>
            </a:solidFill>
            <a:prstDash val="solid"/>
          </a:ln>
        </p:spPr>
      </p:sp>
      <p:sp>
        <p:nvSpPr>
          <p:cNvPr id="74" name="Shape 72"/>
          <p:cNvSpPr/>
          <p:nvPr/>
        </p:nvSpPr>
        <p:spPr>
          <a:xfrm>
            <a:off x="365760" y="4443984"/>
            <a:ext cx="3986784" cy="402336"/>
          </a:xfrm>
          <a:prstGeom prst="rect">
            <a:avLst/>
          </a:prstGeom>
          <a:solidFill>
            <a:srgbClr val="D9EAD3"/>
          </a:solidFill>
          <a:ln/>
        </p:spPr>
      </p:sp>
      <p:sp>
        <p:nvSpPr>
          <p:cNvPr id="75" name="Shape 73"/>
          <p:cNvSpPr/>
          <p:nvPr/>
        </p:nvSpPr>
        <p:spPr>
          <a:xfrm>
            <a:off x="365760" y="4443984"/>
            <a:ext cx="54864" cy="402336"/>
          </a:xfrm>
          <a:prstGeom prst="rect">
            <a:avLst/>
          </a:prstGeom>
          <a:solidFill>
            <a:srgbClr val="156818"/>
          </a:solidFill>
          <a:ln/>
        </p:spPr>
      </p:sp>
      <p:sp>
        <p:nvSpPr>
          <p:cNvPr id="76" name="Text 74"/>
          <p:cNvSpPr/>
          <p:nvPr/>
        </p:nvSpPr>
        <p:spPr>
          <a:xfrm>
            <a:off x="493776" y="4443984"/>
            <a:ext cx="3803904" cy="402336"/>
          </a:xfrm>
          <a:prstGeom prst="rect">
            <a:avLst/>
          </a:prstGeom>
          <a:noFill/>
          <a:ln/>
        </p:spPr>
        <p:txBody>
          <a:bodyPr wrap="square" rtlCol="0" anchor="ctr"/>
          <a:lstStyle/>
          <a:p>
            <a:pPr indent="0" marL="0">
              <a:buNone/>
            </a:pPr>
            <a:r>
              <a:rPr lang="en-US" sz="1100" b="1" dirty="0">
                <a:solidFill>
                  <a:srgbClr val="156818"/>
                </a:solidFill>
                <a:latin typeface="Calibri" pitchFamily="34" charset="0"/>
                <a:ea typeface="Calibri" pitchFamily="34" charset="-122"/>
                <a:cs typeface="Calibri" pitchFamily="34" charset="-120"/>
              </a:rPr>
              <a:t>2事業合計年間売上</a:t>
            </a:r>
            <a:endParaRPr lang="en-US" sz="1100" dirty="0"/>
          </a:p>
        </p:txBody>
      </p:sp>
      <p:sp>
        <p:nvSpPr>
          <p:cNvPr id="77" name="Shape 75"/>
          <p:cNvSpPr/>
          <p:nvPr/>
        </p:nvSpPr>
        <p:spPr>
          <a:xfrm>
            <a:off x="4407408" y="4443984"/>
            <a:ext cx="1481328" cy="402336"/>
          </a:xfrm>
          <a:prstGeom prst="rect">
            <a:avLst/>
          </a:prstGeom>
          <a:solidFill>
            <a:srgbClr val="D9EAD3"/>
          </a:solidFill>
          <a:ln w="9525">
            <a:solidFill>
              <a:srgbClr val="CCCCCC"/>
            </a:solidFill>
            <a:prstDash val="solid"/>
          </a:ln>
        </p:spPr>
      </p:sp>
      <p:sp>
        <p:nvSpPr>
          <p:cNvPr id="78" name="Text 76"/>
          <p:cNvSpPr/>
          <p:nvPr/>
        </p:nvSpPr>
        <p:spPr>
          <a:xfrm>
            <a:off x="4407408" y="4443984"/>
            <a:ext cx="1481328" cy="402336"/>
          </a:xfrm>
          <a:prstGeom prst="rect">
            <a:avLst/>
          </a:prstGeom>
          <a:noFill/>
          <a:ln/>
        </p:spPr>
        <p:txBody>
          <a:bodyPr wrap="square" rtlCol="0" anchor="ctr"/>
          <a:lstStyle/>
          <a:p>
            <a:pPr algn="ctr" indent="0" marL="0">
              <a:buNone/>
            </a:pPr>
            <a:r>
              <a:rPr lang="en-US" sz="1100" b="1" dirty="0">
                <a:solidFill>
                  <a:srgbClr val="188038"/>
                </a:solidFill>
                <a:latin typeface="Calibri" pitchFamily="34" charset="0"/>
                <a:ea typeface="Calibri" pitchFamily="34" charset="-122"/>
                <a:cs typeface="Calibri" pitchFamily="34" charset="-120"/>
              </a:rPr>
              <a:t>800万円</a:t>
            </a:r>
            <a:endParaRPr lang="en-US" sz="1100" dirty="0"/>
          </a:p>
        </p:txBody>
      </p:sp>
      <p:sp>
        <p:nvSpPr>
          <p:cNvPr id="79" name="Shape 77"/>
          <p:cNvSpPr/>
          <p:nvPr/>
        </p:nvSpPr>
        <p:spPr>
          <a:xfrm>
            <a:off x="5943600" y="4443984"/>
            <a:ext cx="1481328" cy="402336"/>
          </a:xfrm>
          <a:prstGeom prst="rect">
            <a:avLst/>
          </a:prstGeom>
          <a:solidFill>
            <a:srgbClr val="D9EAD3"/>
          </a:solidFill>
          <a:ln w="9525">
            <a:solidFill>
              <a:srgbClr val="CCCCCC"/>
            </a:solidFill>
            <a:prstDash val="solid"/>
          </a:ln>
        </p:spPr>
      </p:sp>
      <p:sp>
        <p:nvSpPr>
          <p:cNvPr id="80" name="Text 78"/>
          <p:cNvSpPr/>
          <p:nvPr/>
        </p:nvSpPr>
        <p:spPr>
          <a:xfrm>
            <a:off x="5943600" y="4443984"/>
            <a:ext cx="1481328" cy="402336"/>
          </a:xfrm>
          <a:prstGeom prst="rect">
            <a:avLst/>
          </a:prstGeom>
          <a:noFill/>
          <a:ln/>
        </p:spPr>
        <p:txBody>
          <a:bodyPr wrap="square" rtlCol="0" anchor="ctr"/>
          <a:lstStyle/>
          <a:p>
            <a:pPr algn="ctr" indent="0" marL="0">
              <a:buNone/>
            </a:pPr>
            <a:r>
              <a:rPr lang="en-US" sz="1100" b="1" dirty="0">
                <a:solidFill>
                  <a:srgbClr val="188038"/>
                </a:solidFill>
                <a:latin typeface="Calibri" pitchFamily="34" charset="0"/>
                <a:ea typeface="Calibri" pitchFamily="34" charset="-122"/>
                <a:cs typeface="Calibri" pitchFamily="34" charset="-120"/>
              </a:rPr>
              <a:t>1,500万円</a:t>
            </a:r>
            <a:endParaRPr lang="en-US" sz="1100" dirty="0"/>
          </a:p>
        </p:txBody>
      </p:sp>
      <p:sp>
        <p:nvSpPr>
          <p:cNvPr id="81" name="Shape 79"/>
          <p:cNvSpPr/>
          <p:nvPr/>
        </p:nvSpPr>
        <p:spPr>
          <a:xfrm>
            <a:off x="7479792" y="4443984"/>
            <a:ext cx="1481328" cy="402336"/>
          </a:xfrm>
          <a:prstGeom prst="rect">
            <a:avLst/>
          </a:prstGeom>
          <a:solidFill>
            <a:srgbClr val="D9EAD3"/>
          </a:solidFill>
          <a:ln w="9525">
            <a:solidFill>
              <a:srgbClr val="CCCCCC"/>
            </a:solidFill>
            <a:prstDash val="solid"/>
          </a:ln>
        </p:spPr>
      </p:sp>
      <p:sp>
        <p:nvSpPr>
          <p:cNvPr id="82" name="Text 80"/>
          <p:cNvSpPr/>
          <p:nvPr/>
        </p:nvSpPr>
        <p:spPr>
          <a:xfrm>
            <a:off x="7479792" y="4443984"/>
            <a:ext cx="1481328" cy="402336"/>
          </a:xfrm>
          <a:prstGeom prst="rect">
            <a:avLst/>
          </a:prstGeom>
          <a:noFill/>
          <a:ln/>
        </p:spPr>
        <p:txBody>
          <a:bodyPr wrap="square" rtlCol="0" anchor="ctr"/>
          <a:lstStyle/>
          <a:p>
            <a:pPr algn="ctr" indent="0" marL="0">
              <a:buNone/>
            </a:pPr>
            <a:r>
              <a:rPr lang="en-US" sz="1100" b="1" dirty="0">
                <a:solidFill>
                  <a:srgbClr val="188038"/>
                </a:solidFill>
                <a:latin typeface="Calibri" pitchFamily="34" charset="0"/>
                <a:ea typeface="Calibri" pitchFamily="34" charset="-122"/>
                <a:cs typeface="Calibri" pitchFamily="34" charset="-120"/>
              </a:rPr>
              <a:t>3,000万円</a:t>
            </a:r>
            <a:endParaRPr lang="en-US" sz="1100" dirty="0"/>
          </a:p>
        </p:txBody>
      </p:sp>
      <p:sp>
        <p:nvSpPr>
          <p:cNvPr id="83" name="Shape 81"/>
          <p:cNvSpPr/>
          <p:nvPr/>
        </p:nvSpPr>
        <p:spPr>
          <a:xfrm>
            <a:off x="365760" y="4846320"/>
            <a:ext cx="8595360" cy="0"/>
          </a:xfrm>
          <a:prstGeom prst="line">
            <a:avLst/>
          </a:prstGeom>
          <a:noFill/>
          <a:ln w="6350">
            <a:solidFill>
              <a:srgbClr val="CCCCC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3F3F3"/>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7</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ロードマップ（3フェーズ）</a:t>
            </a:r>
            <a:endParaRPr lang="en-US" sz="1600" dirty="0"/>
          </a:p>
        </p:txBody>
      </p:sp>
      <p:sp>
        <p:nvSpPr>
          <p:cNvPr id="7" name="Shape 5"/>
          <p:cNvSpPr/>
          <p:nvPr/>
        </p:nvSpPr>
        <p:spPr>
          <a:xfrm>
            <a:off x="274320" y="786384"/>
            <a:ext cx="2816352" cy="4114800"/>
          </a:xfrm>
          <a:prstGeom prst="rect">
            <a:avLst/>
          </a:prstGeom>
          <a:solidFill>
            <a:srgbClr val="FFFFFF"/>
          </a:solidFill>
          <a:ln w="9525">
            <a:solidFill>
              <a:srgbClr val="CCCCCC"/>
            </a:solidFill>
            <a:prstDash val="solid"/>
          </a:ln>
        </p:spPr>
      </p:sp>
      <p:sp>
        <p:nvSpPr>
          <p:cNvPr id="8" name="Shape 6"/>
          <p:cNvSpPr/>
          <p:nvPr/>
        </p:nvSpPr>
        <p:spPr>
          <a:xfrm>
            <a:off x="274320" y="786384"/>
            <a:ext cx="2816352" cy="54864"/>
          </a:xfrm>
          <a:prstGeom prst="rect">
            <a:avLst/>
          </a:prstGeom>
          <a:solidFill>
            <a:srgbClr val="DD7E6B"/>
          </a:solidFill>
          <a:ln/>
        </p:spPr>
      </p:sp>
      <p:sp>
        <p:nvSpPr>
          <p:cNvPr id="9" name="Shape 7"/>
          <p:cNvSpPr/>
          <p:nvPr/>
        </p:nvSpPr>
        <p:spPr>
          <a:xfrm>
            <a:off x="1444752" y="877824"/>
            <a:ext cx="438912" cy="438912"/>
          </a:xfrm>
          <a:prstGeom prst="ellipse">
            <a:avLst/>
          </a:prstGeom>
          <a:solidFill>
            <a:srgbClr val="DD7E6B"/>
          </a:solidFill>
          <a:ln/>
        </p:spPr>
      </p:sp>
      <p:sp>
        <p:nvSpPr>
          <p:cNvPr id="10" name="Text 8"/>
          <p:cNvSpPr/>
          <p:nvPr/>
        </p:nvSpPr>
        <p:spPr>
          <a:xfrm>
            <a:off x="1444752"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274320" y="1426464"/>
            <a:ext cx="2816352" cy="365760"/>
          </a:xfrm>
          <a:prstGeom prst="rect">
            <a:avLst/>
          </a:prstGeom>
          <a:noFill/>
          <a:ln/>
        </p:spPr>
        <p:txBody>
          <a:bodyPr wrap="square" rtlCol="0" anchor="ctr"/>
          <a:lstStyle/>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〜6ヶ月</a:t>
            </a:r>
            <a:endParaRPr lang="en-US" sz="950" dirty="0"/>
          </a:p>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（7〜12月）</a:t>
            </a:r>
            <a:endParaRPr lang="en-US" sz="950" dirty="0"/>
          </a:p>
        </p:txBody>
      </p:sp>
      <p:sp>
        <p:nvSpPr>
          <p:cNvPr id="12" name="Text 10"/>
          <p:cNvSpPr/>
          <p:nvPr/>
        </p:nvSpPr>
        <p:spPr>
          <a:xfrm>
            <a:off x="274320" y="1828800"/>
            <a:ext cx="2816352" cy="384048"/>
          </a:xfrm>
          <a:prstGeom prst="rect">
            <a:avLst/>
          </a:prstGeom>
          <a:noFill/>
          <a:ln/>
        </p:spPr>
        <p:txBody>
          <a:bodyPr wrap="square" rtlCol="0" anchor="ctr"/>
          <a:lstStyle/>
          <a:p>
            <a:pPr algn="ctr" indent="0" marL="0">
              <a:buNone/>
            </a:pPr>
            <a:r>
              <a:rPr lang="en-US" sz="1500" b="1" dirty="0">
                <a:solidFill>
                  <a:srgbClr val="DD7E6B"/>
                </a:solidFill>
                <a:latin typeface="Calibri" pitchFamily="34" charset="0"/>
                <a:ea typeface="Calibri" pitchFamily="34" charset="-122"/>
                <a:cs typeface="Calibri" pitchFamily="34" charset="-120"/>
              </a:rPr>
              <a:t>データ整備・PoC</a:t>
            </a:r>
            <a:endParaRPr lang="en-US" sz="1500" dirty="0"/>
          </a:p>
        </p:txBody>
      </p:sp>
      <p:sp>
        <p:nvSpPr>
          <p:cNvPr id="13" name="Shape 11"/>
          <p:cNvSpPr/>
          <p:nvPr/>
        </p:nvSpPr>
        <p:spPr>
          <a:xfrm>
            <a:off x="411480" y="2267712"/>
            <a:ext cx="2542032" cy="0"/>
          </a:xfrm>
          <a:prstGeom prst="line">
            <a:avLst/>
          </a:prstGeom>
          <a:noFill/>
          <a:ln w="6350">
            <a:solidFill>
              <a:srgbClr val="DD7E6B"/>
            </a:solidFill>
            <a:prstDash val="solid"/>
          </a:ln>
        </p:spPr>
      </p:sp>
      <p:sp>
        <p:nvSpPr>
          <p:cNvPr id="14" name="Shape 12"/>
          <p:cNvSpPr/>
          <p:nvPr/>
        </p:nvSpPr>
        <p:spPr>
          <a:xfrm>
            <a:off x="457200" y="2395728"/>
            <a:ext cx="118872" cy="118872"/>
          </a:xfrm>
          <a:prstGeom prst="ellipse">
            <a:avLst/>
          </a:prstGeom>
          <a:solidFill>
            <a:srgbClr val="DD7E6B"/>
          </a:solidFill>
          <a:ln/>
        </p:spPr>
      </p:sp>
      <p:sp>
        <p:nvSpPr>
          <p:cNvPr id="15" name="Text 13"/>
          <p:cNvSpPr/>
          <p:nvPr/>
        </p:nvSpPr>
        <p:spPr>
          <a:xfrm>
            <a:off x="621792" y="2350008"/>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ラクハイデータの品目別・施設別集計整備</a:t>
            </a:r>
            <a:endParaRPr lang="en-US" sz="1050" dirty="0"/>
          </a:p>
        </p:txBody>
      </p:sp>
      <p:sp>
        <p:nvSpPr>
          <p:cNvPr id="16" name="Shape 14"/>
          <p:cNvSpPr/>
          <p:nvPr/>
        </p:nvSpPr>
        <p:spPr>
          <a:xfrm>
            <a:off x="457200" y="2798064"/>
            <a:ext cx="118872" cy="118872"/>
          </a:xfrm>
          <a:prstGeom prst="ellipse">
            <a:avLst/>
          </a:prstGeom>
          <a:solidFill>
            <a:srgbClr val="DD7E6B"/>
          </a:solidFill>
          <a:ln/>
        </p:spPr>
      </p:sp>
      <p:sp>
        <p:nvSpPr>
          <p:cNvPr id="17" name="Text 15"/>
          <p:cNvSpPr/>
          <p:nvPr/>
        </p:nvSpPr>
        <p:spPr>
          <a:xfrm>
            <a:off x="621792" y="2752344"/>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センサー3〜5台搭載・精度検証（社内）</a:t>
            </a:r>
            <a:endParaRPr lang="en-US" sz="1050" dirty="0"/>
          </a:p>
        </p:txBody>
      </p:sp>
      <p:sp>
        <p:nvSpPr>
          <p:cNvPr id="18" name="Shape 16"/>
          <p:cNvSpPr/>
          <p:nvPr/>
        </p:nvSpPr>
        <p:spPr>
          <a:xfrm>
            <a:off x="457200" y="3200400"/>
            <a:ext cx="118872" cy="118872"/>
          </a:xfrm>
          <a:prstGeom prst="ellipse">
            <a:avLst/>
          </a:prstGeom>
          <a:solidFill>
            <a:srgbClr val="DD7E6B"/>
          </a:solidFill>
          <a:ln/>
        </p:spPr>
      </p:sp>
      <p:sp>
        <p:nvSpPr>
          <p:cNvPr id="19" name="Text 17"/>
          <p:cNvSpPr/>
          <p:nvPr/>
        </p:nvSpPr>
        <p:spPr>
          <a:xfrm>
            <a:off x="621792" y="3154680"/>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調査会社1〜2社に無償サンプル提供</a:t>
            </a:r>
            <a:endParaRPr lang="en-US" sz="1050" dirty="0"/>
          </a:p>
        </p:txBody>
      </p:sp>
      <p:sp>
        <p:nvSpPr>
          <p:cNvPr id="20" name="Shape 18"/>
          <p:cNvSpPr/>
          <p:nvPr/>
        </p:nvSpPr>
        <p:spPr>
          <a:xfrm>
            <a:off x="457200" y="3602736"/>
            <a:ext cx="118872" cy="118872"/>
          </a:xfrm>
          <a:prstGeom prst="ellipse">
            <a:avLst/>
          </a:prstGeom>
          <a:solidFill>
            <a:srgbClr val="DD7E6B"/>
          </a:solidFill>
          <a:ln/>
        </p:spPr>
      </p:sp>
      <p:sp>
        <p:nvSpPr>
          <p:cNvPr id="21" name="Text 19"/>
          <p:cNvSpPr/>
          <p:nvPr/>
        </p:nvSpPr>
        <p:spPr>
          <a:xfrm>
            <a:off x="621792" y="3557016"/>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自治体1市にPoC提案・接触開始</a:t>
            </a:r>
            <a:endParaRPr lang="en-US" sz="1050" dirty="0"/>
          </a:p>
        </p:txBody>
      </p:sp>
      <p:sp>
        <p:nvSpPr>
          <p:cNvPr id="22" name="Shape 20"/>
          <p:cNvSpPr/>
          <p:nvPr/>
        </p:nvSpPr>
        <p:spPr>
          <a:xfrm>
            <a:off x="384048" y="4242816"/>
            <a:ext cx="2596896" cy="438912"/>
          </a:xfrm>
          <a:prstGeom prst="rect">
            <a:avLst/>
          </a:prstGeom>
          <a:solidFill>
            <a:srgbClr val="DD7E6B"/>
          </a:solidFill>
          <a:ln/>
        </p:spPr>
      </p:sp>
      <p:sp>
        <p:nvSpPr>
          <p:cNvPr id="23" name="Text 21"/>
          <p:cNvSpPr/>
          <p:nvPr/>
        </p:nvSpPr>
        <p:spPr>
          <a:xfrm>
            <a:off x="384048" y="4242816"/>
            <a:ext cx="2596896"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有償化候補 3件以上確保</a:t>
            </a:r>
            <a:endParaRPr lang="en-US" sz="1000" dirty="0"/>
          </a:p>
        </p:txBody>
      </p:sp>
      <p:sp>
        <p:nvSpPr>
          <p:cNvPr id="24" name="Text 22"/>
          <p:cNvSpPr/>
          <p:nvPr/>
        </p:nvSpPr>
        <p:spPr>
          <a:xfrm>
            <a:off x="3090672" y="2615184"/>
            <a:ext cx="137160" cy="365760"/>
          </a:xfrm>
          <a:prstGeom prst="rect">
            <a:avLst/>
          </a:prstGeom>
          <a:noFill/>
          <a:ln/>
        </p:spPr>
        <p:txBody>
          <a:bodyPr wrap="square" rtlCol="0" anchor="ctr"/>
          <a:lstStyle/>
          <a:p>
            <a:pPr algn="ctr" indent="0" marL="0">
              <a:buNone/>
            </a:pPr>
            <a:r>
              <a:rPr lang="en-US" sz="1400" dirty="0">
                <a:solidFill>
                  <a:srgbClr val="DD7E6B"/>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3227832" y="786384"/>
            <a:ext cx="2816352" cy="4114800"/>
          </a:xfrm>
          <a:prstGeom prst="rect">
            <a:avLst/>
          </a:prstGeom>
          <a:solidFill>
            <a:srgbClr val="FFFFFF"/>
          </a:solidFill>
          <a:ln w="9525">
            <a:solidFill>
              <a:srgbClr val="CCCCCC"/>
            </a:solidFill>
            <a:prstDash val="solid"/>
          </a:ln>
        </p:spPr>
      </p:sp>
      <p:sp>
        <p:nvSpPr>
          <p:cNvPr id="26" name="Shape 24"/>
          <p:cNvSpPr/>
          <p:nvPr/>
        </p:nvSpPr>
        <p:spPr>
          <a:xfrm>
            <a:off x="3227832" y="786384"/>
            <a:ext cx="2816352" cy="54864"/>
          </a:xfrm>
          <a:prstGeom prst="rect">
            <a:avLst/>
          </a:prstGeom>
          <a:solidFill>
            <a:srgbClr val="156818"/>
          </a:solidFill>
          <a:ln/>
        </p:spPr>
      </p:sp>
      <p:sp>
        <p:nvSpPr>
          <p:cNvPr id="27" name="Shape 25"/>
          <p:cNvSpPr/>
          <p:nvPr/>
        </p:nvSpPr>
        <p:spPr>
          <a:xfrm>
            <a:off x="4398264" y="877824"/>
            <a:ext cx="438912" cy="438912"/>
          </a:xfrm>
          <a:prstGeom prst="ellipse">
            <a:avLst/>
          </a:prstGeom>
          <a:solidFill>
            <a:srgbClr val="156818"/>
          </a:solidFill>
          <a:ln/>
        </p:spPr>
      </p:sp>
      <p:sp>
        <p:nvSpPr>
          <p:cNvPr id="28" name="Text 26"/>
          <p:cNvSpPr/>
          <p:nvPr/>
        </p:nvSpPr>
        <p:spPr>
          <a:xfrm>
            <a:off x="4398264"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27"/>
          <p:cNvSpPr/>
          <p:nvPr/>
        </p:nvSpPr>
        <p:spPr>
          <a:xfrm>
            <a:off x="3227832" y="1426464"/>
            <a:ext cx="2816352" cy="365760"/>
          </a:xfrm>
          <a:prstGeom prst="rect">
            <a:avLst/>
          </a:prstGeom>
          <a:noFill/>
          <a:ln/>
        </p:spPr>
        <p:txBody>
          <a:bodyPr wrap="square" rtlCol="0" anchor="ctr"/>
          <a:lstStyle/>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7〜18ヶ月</a:t>
            </a:r>
            <a:endParaRPr lang="en-US" sz="950" dirty="0"/>
          </a:p>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（2027年1〜6月）</a:t>
            </a:r>
            <a:endParaRPr lang="en-US" sz="950" dirty="0"/>
          </a:p>
        </p:txBody>
      </p:sp>
      <p:sp>
        <p:nvSpPr>
          <p:cNvPr id="30" name="Text 28"/>
          <p:cNvSpPr/>
          <p:nvPr/>
        </p:nvSpPr>
        <p:spPr>
          <a:xfrm>
            <a:off x="3227832" y="1828800"/>
            <a:ext cx="2816352" cy="384048"/>
          </a:xfrm>
          <a:prstGeom prst="rect">
            <a:avLst/>
          </a:prstGeom>
          <a:noFill/>
          <a:ln/>
        </p:spPr>
        <p:txBody>
          <a:bodyPr wrap="square" rtlCol="0" anchor="ctr"/>
          <a:lstStyle/>
          <a:p>
            <a:pPr algn="ctr" indent="0" marL="0">
              <a:buNone/>
            </a:pPr>
            <a:r>
              <a:rPr lang="en-US" sz="1500" b="1" dirty="0">
                <a:solidFill>
                  <a:srgbClr val="156818"/>
                </a:solidFill>
                <a:latin typeface="Calibri" pitchFamily="34" charset="0"/>
                <a:ea typeface="Calibri" pitchFamily="34" charset="-122"/>
                <a:cs typeface="Calibri" pitchFamily="34" charset="-120"/>
              </a:rPr>
              <a:t>パイロット販売</a:t>
            </a:r>
            <a:endParaRPr lang="en-US" sz="1500" dirty="0"/>
          </a:p>
        </p:txBody>
      </p:sp>
      <p:sp>
        <p:nvSpPr>
          <p:cNvPr id="31" name="Shape 29"/>
          <p:cNvSpPr/>
          <p:nvPr/>
        </p:nvSpPr>
        <p:spPr>
          <a:xfrm>
            <a:off x="3364992" y="2267712"/>
            <a:ext cx="2542032" cy="0"/>
          </a:xfrm>
          <a:prstGeom prst="line">
            <a:avLst/>
          </a:prstGeom>
          <a:noFill/>
          <a:ln w="6350">
            <a:solidFill>
              <a:srgbClr val="156818"/>
            </a:solidFill>
            <a:prstDash val="solid"/>
          </a:ln>
        </p:spPr>
      </p:sp>
      <p:sp>
        <p:nvSpPr>
          <p:cNvPr id="32" name="Shape 30"/>
          <p:cNvSpPr/>
          <p:nvPr/>
        </p:nvSpPr>
        <p:spPr>
          <a:xfrm>
            <a:off x="3410712" y="2395728"/>
            <a:ext cx="118872" cy="118872"/>
          </a:xfrm>
          <a:prstGeom prst="ellipse">
            <a:avLst/>
          </a:prstGeom>
          <a:solidFill>
            <a:srgbClr val="156818"/>
          </a:solidFill>
          <a:ln/>
        </p:spPr>
      </p:sp>
      <p:sp>
        <p:nvSpPr>
          <p:cNvPr id="33" name="Text 31"/>
          <p:cNvSpPr/>
          <p:nvPr/>
        </p:nvSpPr>
        <p:spPr>
          <a:xfrm>
            <a:off x="3575304" y="2350008"/>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廃棄物データ 有償契約2〜3社を締結</a:t>
            </a:r>
            <a:endParaRPr lang="en-US" sz="1050" dirty="0"/>
          </a:p>
        </p:txBody>
      </p:sp>
      <p:sp>
        <p:nvSpPr>
          <p:cNvPr id="34" name="Shape 32"/>
          <p:cNvSpPr/>
          <p:nvPr/>
        </p:nvSpPr>
        <p:spPr>
          <a:xfrm>
            <a:off x="3410712" y="2798064"/>
            <a:ext cx="118872" cy="118872"/>
          </a:xfrm>
          <a:prstGeom prst="ellipse">
            <a:avLst/>
          </a:prstGeom>
          <a:solidFill>
            <a:srgbClr val="156818"/>
          </a:solidFill>
          <a:ln/>
        </p:spPr>
      </p:sp>
      <p:sp>
        <p:nvSpPr>
          <p:cNvPr id="35" name="Text 33"/>
          <p:cNvSpPr/>
          <p:nvPr/>
        </p:nvSpPr>
        <p:spPr>
          <a:xfrm>
            <a:off x="3575304" y="2752344"/>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センサー搭載台数を50台に拡大</a:t>
            </a:r>
            <a:endParaRPr lang="en-US" sz="1050" dirty="0"/>
          </a:p>
        </p:txBody>
      </p:sp>
      <p:sp>
        <p:nvSpPr>
          <p:cNvPr id="36" name="Shape 34"/>
          <p:cNvSpPr/>
          <p:nvPr/>
        </p:nvSpPr>
        <p:spPr>
          <a:xfrm>
            <a:off x="3410712" y="3200400"/>
            <a:ext cx="118872" cy="118872"/>
          </a:xfrm>
          <a:prstGeom prst="ellipse">
            <a:avLst/>
          </a:prstGeom>
          <a:solidFill>
            <a:srgbClr val="156818"/>
          </a:solidFill>
          <a:ln/>
        </p:spPr>
      </p:sp>
      <p:sp>
        <p:nvSpPr>
          <p:cNvPr id="37" name="Text 35"/>
          <p:cNvSpPr/>
          <p:nvPr/>
        </p:nvSpPr>
        <p:spPr>
          <a:xfrm>
            <a:off x="3575304" y="3154680"/>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自治体1〜2市と実証事業契約</a:t>
            </a:r>
            <a:endParaRPr lang="en-US" sz="1050" dirty="0"/>
          </a:p>
        </p:txBody>
      </p:sp>
      <p:sp>
        <p:nvSpPr>
          <p:cNvPr id="38" name="Shape 36"/>
          <p:cNvSpPr/>
          <p:nvPr/>
        </p:nvSpPr>
        <p:spPr>
          <a:xfrm>
            <a:off x="3410712" y="3602736"/>
            <a:ext cx="118872" cy="118872"/>
          </a:xfrm>
          <a:prstGeom prst="ellipse">
            <a:avLst/>
          </a:prstGeom>
          <a:solidFill>
            <a:srgbClr val="156818"/>
          </a:solidFill>
          <a:ln/>
        </p:spPr>
      </p:sp>
      <p:sp>
        <p:nvSpPr>
          <p:cNvPr id="39" name="Text 37"/>
          <p:cNvSpPr/>
          <p:nvPr/>
        </p:nvSpPr>
        <p:spPr>
          <a:xfrm>
            <a:off x="3575304" y="3557016"/>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APIインフラ・ダッシュボード構築</a:t>
            </a:r>
            <a:endParaRPr lang="en-US" sz="1050" dirty="0"/>
          </a:p>
        </p:txBody>
      </p:sp>
      <p:sp>
        <p:nvSpPr>
          <p:cNvPr id="40" name="Shape 38"/>
          <p:cNvSpPr/>
          <p:nvPr/>
        </p:nvSpPr>
        <p:spPr>
          <a:xfrm>
            <a:off x="3337560" y="4242816"/>
            <a:ext cx="2596896" cy="438912"/>
          </a:xfrm>
          <a:prstGeom prst="rect">
            <a:avLst/>
          </a:prstGeom>
          <a:solidFill>
            <a:srgbClr val="156818"/>
          </a:solidFill>
          <a:ln/>
        </p:spPr>
      </p:sp>
      <p:sp>
        <p:nvSpPr>
          <p:cNvPr id="41" name="Text 39"/>
          <p:cNvSpPr/>
          <p:nvPr/>
        </p:nvSpPr>
        <p:spPr>
          <a:xfrm>
            <a:off x="3337560" y="4242816"/>
            <a:ext cx="2596896"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月間売上50万円以上（安定化）</a:t>
            </a:r>
            <a:endParaRPr lang="en-US" sz="1000" dirty="0"/>
          </a:p>
        </p:txBody>
      </p:sp>
      <p:sp>
        <p:nvSpPr>
          <p:cNvPr id="42" name="Text 40"/>
          <p:cNvSpPr/>
          <p:nvPr/>
        </p:nvSpPr>
        <p:spPr>
          <a:xfrm>
            <a:off x="6044184" y="2615184"/>
            <a:ext cx="137160" cy="365760"/>
          </a:xfrm>
          <a:prstGeom prst="rect">
            <a:avLst/>
          </a:prstGeom>
          <a:noFill/>
          <a:ln/>
        </p:spPr>
        <p:txBody>
          <a:bodyPr wrap="square" rtlCol="0" anchor="ctr"/>
          <a:lstStyle/>
          <a:p>
            <a:pPr algn="ctr" indent="0" marL="0">
              <a:buNone/>
            </a:pPr>
            <a:r>
              <a:rPr lang="en-US" sz="1400" dirty="0">
                <a:solidFill>
                  <a:srgbClr val="DD7E6B"/>
                </a:solidFill>
                <a:latin typeface="Calibri" pitchFamily="34" charset="0"/>
                <a:ea typeface="Calibri" pitchFamily="34" charset="-122"/>
                <a:cs typeface="Calibri" pitchFamily="34" charset="-120"/>
              </a:rPr>
              <a:t>▶</a:t>
            </a:r>
            <a:endParaRPr lang="en-US" sz="1400" dirty="0"/>
          </a:p>
        </p:txBody>
      </p:sp>
      <p:sp>
        <p:nvSpPr>
          <p:cNvPr id="43" name="Shape 41"/>
          <p:cNvSpPr/>
          <p:nvPr/>
        </p:nvSpPr>
        <p:spPr>
          <a:xfrm>
            <a:off x="6181344" y="786384"/>
            <a:ext cx="2816352" cy="4114800"/>
          </a:xfrm>
          <a:prstGeom prst="rect">
            <a:avLst/>
          </a:prstGeom>
          <a:solidFill>
            <a:srgbClr val="FFFFFF"/>
          </a:solidFill>
          <a:ln w="9525">
            <a:solidFill>
              <a:srgbClr val="CCCCCC"/>
            </a:solidFill>
            <a:prstDash val="solid"/>
          </a:ln>
        </p:spPr>
      </p:sp>
      <p:sp>
        <p:nvSpPr>
          <p:cNvPr id="44" name="Shape 42"/>
          <p:cNvSpPr/>
          <p:nvPr/>
        </p:nvSpPr>
        <p:spPr>
          <a:xfrm>
            <a:off x="6181344" y="786384"/>
            <a:ext cx="2816352" cy="54864"/>
          </a:xfrm>
          <a:prstGeom prst="rect">
            <a:avLst/>
          </a:prstGeom>
          <a:solidFill>
            <a:srgbClr val="0D7480"/>
          </a:solidFill>
          <a:ln/>
        </p:spPr>
      </p:sp>
      <p:sp>
        <p:nvSpPr>
          <p:cNvPr id="45" name="Shape 43"/>
          <p:cNvSpPr/>
          <p:nvPr/>
        </p:nvSpPr>
        <p:spPr>
          <a:xfrm>
            <a:off x="7351776" y="877824"/>
            <a:ext cx="438912" cy="438912"/>
          </a:xfrm>
          <a:prstGeom prst="ellipse">
            <a:avLst/>
          </a:prstGeom>
          <a:solidFill>
            <a:srgbClr val="0D7480"/>
          </a:solidFill>
          <a:ln/>
        </p:spPr>
      </p:sp>
      <p:sp>
        <p:nvSpPr>
          <p:cNvPr id="46" name="Text 44"/>
          <p:cNvSpPr/>
          <p:nvPr/>
        </p:nvSpPr>
        <p:spPr>
          <a:xfrm>
            <a:off x="7351776"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7" name="Text 45"/>
          <p:cNvSpPr/>
          <p:nvPr/>
        </p:nvSpPr>
        <p:spPr>
          <a:xfrm>
            <a:off x="6181344" y="1426464"/>
            <a:ext cx="2816352" cy="365760"/>
          </a:xfrm>
          <a:prstGeom prst="rect">
            <a:avLst/>
          </a:prstGeom>
          <a:noFill/>
          <a:ln/>
        </p:spPr>
        <p:txBody>
          <a:bodyPr wrap="square" rtlCol="0" anchor="ctr"/>
          <a:lstStyle/>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19ヶ月〜</a:t>
            </a:r>
            <a:endParaRPr lang="en-US" sz="950" dirty="0"/>
          </a:p>
          <a:p>
            <a:pPr algn="ctr" indent="0" marL="0">
              <a:lnSpc>
                <a:spcPct val="130000"/>
              </a:lnSpc>
              <a:buNone/>
            </a:pPr>
            <a:r>
              <a:rPr lang="en-US" sz="950" dirty="0">
                <a:solidFill>
                  <a:srgbClr val="595959"/>
                </a:solidFill>
                <a:latin typeface="Calibri" pitchFamily="34" charset="0"/>
                <a:ea typeface="Calibri" pitchFamily="34" charset="-122"/>
                <a:cs typeface="Calibri" pitchFamily="34" charset="-120"/>
              </a:rPr>
              <a:t>（2027年7月〜）</a:t>
            </a:r>
            <a:endParaRPr lang="en-US" sz="950" dirty="0"/>
          </a:p>
        </p:txBody>
      </p:sp>
      <p:sp>
        <p:nvSpPr>
          <p:cNvPr id="48" name="Text 46"/>
          <p:cNvSpPr/>
          <p:nvPr/>
        </p:nvSpPr>
        <p:spPr>
          <a:xfrm>
            <a:off x="6181344" y="1828800"/>
            <a:ext cx="2816352" cy="384048"/>
          </a:xfrm>
          <a:prstGeom prst="rect">
            <a:avLst/>
          </a:prstGeom>
          <a:noFill/>
          <a:ln/>
        </p:spPr>
        <p:txBody>
          <a:bodyPr wrap="square" rtlCol="0" anchor="ctr"/>
          <a:lstStyle/>
          <a:p>
            <a:pPr algn="ctr" indent="0" marL="0">
              <a:buNone/>
            </a:pPr>
            <a:r>
              <a:rPr lang="en-US" sz="1500" b="1" dirty="0">
                <a:solidFill>
                  <a:srgbClr val="0D7480"/>
                </a:solidFill>
                <a:latin typeface="Calibri" pitchFamily="34" charset="0"/>
                <a:ea typeface="Calibri" pitchFamily="34" charset="-122"/>
                <a:cs typeface="Calibri" pitchFamily="34" charset="-120"/>
              </a:rPr>
              <a:t>スケールアップ</a:t>
            </a:r>
            <a:endParaRPr lang="en-US" sz="1500" dirty="0"/>
          </a:p>
        </p:txBody>
      </p:sp>
      <p:sp>
        <p:nvSpPr>
          <p:cNvPr id="49" name="Shape 47"/>
          <p:cNvSpPr/>
          <p:nvPr/>
        </p:nvSpPr>
        <p:spPr>
          <a:xfrm>
            <a:off x="6318504" y="2267712"/>
            <a:ext cx="2542032" cy="0"/>
          </a:xfrm>
          <a:prstGeom prst="line">
            <a:avLst/>
          </a:prstGeom>
          <a:noFill/>
          <a:ln w="6350">
            <a:solidFill>
              <a:srgbClr val="0D7480"/>
            </a:solidFill>
            <a:prstDash val="solid"/>
          </a:ln>
        </p:spPr>
      </p:sp>
      <p:sp>
        <p:nvSpPr>
          <p:cNvPr id="50" name="Shape 48"/>
          <p:cNvSpPr/>
          <p:nvPr/>
        </p:nvSpPr>
        <p:spPr>
          <a:xfrm>
            <a:off x="6364224" y="2395728"/>
            <a:ext cx="118872" cy="118872"/>
          </a:xfrm>
          <a:prstGeom prst="ellipse">
            <a:avLst/>
          </a:prstGeom>
          <a:solidFill>
            <a:srgbClr val="0D7480"/>
          </a:solidFill>
          <a:ln/>
        </p:spPr>
      </p:sp>
      <p:sp>
        <p:nvSpPr>
          <p:cNvPr id="51" name="Text 49"/>
          <p:cNvSpPr/>
          <p:nvPr/>
        </p:nvSpPr>
        <p:spPr>
          <a:xfrm>
            <a:off x="6528816" y="2350008"/>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データ顧客を30社以上へ拡大</a:t>
            </a:r>
            <a:endParaRPr lang="en-US" sz="1050" dirty="0"/>
          </a:p>
        </p:txBody>
      </p:sp>
      <p:sp>
        <p:nvSpPr>
          <p:cNvPr id="52" name="Shape 50"/>
          <p:cNvSpPr/>
          <p:nvPr/>
        </p:nvSpPr>
        <p:spPr>
          <a:xfrm>
            <a:off x="6364224" y="2798064"/>
            <a:ext cx="118872" cy="118872"/>
          </a:xfrm>
          <a:prstGeom prst="ellipse">
            <a:avLst/>
          </a:prstGeom>
          <a:solidFill>
            <a:srgbClr val="0D7480"/>
          </a:solidFill>
          <a:ln/>
        </p:spPr>
      </p:sp>
      <p:sp>
        <p:nvSpPr>
          <p:cNvPr id="53" name="Text 51"/>
          <p:cNvSpPr/>
          <p:nvPr/>
        </p:nvSpPr>
        <p:spPr>
          <a:xfrm>
            <a:off x="6528816" y="2752344"/>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センサー全台搭載（200台）</a:t>
            </a:r>
            <a:endParaRPr lang="en-US" sz="1050" dirty="0"/>
          </a:p>
        </p:txBody>
      </p:sp>
      <p:sp>
        <p:nvSpPr>
          <p:cNvPr id="54" name="Shape 52"/>
          <p:cNvSpPr/>
          <p:nvPr/>
        </p:nvSpPr>
        <p:spPr>
          <a:xfrm>
            <a:off x="6364224" y="3200400"/>
            <a:ext cx="118872" cy="118872"/>
          </a:xfrm>
          <a:prstGeom prst="ellipse">
            <a:avLst/>
          </a:prstGeom>
          <a:solidFill>
            <a:srgbClr val="0D7480"/>
          </a:solidFill>
          <a:ln/>
        </p:spPr>
      </p:sp>
      <p:sp>
        <p:nvSpPr>
          <p:cNvPr id="55" name="Text 53"/>
          <p:cNvSpPr/>
          <p:nvPr/>
        </p:nvSpPr>
        <p:spPr>
          <a:xfrm>
            <a:off x="6528816" y="3154680"/>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データ販売の標準プランを整備・自動化</a:t>
            </a:r>
            <a:endParaRPr lang="en-US" sz="1050" dirty="0"/>
          </a:p>
        </p:txBody>
      </p:sp>
      <p:sp>
        <p:nvSpPr>
          <p:cNvPr id="56" name="Shape 54"/>
          <p:cNvSpPr/>
          <p:nvPr/>
        </p:nvSpPr>
        <p:spPr>
          <a:xfrm>
            <a:off x="6364224" y="3602736"/>
            <a:ext cx="118872" cy="118872"/>
          </a:xfrm>
          <a:prstGeom prst="ellipse">
            <a:avLst/>
          </a:prstGeom>
          <a:solidFill>
            <a:srgbClr val="0D7480"/>
          </a:solidFill>
          <a:ln/>
        </p:spPr>
      </p:sp>
      <p:sp>
        <p:nvSpPr>
          <p:cNvPr id="57" name="Text 55"/>
          <p:cNvSpPr/>
          <p:nvPr/>
        </p:nvSpPr>
        <p:spPr>
          <a:xfrm>
            <a:off x="6528816" y="3557016"/>
            <a:ext cx="2377440" cy="365760"/>
          </a:xfrm>
          <a:prstGeom prst="rect">
            <a:avLst/>
          </a:prstGeom>
          <a:noFill/>
          <a:ln/>
        </p:spPr>
        <p:txBody>
          <a:bodyPr wrap="square" rtlCol="0" anchor="ctr"/>
          <a:lstStyle/>
          <a:p>
            <a:pPr indent="0" marL="0">
              <a:lnSpc>
                <a:spcPct val="125000"/>
              </a:lnSpc>
              <a:buNone/>
            </a:pPr>
            <a:r>
              <a:rPr lang="en-US" sz="1050" dirty="0">
                <a:solidFill>
                  <a:srgbClr val="333333"/>
                </a:solidFill>
                <a:latin typeface="Calibri" pitchFamily="34" charset="0"/>
                <a:ea typeface="Calibri" pitchFamily="34" charset="-122"/>
                <a:cs typeface="Calibri" pitchFamily="34" charset="-120"/>
              </a:rPr>
              <a:t>他社廃棄物事業者へのライセンス販売も検討</a:t>
            </a:r>
            <a:endParaRPr lang="en-US" sz="1050" dirty="0"/>
          </a:p>
        </p:txBody>
      </p:sp>
      <p:sp>
        <p:nvSpPr>
          <p:cNvPr id="58" name="Shape 56"/>
          <p:cNvSpPr/>
          <p:nvPr/>
        </p:nvSpPr>
        <p:spPr>
          <a:xfrm>
            <a:off x="6291072" y="4242816"/>
            <a:ext cx="2596896" cy="438912"/>
          </a:xfrm>
          <a:prstGeom prst="rect">
            <a:avLst/>
          </a:prstGeom>
          <a:solidFill>
            <a:srgbClr val="0D7480"/>
          </a:solidFill>
          <a:ln/>
        </p:spPr>
      </p:sp>
      <p:sp>
        <p:nvSpPr>
          <p:cNvPr id="59" name="Text 57"/>
          <p:cNvSpPr/>
          <p:nvPr/>
        </p:nvSpPr>
        <p:spPr>
          <a:xfrm>
            <a:off x="6291072" y="4242816"/>
            <a:ext cx="2596896"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年間売上3,000万円・第二収益柱確立</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8</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財務シミュレーション（3カ年）</a:t>
            </a:r>
            <a:endParaRPr lang="en-US" sz="1600" dirty="0"/>
          </a:p>
        </p:txBody>
      </p:sp>
      <p:sp>
        <p:nvSpPr>
          <p:cNvPr id="7" name="Shape 5"/>
          <p:cNvSpPr/>
          <p:nvPr/>
        </p:nvSpPr>
        <p:spPr>
          <a:xfrm>
            <a:off x="274320" y="749808"/>
            <a:ext cx="8595360" cy="274320"/>
          </a:xfrm>
          <a:prstGeom prst="rect">
            <a:avLst/>
          </a:prstGeom>
          <a:solidFill>
            <a:srgbClr val="156818"/>
          </a:solidFill>
          <a:ln/>
        </p:spPr>
      </p:sp>
      <p:sp>
        <p:nvSpPr>
          <p:cNvPr id="8" name="Text 6"/>
          <p:cNvSpPr/>
          <p:nvPr/>
        </p:nvSpPr>
        <p:spPr>
          <a:xfrm>
            <a:off x="274320" y="749808"/>
            <a:ext cx="859536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3カ年 損益シミュレーション（2事業合算）</a:t>
            </a:r>
            <a:endParaRPr lang="en-US" sz="900" dirty="0"/>
          </a:p>
        </p:txBody>
      </p:sp>
      <p:sp>
        <p:nvSpPr>
          <p:cNvPr id="9" name="Shape 7"/>
          <p:cNvSpPr/>
          <p:nvPr/>
        </p:nvSpPr>
        <p:spPr>
          <a:xfrm>
            <a:off x="274320" y="1060704"/>
            <a:ext cx="2944368" cy="457200"/>
          </a:xfrm>
          <a:prstGeom prst="rect">
            <a:avLst/>
          </a:prstGeom>
          <a:solidFill>
            <a:srgbClr val="333333"/>
          </a:solidFill>
          <a:ln/>
        </p:spPr>
      </p:sp>
      <p:sp>
        <p:nvSpPr>
          <p:cNvPr id="10" name="Text 8"/>
          <p:cNvSpPr/>
          <p:nvPr/>
        </p:nvSpPr>
        <p:spPr>
          <a:xfrm>
            <a:off x="274320" y="1060704"/>
            <a:ext cx="2944368"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項目</a:t>
            </a:r>
            <a:endParaRPr lang="en-US" sz="1000" dirty="0"/>
          </a:p>
        </p:txBody>
      </p:sp>
      <p:sp>
        <p:nvSpPr>
          <p:cNvPr id="11" name="Shape 9"/>
          <p:cNvSpPr/>
          <p:nvPr/>
        </p:nvSpPr>
        <p:spPr>
          <a:xfrm>
            <a:off x="3255264" y="1060704"/>
            <a:ext cx="1773936" cy="457200"/>
          </a:xfrm>
          <a:prstGeom prst="rect">
            <a:avLst/>
          </a:prstGeom>
          <a:solidFill>
            <a:srgbClr val="333333"/>
          </a:solidFill>
          <a:ln/>
        </p:spPr>
      </p:sp>
      <p:sp>
        <p:nvSpPr>
          <p:cNvPr id="12" name="Text 10"/>
          <p:cNvSpPr/>
          <p:nvPr/>
        </p:nvSpPr>
        <p:spPr>
          <a:xfrm>
            <a:off x="3255264" y="1078992"/>
            <a:ext cx="1773936" cy="21945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1年目</a:t>
            </a:r>
            <a:endParaRPr lang="en-US" sz="1000" dirty="0"/>
          </a:p>
        </p:txBody>
      </p:sp>
      <p:sp>
        <p:nvSpPr>
          <p:cNvPr id="13" name="Text 11"/>
          <p:cNvSpPr/>
          <p:nvPr/>
        </p:nvSpPr>
        <p:spPr>
          <a:xfrm>
            <a:off x="3255264" y="1280160"/>
            <a:ext cx="1773936" cy="201168"/>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PoC・試験販売</a:t>
            </a:r>
            <a:endParaRPr lang="en-US" sz="900" dirty="0"/>
          </a:p>
        </p:txBody>
      </p:sp>
      <p:sp>
        <p:nvSpPr>
          <p:cNvPr id="14" name="Shape 12"/>
          <p:cNvSpPr/>
          <p:nvPr/>
        </p:nvSpPr>
        <p:spPr>
          <a:xfrm>
            <a:off x="5084064" y="1060704"/>
            <a:ext cx="1773936" cy="457200"/>
          </a:xfrm>
          <a:prstGeom prst="rect">
            <a:avLst/>
          </a:prstGeom>
          <a:solidFill>
            <a:srgbClr val="333333"/>
          </a:solidFill>
          <a:ln/>
        </p:spPr>
      </p:sp>
      <p:sp>
        <p:nvSpPr>
          <p:cNvPr id="15" name="Text 13"/>
          <p:cNvSpPr/>
          <p:nvPr/>
        </p:nvSpPr>
        <p:spPr>
          <a:xfrm>
            <a:off x="5084064" y="1078992"/>
            <a:ext cx="1773936" cy="21945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2年目</a:t>
            </a:r>
            <a:endParaRPr lang="en-US" sz="1000" dirty="0"/>
          </a:p>
        </p:txBody>
      </p:sp>
      <p:sp>
        <p:nvSpPr>
          <p:cNvPr id="16" name="Text 14"/>
          <p:cNvSpPr/>
          <p:nvPr/>
        </p:nvSpPr>
        <p:spPr>
          <a:xfrm>
            <a:off x="5084064" y="1280160"/>
            <a:ext cx="1773936" cy="201168"/>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本格展開</a:t>
            </a:r>
            <a:endParaRPr lang="en-US" sz="900" dirty="0"/>
          </a:p>
        </p:txBody>
      </p:sp>
      <p:sp>
        <p:nvSpPr>
          <p:cNvPr id="17" name="Shape 15"/>
          <p:cNvSpPr/>
          <p:nvPr/>
        </p:nvSpPr>
        <p:spPr>
          <a:xfrm>
            <a:off x="6912864" y="1060704"/>
            <a:ext cx="1773936" cy="457200"/>
          </a:xfrm>
          <a:prstGeom prst="rect">
            <a:avLst/>
          </a:prstGeom>
          <a:solidFill>
            <a:srgbClr val="156818"/>
          </a:solidFill>
          <a:ln/>
        </p:spPr>
      </p:sp>
      <p:sp>
        <p:nvSpPr>
          <p:cNvPr id="18" name="Text 16"/>
          <p:cNvSpPr/>
          <p:nvPr/>
        </p:nvSpPr>
        <p:spPr>
          <a:xfrm>
            <a:off x="6912864" y="1078992"/>
            <a:ext cx="1773936" cy="21945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3年目</a:t>
            </a:r>
            <a:endParaRPr lang="en-US" sz="1000" dirty="0"/>
          </a:p>
        </p:txBody>
      </p:sp>
      <p:sp>
        <p:nvSpPr>
          <p:cNvPr id="19" name="Text 17"/>
          <p:cNvSpPr/>
          <p:nvPr/>
        </p:nvSpPr>
        <p:spPr>
          <a:xfrm>
            <a:off x="6912864" y="1280160"/>
            <a:ext cx="1773936"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★黒字化</a:t>
            </a:r>
            <a:endParaRPr lang="en-US" sz="900" dirty="0"/>
          </a:p>
        </p:txBody>
      </p:sp>
      <p:sp>
        <p:nvSpPr>
          <p:cNvPr id="20" name="Shape 18"/>
          <p:cNvSpPr/>
          <p:nvPr/>
        </p:nvSpPr>
        <p:spPr>
          <a:xfrm>
            <a:off x="274320" y="1554480"/>
            <a:ext cx="2944368" cy="475488"/>
          </a:xfrm>
          <a:prstGeom prst="rect">
            <a:avLst/>
          </a:prstGeom>
          <a:solidFill>
            <a:srgbClr val="F3F3F3"/>
          </a:solidFill>
          <a:ln/>
        </p:spPr>
      </p:sp>
      <p:sp>
        <p:nvSpPr>
          <p:cNvPr id="21" name="Text 19"/>
          <p:cNvSpPr/>
          <p:nvPr/>
        </p:nvSpPr>
        <p:spPr>
          <a:xfrm>
            <a:off x="402336" y="1554480"/>
            <a:ext cx="2761488"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廃棄物データ収入</a:t>
            </a:r>
            <a:endParaRPr lang="en-US" sz="1100" dirty="0"/>
          </a:p>
        </p:txBody>
      </p:sp>
      <p:sp>
        <p:nvSpPr>
          <p:cNvPr id="22" name="Shape 20"/>
          <p:cNvSpPr/>
          <p:nvPr/>
        </p:nvSpPr>
        <p:spPr>
          <a:xfrm>
            <a:off x="3255264" y="1554480"/>
            <a:ext cx="1773936" cy="475488"/>
          </a:xfrm>
          <a:prstGeom prst="rect">
            <a:avLst/>
          </a:prstGeom>
          <a:solidFill>
            <a:srgbClr val="F3F3F3"/>
          </a:solidFill>
          <a:ln w="9525">
            <a:solidFill>
              <a:srgbClr val="CCCCCC"/>
            </a:solidFill>
            <a:prstDash val="solid"/>
          </a:ln>
        </p:spPr>
      </p:sp>
      <p:sp>
        <p:nvSpPr>
          <p:cNvPr id="23" name="Text 21"/>
          <p:cNvSpPr/>
          <p:nvPr/>
        </p:nvSpPr>
        <p:spPr>
          <a:xfrm>
            <a:off x="3255264" y="1554480"/>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300万円</a:t>
            </a:r>
            <a:endParaRPr lang="en-US" sz="1150" dirty="0"/>
          </a:p>
        </p:txBody>
      </p:sp>
      <p:sp>
        <p:nvSpPr>
          <p:cNvPr id="24" name="Shape 22"/>
          <p:cNvSpPr/>
          <p:nvPr/>
        </p:nvSpPr>
        <p:spPr>
          <a:xfrm>
            <a:off x="5084064" y="1554480"/>
            <a:ext cx="1773936" cy="475488"/>
          </a:xfrm>
          <a:prstGeom prst="rect">
            <a:avLst/>
          </a:prstGeom>
          <a:solidFill>
            <a:srgbClr val="F3F3F3"/>
          </a:solidFill>
          <a:ln w="9525">
            <a:solidFill>
              <a:srgbClr val="CCCCCC"/>
            </a:solidFill>
            <a:prstDash val="solid"/>
          </a:ln>
        </p:spPr>
      </p:sp>
      <p:sp>
        <p:nvSpPr>
          <p:cNvPr id="25" name="Text 23"/>
          <p:cNvSpPr/>
          <p:nvPr/>
        </p:nvSpPr>
        <p:spPr>
          <a:xfrm>
            <a:off x="5084064" y="1554480"/>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900万円</a:t>
            </a:r>
            <a:endParaRPr lang="en-US" sz="1150" dirty="0"/>
          </a:p>
        </p:txBody>
      </p:sp>
      <p:sp>
        <p:nvSpPr>
          <p:cNvPr id="26" name="Shape 24"/>
          <p:cNvSpPr/>
          <p:nvPr/>
        </p:nvSpPr>
        <p:spPr>
          <a:xfrm>
            <a:off x="6912864" y="1554480"/>
            <a:ext cx="1773936" cy="475488"/>
          </a:xfrm>
          <a:prstGeom prst="rect">
            <a:avLst/>
          </a:prstGeom>
          <a:solidFill>
            <a:srgbClr val="F3F3F3"/>
          </a:solidFill>
          <a:ln w="9525">
            <a:solidFill>
              <a:srgbClr val="CCCCCC"/>
            </a:solidFill>
            <a:prstDash val="solid"/>
          </a:ln>
        </p:spPr>
      </p:sp>
      <p:sp>
        <p:nvSpPr>
          <p:cNvPr id="27" name="Text 25"/>
          <p:cNvSpPr/>
          <p:nvPr/>
        </p:nvSpPr>
        <p:spPr>
          <a:xfrm>
            <a:off x="6912864" y="1554480"/>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1,500万円</a:t>
            </a:r>
            <a:endParaRPr lang="en-US" sz="1150" dirty="0"/>
          </a:p>
        </p:txBody>
      </p:sp>
      <p:sp>
        <p:nvSpPr>
          <p:cNvPr id="28" name="Shape 26"/>
          <p:cNvSpPr/>
          <p:nvPr/>
        </p:nvSpPr>
        <p:spPr>
          <a:xfrm>
            <a:off x="274320" y="2029968"/>
            <a:ext cx="8357616" cy="0"/>
          </a:xfrm>
          <a:prstGeom prst="line">
            <a:avLst/>
          </a:prstGeom>
          <a:noFill/>
          <a:ln w="6350">
            <a:solidFill>
              <a:srgbClr val="CCCCCC"/>
            </a:solidFill>
            <a:prstDash val="solid"/>
          </a:ln>
        </p:spPr>
      </p:sp>
      <p:sp>
        <p:nvSpPr>
          <p:cNvPr id="29" name="Shape 27"/>
          <p:cNvSpPr/>
          <p:nvPr/>
        </p:nvSpPr>
        <p:spPr>
          <a:xfrm>
            <a:off x="274320" y="2029968"/>
            <a:ext cx="2944368" cy="475488"/>
          </a:xfrm>
          <a:prstGeom prst="rect">
            <a:avLst/>
          </a:prstGeom>
          <a:solidFill>
            <a:srgbClr val="FFFFFF"/>
          </a:solidFill>
          <a:ln/>
        </p:spPr>
      </p:sp>
      <p:sp>
        <p:nvSpPr>
          <p:cNvPr id="30" name="Text 28"/>
          <p:cNvSpPr/>
          <p:nvPr/>
        </p:nvSpPr>
        <p:spPr>
          <a:xfrm>
            <a:off x="402336" y="2029968"/>
            <a:ext cx="2761488"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走行センサー収入</a:t>
            </a:r>
            <a:endParaRPr lang="en-US" sz="1100" dirty="0"/>
          </a:p>
        </p:txBody>
      </p:sp>
      <p:sp>
        <p:nvSpPr>
          <p:cNvPr id="31" name="Shape 29"/>
          <p:cNvSpPr/>
          <p:nvPr/>
        </p:nvSpPr>
        <p:spPr>
          <a:xfrm>
            <a:off x="3255264" y="2029968"/>
            <a:ext cx="1773936" cy="475488"/>
          </a:xfrm>
          <a:prstGeom prst="rect">
            <a:avLst/>
          </a:prstGeom>
          <a:solidFill>
            <a:srgbClr val="FFFFFF"/>
          </a:solidFill>
          <a:ln w="9525">
            <a:solidFill>
              <a:srgbClr val="CCCCCC"/>
            </a:solidFill>
            <a:prstDash val="solid"/>
          </a:ln>
        </p:spPr>
      </p:sp>
      <p:sp>
        <p:nvSpPr>
          <p:cNvPr id="32" name="Text 30"/>
          <p:cNvSpPr/>
          <p:nvPr/>
        </p:nvSpPr>
        <p:spPr>
          <a:xfrm>
            <a:off x="3255264" y="2029968"/>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200万円</a:t>
            </a:r>
            <a:endParaRPr lang="en-US" sz="1150" dirty="0"/>
          </a:p>
        </p:txBody>
      </p:sp>
      <p:sp>
        <p:nvSpPr>
          <p:cNvPr id="33" name="Shape 31"/>
          <p:cNvSpPr/>
          <p:nvPr/>
        </p:nvSpPr>
        <p:spPr>
          <a:xfrm>
            <a:off x="5084064" y="2029968"/>
            <a:ext cx="1773936" cy="475488"/>
          </a:xfrm>
          <a:prstGeom prst="rect">
            <a:avLst/>
          </a:prstGeom>
          <a:solidFill>
            <a:srgbClr val="FFFFFF"/>
          </a:solidFill>
          <a:ln w="9525">
            <a:solidFill>
              <a:srgbClr val="CCCCCC"/>
            </a:solidFill>
            <a:prstDash val="solid"/>
          </a:ln>
        </p:spPr>
      </p:sp>
      <p:sp>
        <p:nvSpPr>
          <p:cNvPr id="34" name="Text 32"/>
          <p:cNvSpPr/>
          <p:nvPr/>
        </p:nvSpPr>
        <p:spPr>
          <a:xfrm>
            <a:off x="5084064" y="2029968"/>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600万円</a:t>
            </a:r>
            <a:endParaRPr lang="en-US" sz="1150" dirty="0"/>
          </a:p>
        </p:txBody>
      </p:sp>
      <p:sp>
        <p:nvSpPr>
          <p:cNvPr id="35" name="Shape 33"/>
          <p:cNvSpPr/>
          <p:nvPr/>
        </p:nvSpPr>
        <p:spPr>
          <a:xfrm>
            <a:off x="6912864" y="2029968"/>
            <a:ext cx="1773936" cy="475488"/>
          </a:xfrm>
          <a:prstGeom prst="rect">
            <a:avLst/>
          </a:prstGeom>
          <a:solidFill>
            <a:srgbClr val="FFFFFF"/>
          </a:solidFill>
          <a:ln w="9525">
            <a:solidFill>
              <a:srgbClr val="CCCCCC"/>
            </a:solidFill>
            <a:prstDash val="solid"/>
          </a:ln>
        </p:spPr>
      </p:sp>
      <p:sp>
        <p:nvSpPr>
          <p:cNvPr id="36" name="Text 34"/>
          <p:cNvSpPr/>
          <p:nvPr/>
        </p:nvSpPr>
        <p:spPr>
          <a:xfrm>
            <a:off x="6912864" y="2029968"/>
            <a:ext cx="1773936" cy="475488"/>
          </a:xfrm>
          <a:prstGeom prst="rect">
            <a:avLst/>
          </a:prstGeom>
          <a:noFill/>
          <a:ln/>
        </p:spPr>
        <p:txBody>
          <a:bodyPr wrap="square" rtlCol="0" anchor="ctr"/>
          <a:lstStyle/>
          <a:p>
            <a:pPr algn="ctr" indent="0" marL="0">
              <a:buNone/>
            </a:pPr>
            <a:r>
              <a:rPr lang="en-US" sz="1150" dirty="0">
                <a:solidFill>
                  <a:srgbClr val="188038"/>
                </a:solidFill>
                <a:latin typeface="Calibri" pitchFamily="34" charset="0"/>
                <a:ea typeface="Calibri" pitchFamily="34" charset="-122"/>
                <a:cs typeface="Calibri" pitchFamily="34" charset="-120"/>
              </a:rPr>
              <a:t>1,500万円</a:t>
            </a:r>
            <a:endParaRPr lang="en-US" sz="1150" dirty="0"/>
          </a:p>
        </p:txBody>
      </p:sp>
      <p:sp>
        <p:nvSpPr>
          <p:cNvPr id="37" name="Shape 35"/>
          <p:cNvSpPr/>
          <p:nvPr/>
        </p:nvSpPr>
        <p:spPr>
          <a:xfrm>
            <a:off x="274320" y="2505456"/>
            <a:ext cx="8357616" cy="0"/>
          </a:xfrm>
          <a:prstGeom prst="line">
            <a:avLst/>
          </a:prstGeom>
          <a:noFill/>
          <a:ln w="6350">
            <a:solidFill>
              <a:srgbClr val="CCCCCC"/>
            </a:solidFill>
            <a:prstDash val="solid"/>
          </a:ln>
        </p:spPr>
      </p:sp>
      <p:sp>
        <p:nvSpPr>
          <p:cNvPr id="38" name="Shape 36"/>
          <p:cNvSpPr/>
          <p:nvPr/>
        </p:nvSpPr>
        <p:spPr>
          <a:xfrm>
            <a:off x="274320" y="2505456"/>
            <a:ext cx="2944368" cy="475488"/>
          </a:xfrm>
          <a:prstGeom prst="rect">
            <a:avLst/>
          </a:prstGeom>
          <a:solidFill>
            <a:srgbClr val="C9DAF8"/>
          </a:solidFill>
          <a:ln/>
        </p:spPr>
      </p:sp>
      <p:sp>
        <p:nvSpPr>
          <p:cNvPr id="39" name="Shape 37"/>
          <p:cNvSpPr/>
          <p:nvPr/>
        </p:nvSpPr>
        <p:spPr>
          <a:xfrm>
            <a:off x="274320" y="2505456"/>
            <a:ext cx="54864" cy="475488"/>
          </a:xfrm>
          <a:prstGeom prst="rect">
            <a:avLst/>
          </a:prstGeom>
          <a:solidFill>
            <a:srgbClr val="DD7E6B"/>
          </a:solidFill>
          <a:ln/>
        </p:spPr>
      </p:sp>
      <p:sp>
        <p:nvSpPr>
          <p:cNvPr id="40" name="Text 38"/>
          <p:cNvSpPr/>
          <p:nvPr/>
        </p:nvSpPr>
        <p:spPr>
          <a:xfrm>
            <a:off x="402336" y="2505456"/>
            <a:ext cx="2761488" cy="47548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売上合計</a:t>
            </a:r>
            <a:endParaRPr lang="en-US" sz="1100" dirty="0"/>
          </a:p>
        </p:txBody>
      </p:sp>
      <p:sp>
        <p:nvSpPr>
          <p:cNvPr id="41" name="Shape 39"/>
          <p:cNvSpPr/>
          <p:nvPr/>
        </p:nvSpPr>
        <p:spPr>
          <a:xfrm>
            <a:off x="3255264" y="2505456"/>
            <a:ext cx="1773936" cy="475488"/>
          </a:xfrm>
          <a:prstGeom prst="rect">
            <a:avLst/>
          </a:prstGeom>
          <a:solidFill>
            <a:srgbClr val="C9DAF8"/>
          </a:solidFill>
          <a:ln w="9525">
            <a:solidFill>
              <a:srgbClr val="CCCCCC"/>
            </a:solidFill>
            <a:prstDash val="solid"/>
          </a:ln>
        </p:spPr>
      </p:sp>
      <p:sp>
        <p:nvSpPr>
          <p:cNvPr id="42" name="Text 40"/>
          <p:cNvSpPr/>
          <p:nvPr/>
        </p:nvSpPr>
        <p:spPr>
          <a:xfrm>
            <a:off x="3255264" y="2505456"/>
            <a:ext cx="1773936" cy="475488"/>
          </a:xfrm>
          <a:prstGeom prst="rect">
            <a:avLst/>
          </a:prstGeom>
          <a:noFill/>
          <a:ln/>
        </p:spPr>
        <p:txBody>
          <a:bodyPr wrap="square" rtlCol="0" anchor="ctr"/>
          <a:lstStyle/>
          <a:p>
            <a:pPr algn="ctr" indent="0" marL="0">
              <a:buNone/>
            </a:pPr>
            <a:r>
              <a:rPr lang="en-US" sz="1300" b="1" dirty="0">
                <a:solidFill>
                  <a:srgbClr val="188038"/>
                </a:solidFill>
                <a:latin typeface="Calibri" pitchFamily="34" charset="0"/>
                <a:ea typeface="Calibri" pitchFamily="34" charset="-122"/>
                <a:cs typeface="Calibri" pitchFamily="34" charset="-120"/>
              </a:rPr>
              <a:t>500万円</a:t>
            </a:r>
            <a:endParaRPr lang="en-US" sz="1300" dirty="0"/>
          </a:p>
        </p:txBody>
      </p:sp>
      <p:sp>
        <p:nvSpPr>
          <p:cNvPr id="43" name="Shape 41"/>
          <p:cNvSpPr/>
          <p:nvPr/>
        </p:nvSpPr>
        <p:spPr>
          <a:xfrm>
            <a:off x="5084064" y="2505456"/>
            <a:ext cx="1773936" cy="475488"/>
          </a:xfrm>
          <a:prstGeom prst="rect">
            <a:avLst/>
          </a:prstGeom>
          <a:solidFill>
            <a:srgbClr val="C9DAF8"/>
          </a:solidFill>
          <a:ln w="9525">
            <a:solidFill>
              <a:srgbClr val="CCCCCC"/>
            </a:solidFill>
            <a:prstDash val="solid"/>
          </a:ln>
        </p:spPr>
      </p:sp>
      <p:sp>
        <p:nvSpPr>
          <p:cNvPr id="44" name="Text 42"/>
          <p:cNvSpPr/>
          <p:nvPr/>
        </p:nvSpPr>
        <p:spPr>
          <a:xfrm>
            <a:off x="5084064" y="2505456"/>
            <a:ext cx="1773936" cy="475488"/>
          </a:xfrm>
          <a:prstGeom prst="rect">
            <a:avLst/>
          </a:prstGeom>
          <a:noFill/>
          <a:ln/>
        </p:spPr>
        <p:txBody>
          <a:bodyPr wrap="square" rtlCol="0" anchor="ctr"/>
          <a:lstStyle/>
          <a:p>
            <a:pPr algn="ctr" indent="0" marL="0">
              <a:buNone/>
            </a:pPr>
            <a:r>
              <a:rPr lang="en-US" sz="1300" b="1" dirty="0">
                <a:solidFill>
                  <a:srgbClr val="188038"/>
                </a:solidFill>
                <a:latin typeface="Calibri" pitchFamily="34" charset="0"/>
                <a:ea typeface="Calibri" pitchFamily="34" charset="-122"/>
                <a:cs typeface="Calibri" pitchFamily="34" charset="-120"/>
              </a:rPr>
              <a:t>1,500万円</a:t>
            </a:r>
            <a:endParaRPr lang="en-US" sz="1300" dirty="0"/>
          </a:p>
        </p:txBody>
      </p:sp>
      <p:sp>
        <p:nvSpPr>
          <p:cNvPr id="45" name="Shape 43"/>
          <p:cNvSpPr/>
          <p:nvPr/>
        </p:nvSpPr>
        <p:spPr>
          <a:xfrm>
            <a:off x="6912864" y="2505456"/>
            <a:ext cx="1773936" cy="475488"/>
          </a:xfrm>
          <a:prstGeom prst="rect">
            <a:avLst/>
          </a:prstGeom>
          <a:solidFill>
            <a:srgbClr val="C9DAF8"/>
          </a:solidFill>
          <a:ln w="9525">
            <a:solidFill>
              <a:srgbClr val="CCCCCC"/>
            </a:solidFill>
            <a:prstDash val="solid"/>
          </a:ln>
        </p:spPr>
      </p:sp>
      <p:sp>
        <p:nvSpPr>
          <p:cNvPr id="46" name="Text 44"/>
          <p:cNvSpPr/>
          <p:nvPr/>
        </p:nvSpPr>
        <p:spPr>
          <a:xfrm>
            <a:off x="6912864" y="2505456"/>
            <a:ext cx="1773936" cy="475488"/>
          </a:xfrm>
          <a:prstGeom prst="rect">
            <a:avLst/>
          </a:prstGeom>
          <a:noFill/>
          <a:ln/>
        </p:spPr>
        <p:txBody>
          <a:bodyPr wrap="square" rtlCol="0" anchor="ctr"/>
          <a:lstStyle/>
          <a:p>
            <a:pPr algn="ctr" indent="0" marL="0">
              <a:buNone/>
            </a:pPr>
            <a:r>
              <a:rPr lang="en-US" sz="1300" b="1" dirty="0">
                <a:solidFill>
                  <a:srgbClr val="188038"/>
                </a:solidFill>
                <a:latin typeface="Calibri" pitchFamily="34" charset="0"/>
                <a:ea typeface="Calibri" pitchFamily="34" charset="-122"/>
                <a:cs typeface="Calibri" pitchFamily="34" charset="-120"/>
              </a:rPr>
              <a:t>3,000万円</a:t>
            </a:r>
            <a:endParaRPr lang="en-US" sz="1300" dirty="0"/>
          </a:p>
        </p:txBody>
      </p:sp>
      <p:sp>
        <p:nvSpPr>
          <p:cNvPr id="47" name="Shape 45"/>
          <p:cNvSpPr/>
          <p:nvPr/>
        </p:nvSpPr>
        <p:spPr>
          <a:xfrm>
            <a:off x="274320" y="2980944"/>
            <a:ext cx="8357616" cy="0"/>
          </a:xfrm>
          <a:prstGeom prst="line">
            <a:avLst/>
          </a:prstGeom>
          <a:noFill/>
          <a:ln w="6350">
            <a:solidFill>
              <a:srgbClr val="CCCCCC"/>
            </a:solidFill>
            <a:prstDash val="solid"/>
          </a:ln>
        </p:spPr>
      </p:sp>
      <p:sp>
        <p:nvSpPr>
          <p:cNvPr id="48" name="Shape 46"/>
          <p:cNvSpPr/>
          <p:nvPr/>
        </p:nvSpPr>
        <p:spPr>
          <a:xfrm>
            <a:off x="274320" y="2980944"/>
            <a:ext cx="2944368" cy="475488"/>
          </a:xfrm>
          <a:prstGeom prst="rect">
            <a:avLst/>
          </a:prstGeom>
          <a:solidFill>
            <a:srgbClr val="FFFFFF"/>
          </a:solidFill>
          <a:ln/>
        </p:spPr>
      </p:sp>
      <p:sp>
        <p:nvSpPr>
          <p:cNvPr id="49" name="Text 47"/>
          <p:cNvSpPr/>
          <p:nvPr/>
        </p:nvSpPr>
        <p:spPr>
          <a:xfrm>
            <a:off x="402336" y="2980944"/>
            <a:ext cx="2761488"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初期投資（センサー等）</a:t>
            </a:r>
            <a:endParaRPr lang="en-US" sz="1100" dirty="0"/>
          </a:p>
        </p:txBody>
      </p:sp>
      <p:sp>
        <p:nvSpPr>
          <p:cNvPr id="50" name="Shape 48"/>
          <p:cNvSpPr/>
          <p:nvPr/>
        </p:nvSpPr>
        <p:spPr>
          <a:xfrm>
            <a:off x="3255264" y="2980944"/>
            <a:ext cx="1773936" cy="475488"/>
          </a:xfrm>
          <a:prstGeom prst="rect">
            <a:avLst/>
          </a:prstGeom>
          <a:solidFill>
            <a:srgbClr val="FFFFFF"/>
          </a:solidFill>
          <a:ln w="9525">
            <a:solidFill>
              <a:srgbClr val="CCCCCC"/>
            </a:solidFill>
            <a:prstDash val="solid"/>
          </a:ln>
        </p:spPr>
      </p:sp>
      <p:sp>
        <p:nvSpPr>
          <p:cNvPr id="51" name="Text 49"/>
          <p:cNvSpPr/>
          <p:nvPr/>
        </p:nvSpPr>
        <p:spPr>
          <a:xfrm>
            <a:off x="3255264" y="2980944"/>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▲300万円</a:t>
            </a:r>
            <a:endParaRPr lang="en-US" sz="1150" dirty="0"/>
          </a:p>
        </p:txBody>
      </p:sp>
      <p:sp>
        <p:nvSpPr>
          <p:cNvPr id="52" name="Shape 50"/>
          <p:cNvSpPr/>
          <p:nvPr/>
        </p:nvSpPr>
        <p:spPr>
          <a:xfrm>
            <a:off x="5084064" y="2980944"/>
            <a:ext cx="1773936" cy="475488"/>
          </a:xfrm>
          <a:prstGeom prst="rect">
            <a:avLst/>
          </a:prstGeom>
          <a:solidFill>
            <a:srgbClr val="FFFFFF"/>
          </a:solidFill>
          <a:ln w="9525">
            <a:solidFill>
              <a:srgbClr val="CCCCCC"/>
            </a:solidFill>
            <a:prstDash val="solid"/>
          </a:ln>
        </p:spPr>
      </p:sp>
      <p:sp>
        <p:nvSpPr>
          <p:cNvPr id="53" name="Text 51"/>
          <p:cNvSpPr/>
          <p:nvPr/>
        </p:nvSpPr>
        <p:spPr>
          <a:xfrm>
            <a:off x="5084064" y="2980944"/>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▲200万円</a:t>
            </a:r>
            <a:endParaRPr lang="en-US" sz="1150" dirty="0"/>
          </a:p>
        </p:txBody>
      </p:sp>
      <p:sp>
        <p:nvSpPr>
          <p:cNvPr id="54" name="Shape 52"/>
          <p:cNvSpPr/>
          <p:nvPr/>
        </p:nvSpPr>
        <p:spPr>
          <a:xfrm>
            <a:off x="6912864" y="2980944"/>
            <a:ext cx="1773936" cy="475488"/>
          </a:xfrm>
          <a:prstGeom prst="rect">
            <a:avLst/>
          </a:prstGeom>
          <a:solidFill>
            <a:srgbClr val="FFFFFF"/>
          </a:solidFill>
          <a:ln w="9525">
            <a:solidFill>
              <a:srgbClr val="CCCCCC"/>
            </a:solidFill>
            <a:prstDash val="solid"/>
          </a:ln>
        </p:spPr>
      </p:sp>
      <p:sp>
        <p:nvSpPr>
          <p:cNvPr id="55" name="Text 53"/>
          <p:cNvSpPr/>
          <p:nvPr/>
        </p:nvSpPr>
        <p:spPr>
          <a:xfrm>
            <a:off x="6912864" y="2980944"/>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▲400万円</a:t>
            </a:r>
            <a:endParaRPr lang="en-US" sz="1150" dirty="0"/>
          </a:p>
        </p:txBody>
      </p:sp>
      <p:sp>
        <p:nvSpPr>
          <p:cNvPr id="56" name="Shape 54"/>
          <p:cNvSpPr/>
          <p:nvPr/>
        </p:nvSpPr>
        <p:spPr>
          <a:xfrm>
            <a:off x="274320" y="3456432"/>
            <a:ext cx="8357616" cy="0"/>
          </a:xfrm>
          <a:prstGeom prst="line">
            <a:avLst/>
          </a:prstGeom>
          <a:noFill/>
          <a:ln w="6350">
            <a:solidFill>
              <a:srgbClr val="CCCCCC"/>
            </a:solidFill>
            <a:prstDash val="solid"/>
          </a:ln>
        </p:spPr>
      </p:sp>
      <p:sp>
        <p:nvSpPr>
          <p:cNvPr id="57" name="Shape 55"/>
          <p:cNvSpPr/>
          <p:nvPr/>
        </p:nvSpPr>
        <p:spPr>
          <a:xfrm>
            <a:off x="274320" y="3456432"/>
            <a:ext cx="2944368" cy="475488"/>
          </a:xfrm>
          <a:prstGeom prst="rect">
            <a:avLst/>
          </a:prstGeom>
          <a:solidFill>
            <a:srgbClr val="F3F3F3"/>
          </a:solidFill>
          <a:ln/>
        </p:spPr>
      </p:sp>
      <p:sp>
        <p:nvSpPr>
          <p:cNvPr id="58" name="Text 56"/>
          <p:cNvSpPr/>
          <p:nvPr/>
        </p:nvSpPr>
        <p:spPr>
          <a:xfrm>
            <a:off x="402336" y="3456432"/>
            <a:ext cx="2761488"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データ整備・API運用費</a:t>
            </a:r>
            <a:endParaRPr lang="en-US" sz="1100" dirty="0"/>
          </a:p>
        </p:txBody>
      </p:sp>
      <p:sp>
        <p:nvSpPr>
          <p:cNvPr id="59" name="Shape 57"/>
          <p:cNvSpPr/>
          <p:nvPr/>
        </p:nvSpPr>
        <p:spPr>
          <a:xfrm>
            <a:off x="3255264" y="3456432"/>
            <a:ext cx="1773936" cy="475488"/>
          </a:xfrm>
          <a:prstGeom prst="rect">
            <a:avLst/>
          </a:prstGeom>
          <a:solidFill>
            <a:srgbClr val="F3F3F3"/>
          </a:solidFill>
          <a:ln w="9525">
            <a:solidFill>
              <a:srgbClr val="CCCCCC"/>
            </a:solidFill>
            <a:prstDash val="solid"/>
          </a:ln>
        </p:spPr>
      </p:sp>
      <p:sp>
        <p:nvSpPr>
          <p:cNvPr id="60" name="Text 58"/>
          <p:cNvSpPr/>
          <p:nvPr/>
        </p:nvSpPr>
        <p:spPr>
          <a:xfrm>
            <a:off x="3255264" y="3456432"/>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▲120万円</a:t>
            </a:r>
            <a:endParaRPr lang="en-US" sz="1150" dirty="0"/>
          </a:p>
        </p:txBody>
      </p:sp>
      <p:sp>
        <p:nvSpPr>
          <p:cNvPr id="61" name="Shape 59"/>
          <p:cNvSpPr/>
          <p:nvPr/>
        </p:nvSpPr>
        <p:spPr>
          <a:xfrm>
            <a:off x="5084064" y="3456432"/>
            <a:ext cx="1773936" cy="475488"/>
          </a:xfrm>
          <a:prstGeom prst="rect">
            <a:avLst/>
          </a:prstGeom>
          <a:solidFill>
            <a:srgbClr val="F3F3F3"/>
          </a:solidFill>
          <a:ln w="9525">
            <a:solidFill>
              <a:srgbClr val="CCCCCC"/>
            </a:solidFill>
            <a:prstDash val="solid"/>
          </a:ln>
        </p:spPr>
      </p:sp>
      <p:sp>
        <p:nvSpPr>
          <p:cNvPr id="62" name="Text 60"/>
          <p:cNvSpPr/>
          <p:nvPr/>
        </p:nvSpPr>
        <p:spPr>
          <a:xfrm>
            <a:off x="5084064" y="3456432"/>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▲180万円</a:t>
            </a:r>
            <a:endParaRPr lang="en-US" sz="1150" dirty="0"/>
          </a:p>
        </p:txBody>
      </p:sp>
      <p:sp>
        <p:nvSpPr>
          <p:cNvPr id="63" name="Shape 61"/>
          <p:cNvSpPr/>
          <p:nvPr/>
        </p:nvSpPr>
        <p:spPr>
          <a:xfrm>
            <a:off x="6912864" y="3456432"/>
            <a:ext cx="1773936" cy="475488"/>
          </a:xfrm>
          <a:prstGeom prst="rect">
            <a:avLst/>
          </a:prstGeom>
          <a:solidFill>
            <a:srgbClr val="F3F3F3"/>
          </a:solidFill>
          <a:ln w="9525">
            <a:solidFill>
              <a:srgbClr val="CCCCCC"/>
            </a:solidFill>
            <a:prstDash val="solid"/>
          </a:ln>
        </p:spPr>
      </p:sp>
      <p:sp>
        <p:nvSpPr>
          <p:cNvPr id="64" name="Text 62"/>
          <p:cNvSpPr/>
          <p:nvPr/>
        </p:nvSpPr>
        <p:spPr>
          <a:xfrm>
            <a:off x="6912864" y="3456432"/>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▲240万円</a:t>
            </a:r>
            <a:endParaRPr lang="en-US" sz="1150" dirty="0"/>
          </a:p>
        </p:txBody>
      </p:sp>
      <p:sp>
        <p:nvSpPr>
          <p:cNvPr id="65" name="Shape 63"/>
          <p:cNvSpPr/>
          <p:nvPr/>
        </p:nvSpPr>
        <p:spPr>
          <a:xfrm>
            <a:off x="274320" y="3931920"/>
            <a:ext cx="8357616" cy="0"/>
          </a:xfrm>
          <a:prstGeom prst="line">
            <a:avLst/>
          </a:prstGeom>
          <a:noFill/>
          <a:ln w="6350">
            <a:solidFill>
              <a:srgbClr val="CCCCCC"/>
            </a:solidFill>
            <a:prstDash val="solid"/>
          </a:ln>
        </p:spPr>
      </p:sp>
      <p:sp>
        <p:nvSpPr>
          <p:cNvPr id="66" name="Shape 64"/>
          <p:cNvSpPr/>
          <p:nvPr/>
        </p:nvSpPr>
        <p:spPr>
          <a:xfrm>
            <a:off x="274320" y="3931920"/>
            <a:ext cx="2944368" cy="475488"/>
          </a:xfrm>
          <a:prstGeom prst="rect">
            <a:avLst/>
          </a:prstGeom>
          <a:solidFill>
            <a:srgbClr val="FFFFFF"/>
          </a:solidFill>
          <a:ln/>
        </p:spPr>
      </p:sp>
      <p:sp>
        <p:nvSpPr>
          <p:cNvPr id="67" name="Text 65"/>
          <p:cNvSpPr/>
          <p:nvPr/>
        </p:nvSpPr>
        <p:spPr>
          <a:xfrm>
            <a:off x="402336" y="3931920"/>
            <a:ext cx="2761488"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営業・人件費</a:t>
            </a:r>
            <a:endParaRPr lang="en-US" sz="1100" dirty="0"/>
          </a:p>
        </p:txBody>
      </p:sp>
      <p:sp>
        <p:nvSpPr>
          <p:cNvPr id="68" name="Shape 66"/>
          <p:cNvSpPr/>
          <p:nvPr/>
        </p:nvSpPr>
        <p:spPr>
          <a:xfrm>
            <a:off x="3255264" y="3931920"/>
            <a:ext cx="1773936" cy="475488"/>
          </a:xfrm>
          <a:prstGeom prst="rect">
            <a:avLst/>
          </a:prstGeom>
          <a:solidFill>
            <a:srgbClr val="FFFFFF"/>
          </a:solidFill>
          <a:ln w="9525">
            <a:solidFill>
              <a:srgbClr val="CCCCCC"/>
            </a:solidFill>
            <a:prstDash val="solid"/>
          </a:ln>
        </p:spPr>
      </p:sp>
      <p:sp>
        <p:nvSpPr>
          <p:cNvPr id="69" name="Text 67"/>
          <p:cNvSpPr/>
          <p:nvPr/>
        </p:nvSpPr>
        <p:spPr>
          <a:xfrm>
            <a:off x="3255264" y="3931920"/>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▲180万円</a:t>
            </a:r>
            <a:endParaRPr lang="en-US" sz="1150" dirty="0"/>
          </a:p>
        </p:txBody>
      </p:sp>
      <p:sp>
        <p:nvSpPr>
          <p:cNvPr id="70" name="Shape 68"/>
          <p:cNvSpPr/>
          <p:nvPr/>
        </p:nvSpPr>
        <p:spPr>
          <a:xfrm>
            <a:off x="5084064" y="3931920"/>
            <a:ext cx="1773936" cy="475488"/>
          </a:xfrm>
          <a:prstGeom prst="rect">
            <a:avLst/>
          </a:prstGeom>
          <a:solidFill>
            <a:srgbClr val="FFFFFF"/>
          </a:solidFill>
          <a:ln w="9525">
            <a:solidFill>
              <a:srgbClr val="CCCCCC"/>
            </a:solidFill>
            <a:prstDash val="solid"/>
          </a:ln>
        </p:spPr>
      </p:sp>
      <p:sp>
        <p:nvSpPr>
          <p:cNvPr id="71" name="Text 69"/>
          <p:cNvSpPr/>
          <p:nvPr/>
        </p:nvSpPr>
        <p:spPr>
          <a:xfrm>
            <a:off x="5084064" y="3931920"/>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▲200万円</a:t>
            </a:r>
            <a:endParaRPr lang="en-US" sz="1150" dirty="0"/>
          </a:p>
        </p:txBody>
      </p:sp>
      <p:sp>
        <p:nvSpPr>
          <p:cNvPr id="72" name="Shape 70"/>
          <p:cNvSpPr/>
          <p:nvPr/>
        </p:nvSpPr>
        <p:spPr>
          <a:xfrm>
            <a:off x="6912864" y="3931920"/>
            <a:ext cx="1773936" cy="475488"/>
          </a:xfrm>
          <a:prstGeom prst="rect">
            <a:avLst/>
          </a:prstGeom>
          <a:solidFill>
            <a:srgbClr val="FFFFFF"/>
          </a:solidFill>
          <a:ln w="9525">
            <a:solidFill>
              <a:srgbClr val="CCCCCC"/>
            </a:solidFill>
            <a:prstDash val="solid"/>
          </a:ln>
        </p:spPr>
      </p:sp>
      <p:sp>
        <p:nvSpPr>
          <p:cNvPr id="73" name="Text 71"/>
          <p:cNvSpPr/>
          <p:nvPr/>
        </p:nvSpPr>
        <p:spPr>
          <a:xfrm>
            <a:off x="6912864" y="3931920"/>
            <a:ext cx="1773936" cy="475488"/>
          </a:xfrm>
          <a:prstGeom prst="rect">
            <a:avLst/>
          </a:prstGeom>
          <a:noFill/>
          <a:ln/>
        </p:spPr>
        <p:txBody>
          <a:bodyPr wrap="square" rtlCol="0" anchor="ctr"/>
          <a:lstStyle/>
          <a:p>
            <a:pPr algn="ctr" indent="0" marL="0">
              <a:buNone/>
            </a:pPr>
            <a:r>
              <a:rPr lang="en-US" sz="1150" dirty="0">
                <a:solidFill>
                  <a:srgbClr val="DD001B"/>
                </a:solidFill>
                <a:latin typeface="Calibri" pitchFamily="34" charset="0"/>
                <a:ea typeface="Calibri" pitchFamily="34" charset="-122"/>
                <a:cs typeface="Calibri" pitchFamily="34" charset="-120"/>
              </a:rPr>
              <a:t>▲220万円</a:t>
            </a:r>
            <a:endParaRPr lang="en-US" sz="1150" dirty="0"/>
          </a:p>
        </p:txBody>
      </p:sp>
      <p:sp>
        <p:nvSpPr>
          <p:cNvPr id="74" name="Shape 72"/>
          <p:cNvSpPr/>
          <p:nvPr/>
        </p:nvSpPr>
        <p:spPr>
          <a:xfrm>
            <a:off x="274320" y="4407408"/>
            <a:ext cx="8357616" cy="0"/>
          </a:xfrm>
          <a:prstGeom prst="line">
            <a:avLst/>
          </a:prstGeom>
          <a:noFill/>
          <a:ln w="6350">
            <a:solidFill>
              <a:srgbClr val="CCCCCC"/>
            </a:solidFill>
            <a:prstDash val="solid"/>
          </a:ln>
        </p:spPr>
      </p:sp>
      <p:sp>
        <p:nvSpPr>
          <p:cNvPr id="75" name="Shape 73"/>
          <p:cNvSpPr/>
          <p:nvPr/>
        </p:nvSpPr>
        <p:spPr>
          <a:xfrm>
            <a:off x="274320" y="4407408"/>
            <a:ext cx="2944368" cy="475488"/>
          </a:xfrm>
          <a:prstGeom prst="rect">
            <a:avLst/>
          </a:prstGeom>
          <a:solidFill>
            <a:srgbClr val="D9EAD3"/>
          </a:solidFill>
          <a:ln/>
        </p:spPr>
      </p:sp>
      <p:sp>
        <p:nvSpPr>
          <p:cNvPr id="76" name="Shape 74"/>
          <p:cNvSpPr/>
          <p:nvPr/>
        </p:nvSpPr>
        <p:spPr>
          <a:xfrm>
            <a:off x="274320" y="4407408"/>
            <a:ext cx="54864" cy="475488"/>
          </a:xfrm>
          <a:prstGeom prst="rect">
            <a:avLst/>
          </a:prstGeom>
          <a:solidFill>
            <a:srgbClr val="156818"/>
          </a:solidFill>
          <a:ln/>
        </p:spPr>
      </p:sp>
      <p:sp>
        <p:nvSpPr>
          <p:cNvPr id="77" name="Text 75"/>
          <p:cNvSpPr/>
          <p:nvPr/>
        </p:nvSpPr>
        <p:spPr>
          <a:xfrm>
            <a:off x="402336" y="4407408"/>
            <a:ext cx="2761488" cy="475488"/>
          </a:xfrm>
          <a:prstGeom prst="rect">
            <a:avLst/>
          </a:prstGeom>
          <a:noFill/>
          <a:ln/>
        </p:spPr>
        <p:txBody>
          <a:bodyPr wrap="square" rtlCol="0" anchor="ctr"/>
          <a:lstStyle/>
          <a:p>
            <a:pPr indent="0" marL="0">
              <a:buNone/>
            </a:pPr>
            <a:r>
              <a:rPr lang="en-US" sz="1100" b="1" dirty="0">
                <a:solidFill>
                  <a:srgbClr val="156818"/>
                </a:solidFill>
                <a:latin typeface="Calibri" pitchFamily="34" charset="0"/>
                <a:ea typeface="Calibri" pitchFamily="34" charset="-122"/>
                <a:cs typeface="Calibri" pitchFamily="34" charset="-120"/>
              </a:rPr>
              <a:t>営業利益（単年）</a:t>
            </a:r>
            <a:endParaRPr lang="en-US" sz="1100" dirty="0"/>
          </a:p>
        </p:txBody>
      </p:sp>
      <p:sp>
        <p:nvSpPr>
          <p:cNvPr id="78" name="Shape 76"/>
          <p:cNvSpPr/>
          <p:nvPr/>
        </p:nvSpPr>
        <p:spPr>
          <a:xfrm>
            <a:off x="3255264" y="4407408"/>
            <a:ext cx="1773936" cy="475488"/>
          </a:xfrm>
          <a:prstGeom prst="rect">
            <a:avLst/>
          </a:prstGeom>
          <a:solidFill>
            <a:srgbClr val="F4CCCC"/>
          </a:solidFill>
          <a:ln w="9525">
            <a:solidFill>
              <a:srgbClr val="CCCCCC"/>
            </a:solidFill>
            <a:prstDash val="solid"/>
          </a:ln>
        </p:spPr>
      </p:sp>
      <p:sp>
        <p:nvSpPr>
          <p:cNvPr id="79" name="Text 77"/>
          <p:cNvSpPr/>
          <p:nvPr/>
        </p:nvSpPr>
        <p:spPr>
          <a:xfrm>
            <a:off x="3255264" y="4407408"/>
            <a:ext cx="1773936" cy="475488"/>
          </a:xfrm>
          <a:prstGeom prst="rect">
            <a:avLst/>
          </a:prstGeom>
          <a:noFill/>
          <a:ln/>
        </p:spPr>
        <p:txBody>
          <a:bodyPr wrap="square" rtlCol="0" anchor="ctr"/>
          <a:lstStyle/>
          <a:p>
            <a:pPr algn="ctr" indent="0" marL="0">
              <a:buNone/>
            </a:pPr>
            <a:r>
              <a:rPr lang="en-US" sz="1300" b="1" dirty="0">
                <a:solidFill>
                  <a:srgbClr val="DD001B"/>
                </a:solidFill>
                <a:latin typeface="Calibri" pitchFamily="34" charset="0"/>
                <a:ea typeface="Calibri" pitchFamily="34" charset="-122"/>
                <a:cs typeface="Calibri" pitchFamily="34" charset="-120"/>
              </a:rPr>
              <a:t>▲100万円</a:t>
            </a:r>
            <a:endParaRPr lang="en-US" sz="1300" dirty="0"/>
          </a:p>
        </p:txBody>
      </p:sp>
      <p:sp>
        <p:nvSpPr>
          <p:cNvPr id="80" name="Shape 78"/>
          <p:cNvSpPr/>
          <p:nvPr/>
        </p:nvSpPr>
        <p:spPr>
          <a:xfrm>
            <a:off x="5084064" y="4407408"/>
            <a:ext cx="1773936" cy="475488"/>
          </a:xfrm>
          <a:prstGeom prst="rect">
            <a:avLst/>
          </a:prstGeom>
          <a:solidFill>
            <a:srgbClr val="D9EAD3"/>
          </a:solidFill>
          <a:ln w="9525">
            <a:solidFill>
              <a:srgbClr val="CCCCCC"/>
            </a:solidFill>
            <a:prstDash val="solid"/>
          </a:ln>
        </p:spPr>
      </p:sp>
      <p:sp>
        <p:nvSpPr>
          <p:cNvPr id="81" name="Text 79"/>
          <p:cNvSpPr/>
          <p:nvPr/>
        </p:nvSpPr>
        <p:spPr>
          <a:xfrm>
            <a:off x="5084064" y="4407408"/>
            <a:ext cx="1773936" cy="475488"/>
          </a:xfrm>
          <a:prstGeom prst="rect">
            <a:avLst/>
          </a:prstGeom>
          <a:noFill/>
          <a:ln/>
        </p:spPr>
        <p:txBody>
          <a:bodyPr wrap="square" rtlCol="0" anchor="ctr"/>
          <a:lstStyle/>
          <a:p>
            <a:pPr algn="ctr" indent="0" marL="0">
              <a:buNone/>
            </a:pPr>
            <a:r>
              <a:rPr lang="en-US" sz="1300" b="1" dirty="0">
                <a:solidFill>
                  <a:srgbClr val="188038"/>
                </a:solidFill>
                <a:latin typeface="Calibri" pitchFamily="34" charset="0"/>
                <a:ea typeface="Calibri" pitchFamily="34" charset="-122"/>
                <a:cs typeface="Calibri" pitchFamily="34" charset="-120"/>
              </a:rPr>
              <a:t>+920万円</a:t>
            </a:r>
            <a:endParaRPr lang="en-US" sz="1300" dirty="0"/>
          </a:p>
        </p:txBody>
      </p:sp>
      <p:sp>
        <p:nvSpPr>
          <p:cNvPr id="82" name="Shape 80"/>
          <p:cNvSpPr/>
          <p:nvPr/>
        </p:nvSpPr>
        <p:spPr>
          <a:xfrm>
            <a:off x="6912864" y="4407408"/>
            <a:ext cx="1773936" cy="475488"/>
          </a:xfrm>
          <a:prstGeom prst="rect">
            <a:avLst/>
          </a:prstGeom>
          <a:solidFill>
            <a:srgbClr val="D9EAD3"/>
          </a:solidFill>
          <a:ln w="9525">
            <a:solidFill>
              <a:srgbClr val="CCCCCC"/>
            </a:solidFill>
            <a:prstDash val="solid"/>
          </a:ln>
        </p:spPr>
      </p:sp>
      <p:sp>
        <p:nvSpPr>
          <p:cNvPr id="83" name="Text 81"/>
          <p:cNvSpPr/>
          <p:nvPr/>
        </p:nvSpPr>
        <p:spPr>
          <a:xfrm>
            <a:off x="6912864" y="4407408"/>
            <a:ext cx="1773936" cy="475488"/>
          </a:xfrm>
          <a:prstGeom prst="rect">
            <a:avLst/>
          </a:prstGeom>
          <a:noFill/>
          <a:ln/>
        </p:spPr>
        <p:txBody>
          <a:bodyPr wrap="square" rtlCol="0" anchor="ctr"/>
          <a:lstStyle/>
          <a:p>
            <a:pPr algn="ctr" indent="0" marL="0">
              <a:buNone/>
            </a:pPr>
            <a:r>
              <a:rPr lang="en-US" sz="1300" b="1" dirty="0">
                <a:solidFill>
                  <a:srgbClr val="188038"/>
                </a:solidFill>
                <a:latin typeface="Calibri" pitchFamily="34" charset="0"/>
                <a:ea typeface="Calibri" pitchFamily="34" charset="-122"/>
                <a:cs typeface="Calibri" pitchFamily="34" charset="-120"/>
              </a:rPr>
              <a:t>+2,140万円</a:t>
            </a:r>
            <a:endParaRPr lang="en-US" sz="1300" dirty="0"/>
          </a:p>
        </p:txBody>
      </p:sp>
      <p:sp>
        <p:nvSpPr>
          <p:cNvPr id="84" name="Shape 82"/>
          <p:cNvSpPr/>
          <p:nvPr/>
        </p:nvSpPr>
        <p:spPr>
          <a:xfrm>
            <a:off x="274320" y="4882896"/>
            <a:ext cx="8357616" cy="0"/>
          </a:xfrm>
          <a:prstGeom prst="line">
            <a:avLst/>
          </a:prstGeom>
          <a:noFill/>
          <a:ln w="6350">
            <a:solidFill>
              <a:srgbClr val="CCCCCC"/>
            </a:solidFill>
            <a:prstDash val="solid"/>
          </a:ln>
        </p:spPr>
      </p:sp>
      <p:sp>
        <p:nvSpPr>
          <p:cNvPr id="85" name="Text 83"/>
          <p:cNvSpPr/>
          <p:nvPr/>
        </p:nvSpPr>
        <p:spPr>
          <a:xfrm>
            <a:off x="274320" y="4864608"/>
            <a:ext cx="8595360" cy="219456"/>
          </a:xfrm>
          <a:prstGeom prst="rect">
            <a:avLst/>
          </a:prstGeom>
          <a:noFill/>
          <a:ln/>
        </p:spPr>
        <p:txBody>
          <a:bodyPr wrap="square" rtlCol="0" anchor="ctr"/>
          <a:lstStyle/>
          <a:p>
            <a:pPr indent="0" marL="0">
              <a:buNone/>
            </a:pPr>
            <a:r>
              <a:rPr lang="en-US" sz="850" dirty="0">
                <a:solidFill>
                  <a:srgbClr val="999999"/>
                </a:solidFill>
                <a:latin typeface="Calibri" pitchFamily="34" charset="0"/>
                <a:ea typeface="Calibri" pitchFamily="34" charset="-122"/>
                <a:cs typeface="Calibri" pitchFamily="34" charset="-120"/>
              </a:rPr>
              <a:t>※ 初期投資は廃棄物データ整備・APIシステム・センサー機器を含む。2年目以降センサー展開で投資継続。</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3F3F3"/>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9</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次のアクション（7〜9月）</a:t>
            </a:r>
            <a:endParaRPr lang="en-US" sz="1600" dirty="0"/>
          </a:p>
        </p:txBody>
      </p:sp>
      <p:sp>
        <p:nvSpPr>
          <p:cNvPr id="7" name="Shape 5"/>
          <p:cNvSpPr/>
          <p:nvPr/>
        </p:nvSpPr>
        <p:spPr>
          <a:xfrm>
            <a:off x="365760" y="768096"/>
            <a:ext cx="4160520" cy="2084832"/>
          </a:xfrm>
          <a:prstGeom prst="rect">
            <a:avLst/>
          </a:prstGeom>
          <a:solidFill>
            <a:srgbClr val="FFFFFF"/>
          </a:solidFill>
          <a:ln w="9525">
            <a:solidFill>
              <a:srgbClr val="CCCCCC"/>
            </a:solidFill>
            <a:prstDash val="solid"/>
          </a:ln>
        </p:spPr>
      </p:sp>
      <p:sp>
        <p:nvSpPr>
          <p:cNvPr id="8" name="Shape 6"/>
          <p:cNvSpPr/>
          <p:nvPr/>
        </p:nvSpPr>
        <p:spPr>
          <a:xfrm>
            <a:off x="365760" y="768096"/>
            <a:ext cx="4160520" cy="292608"/>
          </a:xfrm>
          <a:prstGeom prst="rect">
            <a:avLst/>
          </a:prstGeom>
          <a:solidFill>
            <a:srgbClr val="156818"/>
          </a:solidFill>
          <a:ln/>
        </p:spPr>
      </p:sp>
      <p:sp>
        <p:nvSpPr>
          <p:cNvPr id="9" name="Shape 7"/>
          <p:cNvSpPr/>
          <p:nvPr/>
        </p:nvSpPr>
        <p:spPr>
          <a:xfrm>
            <a:off x="365760" y="768096"/>
            <a:ext cx="4160520" cy="292608"/>
          </a:xfrm>
          <a:prstGeom prst="rect">
            <a:avLst/>
          </a:prstGeom>
          <a:solidFill>
            <a:srgbClr val="156818"/>
          </a:solidFill>
          <a:ln/>
        </p:spPr>
      </p:sp>
      <p:sp>
        <p:nvSpPr>
          <p:cNvPr id="10" name="Text 8"/>
          <p:cNvSpPr/>
          <p:nvPr/>
        </p:nvSpPr>
        <p:spPr>
          <a:xfrm>
            <a:off x="365760" y="768096"/>
            <a:ext cx="416052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廃棄物データ整備</a:t>
            </a:r>
            <a:endParaRPr lang="en-US" sz="900" dirty="0"/>
          </a:p>
        </p:txBody>
      </p:sp>
      <p:sp>
        <p:nvSpPr>
          <p:cNvPr id="11" name="Shape 9"/>
          <p:cNvSpPr/>
          <p:nvPr/>
        </p:nvSpPr>
        <p:spPr>
          <a:xfrm>
            <a:off x="502920" y="1152144"/>
            <a:ext cx="256032" cy="256032"/>
          </a:xfrm>
          <a:prstGeom prst="rect">
            <a:avLst/>
          </a:prstGeom>
          <a:solidFill>
            <a:srgbClr val="156818"/>
          </a:solidFill>
          <a:ln/>
        </p:spPr>
      </p:sp>
      <p:sp>
        <p:nvSpPr>
          <p:cNvPr id="12" name="Text 10"/>
          <p:cNvSpPr/>
          <p:nvPr/>
        </p:nvSpPr>
        <p:spPr>
          <a:xfrm>
            <a:off x="502920" y="11521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841248" y="113385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ラクハイデータの品目別・施設別・月次クレンジング（7月）</a:t>
            </a:r>
            <a:endParaRPr lang="en-US" sz="1100" dirty="0"/>
          </a:p>
        </p:txBody>
      </p:sp>
      <p:sp>
        <p:nvSpPr>
          <p:cNvPr id="14" name="Shape 12"/>
          <p:cNvSpPr/>
          <p:nvPr/>
        </p:nvSpPr>
        <p:spPr>
          <a:xfrm>
            <a:off x="502920" y="1700784"/>
            <a:ext cx="256032" cy="256032"/>
          </a:xfrm>
          <a:prstGeom prst="rect">
            <a:avLst/>
          </a:prstGeom>
          <a:solidFill>
            <a:srgbClr val="156818"/>
          </a:solidFill>
          <a:ln/>
        </p:spPr>
      </p:sp>
      <p:sp>
        <p:nvSpPr>
          <p:cNvPr id="15" name="Text 13"/>
          <p:cNvSpPr/>
          <p:nvPr/>
        </p:nvSpPr>
        <p:spPr>
          <a:xfrm>
            <a:off x="502920" y="170078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841248" y="168249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営業用サンプルレポート1本作成（8月）</a:t>
            </a:r>
            <a:endParaRPr lang="en-US" sz="1100" dirty="0"/>
          </a:p>
        </p:txBody>
      </p:sp>
      <p:sp>
        <p:nvSpPr>
          <p:cNvPr id="17" name="Shape 15"/>
          <p:cNvSpPr/>
          <p:nvPr/>
        </p:nvSpPr>
        <p:spPr>
          <a:xfrm>
            <a:off x="502920" y="2249424"/>
            <a:ext cx="256032" cy="256032"/>
          </a:xfrm>
          <a:prstGeom prst="rect">
            <a:avLst/>
          </a:prstGeom>
          <a:solidFill>
            <a:srgbClr val="156818"/>
          </a:solidFill>
          <a:ln/>
        </p:spPr>
      </p:sp>
      <p:sp>
        <p:nvSpPr>
          <p:cNvPr id="18" name="Text 16"/>
          <p:cNvSpPr/>
          <p:nvPr/>
        </p:nvSpPr>
        <p:spPr>
          <a:xfrm>
            <a:off x="502920" y="224942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841248" y="223113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調査会社・ヘッジファンドへのアプローチリスト作成（7月）</a:t>
            </a:r>
            <a:endParaRPr lang="en-US" sz="1100" dirty="0"/>
          </a:p>
        </p:txBody>
      </p:sp>
      <p:sp>
        <p:nvSpPr>
          <p:cNvPr id="20" name="Shape 18"/>
          <p:cNvSpPr/>
          <p:nvPr/>
        </p:nvSpPr>
        <p:spPr>
          <a:xfrm>
            <a:off x="365760" y="2916936"/>
            <a:ext cx="4160520" cy="2084832"/>
          </a:xfrm>
          <a:prstGeom prst="rect">
            <a:avLst/>
          </a:prstGeom>
          <a:solidFill>
            <a:srgbClr val="FFFFFF"/>
          </a:solidFill>
          <a:ln w="9525">
            <a:solidFill>
              <a:srgbClr val="CCCCCC"/>
            </a:solidFill>
            <a:prstDash val="solid"/>
          </a:ln>
        </p:spPr>
      </p:sp>
      <p:sp>
        <p:nvSpPr>
          <p:cNvPr id="21" name="Shape 19"/>
          <p:cNvSpPr/>
          <p:nvPr/>
        </p:nvSpPr>
        <p:spPr>
          <a:xfrm>
            <a:off x="365760" y="2916936"/>
            <a:ext cx="4160520" cy="292608"/>
          </a:xfrm>
          <a:prstGeom prst="rect">
            <a:avLst/>
          </a:prstGeom>
          <a:solidFill>
            <a:srgbClr val="0D7480"/>
          </a:solidFill>
          <a:ln/>
        </p:spPr>
      </p:sp>
      <p:sp>
        <p:nvSpPr>
          <p:cNvPr id="22" name="Shape 20"/>
          <p:cNvSpPr/>
          <p:nvPr/>
        </p:nvSpPr>
        <p:spPr>
          <a:xfrm>
            <a:off x="365760" y="2916936"/>
            <a:ext cx="4160520" cy="292608"/>
          </a:xfrm>
          <a:prstGeom prst="rect">
            <a:avLst/>
          </a:prstGeom>
          <a:solidFill>
            <a:srgbClr val="0D7480"/>
          </a:solidFill>
          <a:ln/>
        </p:spPr>
      </p:sp>
      <p:sp>
        <p:nvSpPr>
          <p:cNvPr id="23" name="Text 21"/>
          <p:cNvSpPr/>
          <p:nvPr/>
        </p:nvSpPr>
        <p:spPr>
          <a:xfrm>
            <a:off x="365760" y="2916936"/>
            <a:ext cx="416052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走行センサーPoC</a:t>
            </a:r>
            <a:endParaRPr lang="en-US" sz="900" dirty="0"/>
          </a:p>
        </p:txBody>
      </p:sp>
      <p:sp>
        <p:nvSpPr>
          <p:cNvPr id="24" name="Shape 22"/>
          <p:cNvSpPr/>
          <p:nvPr/>
        </p:nvSpPr>
        <p:spPr>
          <a:xfrm>
            <a:off x="502920" y="3300984"/>
            <a:ext cx="256032" cy="256032"/>
          </a:xfrm>
          <a:prstGeom prst="rect">
            <a:avLst/>
          </a:prstGeom>
          <a:solidFill>
            <a:srgbClr val="0D7480"/>
          </a:solidFill>
          <a:ln/>
        </p:spPr>
      </p:sp>
      <p:sp>
        <p:nvSpPr>
          <p:cNvPr id="25" name="Text 23"/>
          <p:cNvSpPr/>
          <p:nvPr/>
        </p:nvSpPr>
        <p:spPr>
          <a:xfrm>
            <a:off x="502920" y="330098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841248" y="328269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AIカメラ・振動センサーの見積もり取得（3〜5社比較）（7月）</a:t>
            </a:r>
            <a:endParaRPr lang="en-US" sz="1100" dirty="0"/>
          </a:p>
        </p:txBody>
      </p:sp>
      <p:sp>
        <p:nvSpPr>
          <p:cNvPr id="27" name="Shape 25"/>
          <p:cNvSpPr/>
          <p:nvPr/>
        </p:nvSpPr>
        <p:spPr>
          <a:xfrm>
            <a:off x="502920" y="3849624"/>
            <a:ext cx="256032" cy="256032"/>
          </a:xfrm>
          <a:prstGeom prst="rect">
            <a:avLst/>
          </a:prstGeom>
          <a:solidFill>
            <a:srgbClr val="0D7480"/>
          </a:solidFill>
          <a:ln/>
        </p:spPr>
      </p:sp>
      <p:sp>
        <p:nvSpPr>
          <p:cNvPr id="28" name="Text 26"/>
          <p:cNvSpPr/>
          <p:nvPr/>
        </p:nvSpPr>
        <p:spPr>
          <a:xfrm>
            <a:off x="502920" y="384962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841248" y="383133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センサー3台搭載・社内精度テスト実施（8〜9月）</a:t>
            </a:r>
            <a:endParaRPr lang="en-US" sz="1100" dirty="0"/>
          </a:p>
        </p:txBody>
      </p:sp>
      <p:sp>
        <p:nvSpPr>
          <p:cNvPr id="30" name="Shape 28"/>
          <p:cNvSpPr/>
          <p:nvPr/>
        </p:nvSpPr>
        <p:spPr>
          <a:xfrm>
            <a:off x="502920" y="4398264"/>
            <a:ext cx="256032" cy="256032"/>
          </a:xfrm>
          <a:prstGeom prst="rect">
            <a:avLst/>
          </a:prstGeom>
          <a:solidFill>
            <a:srgbClr val="0D7480"/>
          </a:solidFill>
          <a:ln/>
        </p:spPr>
      </p:sp>
      <p:sp>
        <p:nvSpPr>
          <p:cNvPr id="31" name="Text 29"/>
          <p:cNvSpPr/>
          <p:nvPr/>
        </p:nvSpPr>
        <p:spPr>
          <a:xfrm>
            <a:off x="502920" y="439826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841248" y="437997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川崎市・横浜市のインフラ管理部門への打診（8月）</a:t>
            </a:r>
            <a:endParaRPr lang="en-US" sz="1100" dirty="0"/>
          </a:p>
        </p:txBody>
      </p:sp>
      <p:sp>
        <p:nvSpPr>
          <p:cNvPr id="33" name="Shape 31"/>
          <p:cNvSpPr/>
          <p:nvPr/>
        </p:nvSpPr>
        <p:spPr>
          <a:xfrm>
            <a:off x="4709160" y="768096"/>
            <a:ext cx="4160520" cy="2084832"/>
          </a:xfrm>
          <a:prstGeom prst="rect">
            <a:avLst/>
          </a:prstGeom>
          <a:solidFill>
            <a:srgbClr val="FFFFFF"/>
          </a:solidFill>
          <a:ln w="9525">
            <a:solidFill>
              <a:srgbClr val="CCCCCC"/>
            </a:solidFill>
            <a:prstDash val="solid"/>
          </a:ln>
        </p:spPr>
      </p:sp>
      <p:sp>
        <p:nvSpPr>
          <p:cNvPr id="34" name="Shape 32"/>
          <p:cNvSpPr/>
          <p:nvPr/>
        </p:nvSpPr>
        <p:spPr>
          <a:xfrm>
            <a:off x="4709160" y="768096"/>
            <a:ext cx="4160520" cy="292608"/>
          </a:xfrm>
          <a:prstGeom prst="rect">
            <a:avLst/>
          </a:prstGeom>
          <a:solidFill>
            <a:srgbClr val="DD7E6B"/>
          </a:solidFill>
          <a:ln/>
        </p:spPr>
      </p:sp>
      <p:sp>
        <p:nvSpPr>
          <p:cNvPr id="35" name="Shape 33"/>
          <p:cNvSpPr/>
          <p:nvPr/>
        </p:nvSpPr>
        <p:spPr>
          <a:xfrm>
            <a:off x="4709160" y="768096"/>
            <a:ext cx="4160520" cy="292608"/>
          </a:xfrm>
          <a:prstGeom prst="rect">
            <a:avLst/>
          </a:prstGeom>
          <a:solidFill>
            <a:srgbClr val="DD7E6B"/>
          </a:solidFill>
          <a:ln/>
        </p:spPr>
      </p:sp>
      <p:sp>
        <p:nvSpPr>
          <p:cNvPr id="36" name="Text 34"/>
          <p:cNvSpPr/>
          <p:nvPr/>
        </p:nvSpPr>
        <p:spPr>
          <a:xfrm>
            <a:off x="4709160" y="768096"/>
            <a:ext cx="416052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顧客開拓</a:t>
            </a:r>
            <a:endParaRPr lang="en-US" sz="900" dirty="0"/>
          </a:p>
        </p:txBody>
      </p:sp>
      <p:sp>
        <p:nvSpPr>
          <p:cNvPr id="37" name="Shape 35"/>
          <p:cNvSpPr/>
          <p:nvPr/>
        </p:nvSpPr>
        <p:spPr>
          <a:xfrm>
            <a:off x="4846320" y="1152144"/>
            <a:ext cx="256032" cy="256032"/>
          </a:xfrm>
          <a:prstGeom prst="rect">
            <a:avLst/>
          </a:prstGeom>
          <a:solidFill>
            <a:srgbClr val="DD7E6B"/>
          </a:solidFill>
          <a:ln/>
        </p:spPr>
      </p:sp>
      <p:sp>
        <p:nvSpPr>
          <p:cNvPr id="38" name="Text 36"/>
          <p:cNvSpPr/>
          <p:nvPr/>
        </p:nvSpPr>
        <p:spPr>
          <a:xfrm>
            <a:off x="4846320" y="11521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9" name="Text 37"/>
          <p:cNvSpPr/>
          <p:nvPr/>
        </p:nvSpPr>
        <p:spPr>
          <a:xfrm>
            <a:off x="5184648" y="113385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廃棄物データ：無償PoC提案 3件以上（8〜9月）</a:t>
            </a:r>
            <a:endParaRPr lang="en-US" sz="1100" dirty="0"/>
          </a:p>
        </p:txBody>
      </p:sp>
      <p:sp>
        <p:nvSpPr>
          <p:cNvPr id="40" name="Shape 38"/>
          <p:cNvSpPr/>
          <p:nvPr/>
        </p:nvSpPr>
        <p:spPr>
          <a:xfrm>
            <a:off x="4846320" y="1700784"/>
            <a:ext cx="256032" cy="256032"/>
          </a:xfrm>
          <a:prstGeom prst="rect">
            <a:avLst/>
          </a:prstGeom>
          <a:solidFill>
            <a:srgbClr val="DD7E6B"/>
          </a:solidFill>
          <a:ln/>
        </p:spPr>
      </p:sp>
      <p:sp>
        <p:nvSpPr>
          <p:cNvPr id="41" name="Text 39"/>
          <p:cNvSpPr/>
          <p:nvPr/>
        </p:nvSpPr>
        <p:spPr>
          <a:xfrm>
            <a:off x="4846320" y="170078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2" name="Text 40"/>
          <p:cNvSpPr/>
          <p:nvPr/>
        </p:nvSpPr>
        <p:spPr>
          <a:xfrm>
            <a:off x="5184648" y="168249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走行データ：自治体担当者ヒアリング 2件以上（9月）</a:t>
            </a:r>
            <a:endParaRPr lang="en-US" sz="1100" dirty="0"/>
          </a:p>
        </p:txBody>
      </p:sp>
      <p:sp>
        <p:nvSpPr>
          <p:cNvPr id="43" name="Shape 41"/>
          <p:cNvSpPr/>
          <p:nvPr/>
        </p:nvSpPr>
        <p:spPr>
          <a:xfrm>
            <a:off x="4846320" y="2249424"/>
            <a:ext cx="256032" cy="256032"/>
          </a:xfrm>
          <a:prstGeom prst="rect">
            <a:avLst/>
          </a:prstGeom>
          <a:solidFill>
            <a:srgbClr val="DD7E6B"/>
          </a:solidFill>
          <a:ln/>
        </p:spPr>
      </p:sp>
      <p:sp>
        <p:nvSpPr>
          <p:cNvPr id="44" name="Text 42"/>
          <p:cNvSpPr/>
          <p:nvPr/>
        </p:nvSpPr>
        <p:spPr>
          <a:xfrm>
            <a:off x="4846320" y="224942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5" name="Text 43"/>
          <p:cNvSpPr/>
          <p:nvPr/>
        </p:nvSpPr>
        <p:spPr>
          <a:xfrm>
            <a:off x="5184648" y="223113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既存250社取引先への廃棄物データ活用提案（9月）</a:t>
            </a:r>
            <a:endParaRPr lang="en-US" sz="1100" dirty="0"/>
          </a:p>
        </p:txBody>
      </p:sp>
      <p:sp>
        <p:nvSpPr>
          <p:cNvPr id="46" name="Shape 44"/>
          <p:cNvSpPr/>
          <p:nvPr/>
        </p:nvSpPr>
        <p:spPr>
          <a:xfrm>
            <a:off x="4709160" y="2916936"/>
            <a:ext cx="4160520" cy="1901952"/>
          </a:xfrm>
          <a:prstGeom prst="rect">
            <a:avLst/>
          </a:prstGeom>
          <a:solidFill>
            <a:srgbClr val="FFFFFF"/>
          </a:solidFill>
          <a:ln w="9525">
            <a:solidFill>
              <a:srgbClr val="CCCCCC"/>
            </a:solidFill>
            <a:prstDash val="solid"/>
          </a:ln>
        </p:spPr>
      </p:sp>
      <p:sp>
        <p:nvSpPr>
          <p:cNvPr id="47" name="Shape 45"/>
          <p:cNvSpPr/>
          <p:nvPr/>
        </p:nvSpPr>
        <p:spPr>
          <a:xfrm>
            <a:off x="4709160" y="2916936"/>
            <a:ext cx="4160520" cy="292608"/>
          </a:xfrm>
          <a:prstGeom prst="rect">
            <a:avLst/>
          </a:prstGeom>
          <a:solidFill>
            <a:srgbClr val="E65100"/>
          </a:solidFill>
          <a:ln/>
        </p:spPr>
      </p:sp>
      <p:sp>
        <p:nvSpPr>
          <p:cNvPr id="48" name="Shape 46"/>
          <p:cNvSpPr/>
          <p:nvPr/>
        </p:nvSpPr>
        <p:spPr>
          <a:xfrm>
            <a:off x="4709160" y="2916936"/>
            <a:ext cx="4160520" cy="292608"/>
          </a:xfrm>
          <a:prstGeom prst="rect">
            <a:avLst/>
          </a:prstGeom>
          <a:solidFill>
            <a:srgbClr val="E65100"/>
          </a:solidFill>
          <a:ln/>
        </p:spPr>
      </p:sp>
      <p:sp>
        <p:nvSpPr>
          <p:cNvPr id="49" name="Text 47"/>
          <p:cNvSpPr/>
          <p:nvPr/>
        </p:nvSpPr>
        <p:spPr>
          <a:xfrm>
            <a:off x="4709160" y="2916936"/>
            <a:ext cx="416052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体制・法務</a:t>
            </a:r>
            <a:endParaRPr lang="en-US" sz="900" dirty="0"/>
          </a:p>
        </p:txBody>
      </p:sp>
      <p:sp>
        <p:nvSpPr>
          <p:cNvPr id="50" name="Shape 48"/>
          <p:cNvSpPr/>
          <p:nvPr/>
        </p:nvSpPr>
        <p:spPr>
          <a:xfrm>
            <a:off x="4846320" y="3300984"/>
            <a:ext cx="256032" cy="256032"/>
          </a:xfrm>
          <a:prstGeom prst="rect">
            <a:avLst/>
          </a:prstGeom>
          <a:solidFill>
            <a:srgbClr val="E65100"/>
          </a:solidFill>
          <a:ln/>
        </p:spPr>
      </p:sp>
      <p:sp>
        <p:nvSpPr>
          <p:cNvPr id="51" name="Text 49"/>
          <p:cNvSpPr/>
          <p:nvPr/>
        </p:nvSpPr>
        <p:spPr>
          <a:xfrm>
            <a:off x="4846320" y="330098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2" name="Text 50"/>
          <p:cNvSpPr/>
          <p:nvPr/>
        </p:nvSpPr>
        <p:spPr>
          <a:xfrm>
            <a:off x="5184648" y="328269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データ販売に必要な個人情報・秘密情報の取扱規程確認</a:t>
            </a:r>
            <a:endParaRPr lang="en-US" sz="1100" dirty="0"/>
          </a:p>
        </p:txBody>
      </p:sp>
      <p:sp>
        <p:nvSpPr>
          <p:cNvPr id="53" name="Shape 51"/>
          <p:cNvSpPr/>
          <p:nvPr/>
        </p:nvSpPr>
        <p:spPr>
          <a:xfrm>
            <a:off x="4846320" y="3849624"/>
            <a:ext cx="256032" cy="256032"/>
          </a:xfrm>
          <a:prstGeom prst="rect">
            <a:avLst/>
          </a:prstGeom>
          <a:solidFill>
            <a:srgbClr val="E65100"/>
          </a:solidFill>
          <a:ln/>
        </p:spPr>
      </p:sp>
      <p:sp>
        <p:nvSpPr>
          <p:cNvPr id="54" name="Text 52"/>
          <p:cNvSpPr/>
          <p:nvPr/>
        </p:nvSpPr>
        <p:spPr>
          <a:xfrm>
            <a:off x="4846320" y="384962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5" name="Text 53"/>
          <p:cNvSpPr/>
          <p:nvPr/>
        </p:nvSpPr>
        <p:spPr>
          <a:xfrm>
            <a:off x="5184648" y="3831336"/>
            <a:ext cx="3584448" cy="365760"/>
          </a:xfrm>
          <a:prstGeom prst="rect">
            <a:avLst/>
          </a:prstGeom>
          <a:noFill/>
          <a:ln/>
        </p:spPr>
        <p:txBody>
          <a:bodyPr wrap="square" rtlCol="0" anchor="ctr"/>
          <a:lstStyle/>
          <a:p>
            <a:pPr indent="0" marL="0">
              <a:lnSpc>
                <a:spcPct val="130000"/>
              </a:lnSpc>
              <a:buNone/>
            </a:pPr>
            <a:r>
              <a:rPr lang="en-US" sz="1100" dirty="0">
                <a:solidFill>
                  <a:srgbClr val="333333"/>
                </a:solidFill>
                <a:latin typeface="Calibri" pitchFamily="34" charset="0"/>
                <a:ea typeface="Calibri" pitchFamily="34" charset="-122"/>
                <a:cs typeface="Calibri" pitchFamily="34" charset="-120"/>
              </a:rPr>
              <a:t>データ提供契約書ひな形の作成（弁護士と確認）</a:t>
            </a:r>
            <a:endParaRPr lang="en-US" sz="1100" dirty="0"/>
          </a:p>
        </p:txBody>
      </p:sp>
      <p:sp>
        <p:nvSpPr>
          <p:cNvPr id="56" name="Shape 54"/>
          <p:cNvSpPr/>
          <p:nvPr/>
        </p:nvSpPr>
        <p:spPr>
          <a:xfrm>
            <a:off x="365760" y="4736592"/>
            <a:ext cx="8412480" cy="274320"/>
          </a:xfrm>
          <a:prstGeom prst="rect">
            <a:avLst/>
          </a:prstGeom>
          <a:solidFill>
            <a:srgbClr val="DD7E6B"/>
          </a:solidFill>
          <a:ln/>
        </p:spPr>
      </p:sp>
      <p:sp>
        <p:nvSpPr>
          <p:cNvPr id="57" name="Text 55"/>
          <p:cNvSpPr/>
          <p:nvPr/>
        </p:nvSpPr>
        <p:spPr>
          <a:xfrm>
            <a:off x="365760" y="4736592"/>
            <a:ext cx="841248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9月末チェック：サンプルレポート完成・PoC提案3件以上実施・センサーPoC開始</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2026-07-22T05:58:02Z</dcterms:created>
  <dcterms:modified xsi:type="dcterms:W3CDTF">2026-07-22T05:58:02Z</dcterms:modified>
</cp:coreProperties>
</file>